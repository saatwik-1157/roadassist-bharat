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Opening. Say the positioning line and the promise, then move on — the</a:t>
            </a:r>
          </a:p>
          <a:p>
            <a:r>
              <a:t>evidence is in the next thirty slides.</a:t>
            </a:r>
          </a:p>
          <a:p/>
          <a:p>
            <a:r>
              <a:t>The three adjectives are ordered deliberately: AI is the least novel, cloud is</a:t>
            </a:r>
          </a:p>
          <a:p>
            <a:r>
              <a:t>expected, network-resilient is the one nobody else in this cohort will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scenario, no statistics. The audience has all been on a highway</a:t>
            </a:r>
          </a:p>
          <a:p>
            <a:r>
              <a:t>with one bar. The right-hand column is the engineering restatement.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sentence at the bottom is the one that separates a demo from a</a:t>
            </a:r>
          </a:p>
          <a:p>
            <a:r>
              <a:t>product, and it is literally true — the whole journey is driven through the 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 of these six exist in some form in competing products. The</a:t>
            </a:r>
          </a:p>
          <a:p>
            <a:r>
              <a:t>sixth is the differentiator and the rest of the deck defends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 what is NOT here: no Kubernetes, no load balancer, no message</a:t>
            </a:r>
          </a:p>
          <a:p>
            <a:r>
              <a:t>broker. They are in the target architecture on slide 22, and I keep the two</a:t>
            </a:r>
          </a:p>
          <a:p>
            <a:r>
              <a:t>diagrams apart on purpose.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Strongest architecture slide. The point: the right column is not a</a:t>
            </a:r>
          </a:p>
          <a:p>
            <a:r>
              <a:t>degraded version of the left, it is a different system that runs on the device.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asked 'did you contact emergency services' — no, and the product</a:t>
            </a:r>
          </a:p>
          <a:p>
            <a:r>
              <a:t>says so in those words. That honesty is the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call the diagnosis engine AI without qualifying it. The</a:t>
            </a:r>
          </a:p>
          <a:p>
            <a:r>
              <a:t>qualification is the credible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two or three, not all nine. The point is that the list exists and</a:t>
            </a:r>
          </a:p>
          <a:p>
            <a:r>
              <a:t>is specific.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on the promise, then stop talking. If there is time, offer to run</a:t>
            </a:r>
          </a:p>
          <a:p>
            <a:r>
              <a:t>the security suite or the concurrency suite live — they take under a minute and</a:t>
            </a:r>
          </a:p>
          <a:p>
            <a:r>
              <a:t>they are the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417320"/>
            <a:ext cx="106070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 spc="300">
                <a:solidFill>
                  <a:srgbClr val="22D3EE"/>
                </a:solidFill>
                <a:latin typeface="Segoe UI"/>
              </a:rPr>
              <a:t>SWE4004 · CLOUD COMPUTING AND APPLICATIONS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07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AI-Powered  ·  Cloud-Connected  ·  Network-Resilient</a:t>
            </a:r>
          </a:p>
          <a:p>
            <a:pPr algn="l">
              <a:lnSpc>
                <a:spcPct val="13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Emergency Mobility Platform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3977639"/>
            <a:ext cx="475488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4114800"/>
            <a:ext cx="4389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pic>
        <p:nvPicPr>
          <p:cNvPr id="8" name="Picture 7" descr="_fit_final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6520" y="1234440"/>
            <a:ext cx="4937760" cy="25146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46520" y="1234440"/>
            <a:ext cx="4937760" cy="251460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395020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3922776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V. Saatwik Sairaam · P. Nirisha Chowdary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27939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4251960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T. V. S. Jignesh · G. Parthavi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46085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FACULTY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4581144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Dr. Nagendra Panini Challa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INSTITUTION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4910328"/>
            <a:ext cx="3063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VIT-AP University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A breakdown is not a software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…until you realise the app you would use to fix it needs the network you do not have.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A Swift stops on NH-48. Two hundred kilometres from home, one bar of signal.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807208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5B14C"/>
                </a:solidFill>
                <a:latin typeface="Segoe UI"/>
              </a:rPr>
              <a:t>21:41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788920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 driver opens a roadside-assistance app. It shows a spinner.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465576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447288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Still a spinner. There is no way to tell whether anything was sent.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123944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000" b="1">
                <a:solidFill>
                  <a:srgbClr val="FF4D5E"/>
                </a:solidFill>
                <a:latin typeface="Segoe UI"/>
              </a:rPr>
              <a:t>21:52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4105656"/>
            <a:ext cx="6035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F4F7FB"/>
                </a:solidFill>
                <a:latin typeface="Segoe UI"/>
              </a:rPr>
              <a:t>They give up and start calling numbers from a sticker on the windscreen.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2057400"/>
            <a:ext cx="3291840" cy="2788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2286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200">
                <a:solidFill>
                  <a:srgbClr val="22D3EE"/>
                </a:solidFill>
                <a:latin typeface="Segoe UI"/>
              </a:rPr>
              <a:t>WHAT ACTUALLY FAILS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697480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Coverage is worst exactly where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breakdowns are most dangerous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264408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way to know if a request was sent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3831336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No centralised incident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4398264"/>
            <a:ext cx="2834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— Response time is unmeasured,</a:t>
            </a:r>
          </a:p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so it cannot be improved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One platform, from incident to resolution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DRIVER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reports a fault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304288" y="3154680"/>
            <a:ext cx="14630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68880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ROADASSIST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one platform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114800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279392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 + INCIDENT
INTELLIGENCE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cause · severity
· capability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25312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89904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rank · offer
· escalate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735824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900416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accepts, drives,
fixes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9546336" y="3154680"/>
            <a:ext cx="146304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10928" y="2468880"/>
            <a:ext cx="1627632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RESOLUTION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invoice · payment
· review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343400"/>
            <a:ext cx="10607040" cy="731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526280"/>
            <a:ext cx="10149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4F7FB"/>
                </a:solidFill>
                <a:latin typeface="Segoe UI Semibold"/>
              </a:rPr>
              <a:t>Every step is real application state. No manual database editing anywhere in the normal workflow.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WHY ROADASSIST IS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Six things, and one that matters most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AI-ASSISTED
DIAGNOSIS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Rules engine, explainable,
same table on device and cloud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DYNAMIC
DISPATCH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Ranked, wave-based,
busy providers excluded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0574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REAL-TIME
TRACKING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Server-sent events,
measured at 65 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SECURE
PAYMENTS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Server-side amount,
signature-verified webhook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INCIDENT
INTELLIGENCE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Severity, capability,
tamper-evident audit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3429000"/>
            <a:ext cx="3383280" cy="117043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OFFLINE-FIRST
EMERGENCY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SOS with no network,
stored and forwarded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956048"/>
            <a:ext cx="10607040" cy="84124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138928"/>
            <a:ext cx="10149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8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WHAT ACTUALLY RUNS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One container serving three surfaces, one PostGIS database. Everything external is behind an adapter.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PWA · Android WebView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468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43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console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897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772400" y="1874519"/>
            <a:ext cx="310896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AUTHORITY / FLEET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RAKSHA dashboard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326880" y="2551176"/>
            <a:ext cx="0" cy="26517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4400" y="2834640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WEB / PWA  ·  service worker, IndexedDB, connectivity manager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172200" y="3419856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14400" y="3694176"/>
            <a:ext cx="1051560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FASTIFY API  ·  /v1  ·  65 endpoints  ·  zod validation  ·  SSE stream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172200" y="4279392"/>
            <a:ext cx="0" cy="23774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914400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 + 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· JWT · rotation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35808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PostGIS KNN · ladder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57216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EMERGENCY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SOS state machine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78623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OFFLINE SYNC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journal · conflicts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4553712"/>
            <a:ext cx="201168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order · webhook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72200" y="5276088"/>
            <a:ext cx="0" cy="219456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3291840" y="5532120"/>
            <a:ext cx="576072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50" b="1">
                <a:solidFill>
                  <a:srgbClr val="F4F7FB"/>
                </a:solidFill>
                <a:latin typeface="Segoe UI Semibold"/>
              </a:rPr>
              <a:t>PostgreSQL 16 + PostGIS  ·  56 tables  ·  62 FKs  ·  5 GiST indexes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NETWORK-RESILIENT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paths, and the second one is the product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34D399"/>
                </a:solidFill>
                <a:latin typeface="Segoe UI"/>
              </a:rPr>
              <a:t>ONLINE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3444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USER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91840" y="2926080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123444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ROADASSIST CLIENT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291840" y="3712464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123444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CLOUD API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91840" y="4498848"/>
            <a:ext cx="0" cy="256032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23444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AI · DISPATCH · DATABASE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55080" y="1828800"/>
            <a:ext cx="5029200" cy="37947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01168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40">
                <a:solidFill>
                  <a:srgbClr val="FF4D5E"/>
                </a:solidFill>
                <a:latin typeface="Segoe UI"/>
              </a:rPr>
              <a:t>OFF-GRID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12280" y="2395728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CONNECTIVITY MANAGER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869680" y="2926080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812280" y="3182112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LOCAL EMERGENCY ENGINE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8869680" y="3712464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12280" y="3968496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ENCRYPTED SYNC JOURNAL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869680" y="4498848"/>
            <a:ext cx="0" cy="256032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812280" y="4754880"/>
            <a:ext cx="4114800" cy="530352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50" b="1">
                <a:solidFill>
                  <a:srgbClr val="F4F7FB"/>
                </a:solidFill>
                <a:latin typeface="Segoe UI Semibold"/>
              </a:rPr>
              <a:t>NETWORK RETURNS → CLOUD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The connectivity manager decides which path runs — ONLINE, LIMITED or OFF-GRID — from measured evidence, never from navigator.onLine alone.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EMERGENCY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Off-grid SOS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 internet does not mean the emergency workflow disappears. It means it runs here instead.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57400"/>
            <a:ext cx="182880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SOS HELD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670048" y="2331720"/>
            <a:ext cx="25603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44368" y="2057400"/>
            <a:ext cx="2103120" cy="5486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CONNECTIVITY
CHECK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5065776" y="1874519"/>
            <a:ext cx="329184" cy="338329"/>
          </a:xfrm>
          <a:prstGeom prst="line">
            <a:avLst/>
          </a:prstGeom>
          <a:ln w="17780">
            <a:solidFill>
              <a:srgbClr val="34D39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065776" y="2450592"/>
            <a:ext cx="329184" cy="612648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440680" y="1627632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ONLINE →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40680" y="2834640"/>
            <a:ext cx="2377440" cy="5029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NO → LOCAL SOS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40680" y="352044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GPS IF AVAILABLE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629400" y="392277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440680" y="402336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ENCRYPTED LOCAL STORAGE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629400" y="442569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440680" y="452628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SYNC JOURNAL (op id + digest)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629400" y="492861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440680" y="502920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NETWORK RESTORED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29400" y="5431536"/>
            <a:ext cx="0" cy="100584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40680" y="5532120"/>
            <a:ext cx="2377440" cy="40233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850" b="1">
                <a:solidFill>
                  <a:srgbClr val="F4F7FB"/>
                </a:solidFill>
                <a:latin typeface="Segoe UI Semibold"/>
              </a:rPr>
              <a:t>SERVER SYNC — idempotent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0" y="1627632"/>
            <a:ext cx="3154680" cy="4023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58200" y="1828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WHAT THE USER IS TOLD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2212848"/>
            <a:ext cx="2743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OFF-GRID SOS CREATED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No network connection detected.</a:t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Your emergency information is stored securely on this device and will be synchronized automatically when connectivity returns.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58200" y="4526280"/>
            <a:ext cx="2743200" cy="960120"/>
          </a:xfrm>
          <a:prstGeom prst="roundRect">
            <a:avLst>
              <a:gd name="adj" fmla="val 3500"/>
            </a:avLst>
          </a:prstGeom>
          <a:solidFill>
            <a:srgbClr val="131D30"/>
          </a:solidFill>
          <a:ln w="1270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41080" y="4681728"/>
            <a:ext cx="23774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“Nothing has been transmitted.”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F5B14C"/>
                </a:solidFill>
                <a:latin typeface="Segoe UI"/>
              </a:rPr>
              <a:t>We never claim emergency services were contacted. The 112 handoff is a stub and the API says so.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AI 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Diagnosis: rules first, model optional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SYMPTOMS
+ OBD CODES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free text and
scanned codes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07208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953512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schema,
length + type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983479" y="2633472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129783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RULES ENGINE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9 rules, keyword
+ DTC scoring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159752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06055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REMOTE MODEL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optional, only if
configured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9336024" y="2633472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82328" y="2103120"/>
            <a:ext cx="201168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RESULT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cause · confidence
severity · action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THE SAFETY ASYMMETRY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977639"/>
            <a:ext cx="4709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model may make a drivability verdict STRICTER. It can never make one laxer.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rules result is always computed. A remote answer is used only if it clears AI_MIN_CONFIDENCE and does not contradict the rules on safety.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STATED PLAINLY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This is a deterministic rules engine, not machine learning. The UI labels it “rules-1.0.0”, and “LOCAL OFFLINE DIAGNOSIS” on the device.</a:t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A trained model DOES exist in the project — YOLO11n for road damage, mAP50 0.443 — and those metrics are measured.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EXPLAINABLE, NOT OPAQUE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Incident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Every field below is derived from a rule you can read, not from a weighting nobody can inspect.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INCIDENT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raised by user
or by signal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807208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953512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CLASSIFICATION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breakdown · accident
medical · unsafe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983479" y="2715768"/>
            <a:ext cx="128017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129783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SEVERITY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1–5, from the
rule that matched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159752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06055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REQUIRED
CAPABILITY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service type
pre-selected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336024" y="2715768"/>
            <a:ext cx="12801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482328" y="2148840"/>
            <a:ext cx="2011680" cy="1143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DISPATCH
PRIORITY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CRITICAL for accident
and medical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EXPLAINABLE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“Battery discharged or terminals loose” — because these keywords matched, at this confidence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36168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79" y="433425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Every prediction writes a model_predictions row: capability, version, confidence, latency, input HASH (never the text)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2861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HONEST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97479" y="490118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Below 55% confidence the UI says so: “At 42% this is a suggestion, not a finding”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495544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NEVER FABRICATED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79" y="5468112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ETA unless a provider is travelling. No location unless GPS returned one.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SMART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Dispatch is dynamic scheduling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Work assigned at run time from a pool, by a score computed from live state, with timeout-driven re-scheduling.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AVAILABLE
PROVIDERS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PostGIS ST_DWithin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13969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23113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FILTER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off duty · already
committed · already asked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712463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803904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DISTANCE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KNN, true metres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285231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76672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SCORE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proximity 60%
rating 34%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858000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49440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EXPLORATION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+6% under 20 jobs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430767" y="265176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22208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OFFER WAVE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N best, live push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0003536" y="265176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094976" y="210312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row-locked,
exactly one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520440"/>
            <a:ext cx="516636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37033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F4D5E"/>
                </a:solidFill>
                <a:latin typeface="Segoe UI"/>
              </a:rPr>
              <a:t>THE BUG THIS AUDIT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069080"/>
            <a:ext cx="47091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Dispatch filtered on is_available alone — a duty toggle meaning “I am working today”, not “I am free now”. A mechanic already driving to one breakdown kept receiving offers for the next.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Fixed: provider state is DERIVED from live data.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520440"/>
            <a:ext cx="5120640" cy="2194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37033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22D3EE"/>
                </a:solidFill>
                <a:latin typeface="Segoe UI"/>
              </a:rPr>
              <a:t>PROVIDER STATES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5C6B80"/>
                </a:solidFill>
                <a:latin typeface="Segoe UI"/>
              </a:rPr>
              <a:t>OFFLINE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69680" y="406908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off duty — never offered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45312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34D399"/>
                </a:solidFill>
                <a:latin typeface="Segoe UI"/>
              </a:rPr>
              <a:t>AVAILABLE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0" y="445312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free — offerable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4837176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5B14C"/>
                </a:solidFill>
                <a:latin typeface="Segoe UI"/>
              </a:rPr>
              <a:t>OFFERED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69680" y="483717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holding an offer — still offerable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92240" y="522122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F4D5E"/>
                </a:solidFill>
                <a:latin typeface="Segoe UI"/>
              </a:rPr>
              <a:t>BUSY / EN_ROUTE / ON_JOB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0" y="522122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committed — never offered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INCIDENT LIFECYCLE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Two guarded state machines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 client sends a command; only the transition table decides whether it is legal. Every change writes a timestamped event row.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22D3EE"/>
                </a:solidFill>
                <a:latin typeface="Segoe UI"/>
              </a:rPr>
              <a:t>BOOKING — 13 states, 15 commands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331720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REQUESTED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65960" y="2660904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22960" y="276148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MATCHING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965960" y="309067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22960" y="319125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ASSIGNED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65960" y="3520440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22960" y="3621024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EN_ROUTE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65960" y="3950208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" y="4050791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ON_SITE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965960" y="4379976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22960" y="4480559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IN_PROGRESS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965960" y="4809744"/>
            <a:ext cx="0" cy="91439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22960" y="4910327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COMPLETED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965960" y="5239512"/>
            <a:ext cx="0" cy="9144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22960" y="5340096"/>
            <a:ext cx="2286000" cy="32918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00" b="1">
                <a:solidFill>
                  <a:srgbClr val="F4F7FB"/>
                </a:solidFill>
                <a:latin typeface="Segoe UI Semibold"/>
              </a:rPr>
              <a:t>PAID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60">
                <a:solidFill>
                  <a:srgbClr val="FF4D5E"/>
                </a:solidFill>
                <a:latin typeface="Segoe UI"/>
              </a:rPr>
              <a:t>EMERGENCY — ADR-0005 in code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60" y="233172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SOS_CREATED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DETECTED / AWAITING_CONFIRMATION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40680" y="299008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3794760" y="3200400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SOS_RECEIVED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CONFIRMED — a human stands behind it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40680" y="385876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3794760" y="406907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RESPONDING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contacts alerted, responder searched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40680" y="4727448"/>
            <a:ext cx="0" cy="182880"/>
          </a:xfrm>
          <a:prstGeom prst="line">
            <a:avLst/>
          </a:prstGeom>
          <a:ln w="17780">
            <a:solidFill>
              <a:srgbClr val="FF4D5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3794760" y="4937759"/>
            <a:ext cx="3291840" cy="65836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000" b="1">
                <a:solidFill>
                  <a:srgbClr val="F4F7FB"/>
                </a:solidFill>
                <a:latin typeface="Segoe UI Semibold"/>
              </a:rPr>
              <a:t>RESOLVED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closed — terminal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635240" y="2286000"/>
            <a:ext cx="3749039" cy="3383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863840" y="2487168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THE RULE THAT IS ENFORCED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2852928"/>
            <a:ext cx="32918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 model raises a SIGNAL. A human confirms an INCIDENT.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“escalate” is reachable only from CONFIRMED. There is no path from a model-detected crash to a dispatched responder that does not pass through a person.</a:t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That is one line in a transition table, and it is unit-tested.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LIVE UPDATES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Real-time, but never the source of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Server-sent events over one long-lived GET. Persist first, publish second — always.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MECHANIC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taps “En route”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4930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749039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BACKEND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guarded UPDATE
commits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36208" y="2606040"/>
            <a:ext cx="219456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4922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SSE PUBLISH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to customer
and mechanic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79408" y="2606040"/>
            <a:ext cx="219455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235440" y="2103120"/>
            <a:ext cx="2468880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>
                <a:solidFill>
                  <a:srgbClr val="F4F7FB"/>
                </a:solidFill>
                <a:latin typeface="Segoe UI Semibold"/>
              </a:rPr>
              <a:t>CUSTOMER UI</a:t>
            </a:r>
          </a:p>
          <a:p>
            <a:pPr algn="ctr">
              <a:lnSpc>
                <a:spcPct val="110000"/>
              </a:lnSpc>
            </a:pPr>
            <a:r>
              <a:rPr sz="850">
                <a:solidFill>
                  <a:srgbClr val="93A1B5"/>
                </a:solidFill>
                <a:latin typeface="Segoe UI"/>
              </a:rPr>
              <a:t>refetches the
authoritative state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429000"/>
            <a:ext cx="516636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61188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34D399"/>
                </a:solidFill>
                <a:latin typeface="Segoe UI"/>
              </a:rPr>
              <a:t>MEASURED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DELIVERY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80360" y="39959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65 ms, against a 6-second poll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480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POLL WHILE LIVE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44531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60 s customer · 45 s mechanic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4937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RECONNECT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4910328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jittered backoff, automatic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429000"/>
            <a:ext cx="5120640" cy="22860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61188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80">
                <a:solidFill>
                  <a:srgbClr val="F5B14C"/>
                </a:solidFill>
                <a:latin typeface="Segoe UI"/>
              </a:rPr>
              <a:t>WHEN THE STREAM DROPS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977639"/>
            <a:ext cx="46634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badge flips Live → Polling and the poll returns to its old cadence.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at-most-once and in-process. That is acceptable ONLY because the stream is never the only path — booking state is server-authoritative and the client refetches on reconnect.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REAL SCREENSHOTS · CAPTURED FROM THE RUNNING 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Customer application</a:t>
            </a:r>
          </a:p>
        </p:txBody>
      </p:sp>
      <p:pic>
        <p:nvPicPr>
          <p:cNvPr id="5" name="Picture 4" descr="_fit_02-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965960"/>
            <a:ext cx="2103120" cy="35661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58368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Home · SOS + readiness</a:t>
            </a:r>
          </a:p>
        </p:txBody>
      </p:sp>
      <p:pic>
        <p:nvPicPr>
          <p:cNvPr id="8" name="Picture 7" descr="_fit_03-vehi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656" y="1965960"/>
            <a:ext cx="2103120" cy="356616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962656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62656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Vehicle</a:t>
            </a:r>
          </a:p>
        </p:txBody>
      </p:sp>
      <p:pic>
        <p:nvPicPr>
          <p:cNvPr id="11" name="Picture 10" descr="_fit_04-ai-diagnosi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66944" y="1965960"/>
            <a:ext cx="2103120" cy="356616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266944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66944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Diagnosis</a:t>
            </a:r>
          </a:p>
        </p:txBody>
      </p:sp>
      <p:pic>
        <p:nvPicPr>
          <p:cNvPr id="14" name="Picture 13" descr="_fit_05-dispatch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71232" y="1965960"/>
            <a:ext cx="2103120" cy="3566160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7571232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71232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Dispatch</a:t>
            </a:r>
          </a:p>
        </p:txBody>
      </p:sp>
      <p:pic>
        <p:nvPicPr>
          <p:cNvPr id="17" name="Picture 16" descr="_fit_12-activit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20" y="1965960"/>
            <a:ext cx="2103120" cy="356616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9875520" y="1965960"/>
            <a:ext cx="2103120" cy="356616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0" y="56144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Activity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961888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C6B80"/>
                </a:solidFill>
                <a:latin typeface="Segoe UI"/>
              </a:rPr>
              <a:t>Captured by scripts/capture-screens.mjs against the live API — regenerable in ninety seconds, so they cannot drift from the product.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OTHER TWO SURFACES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Mechanic console and authority dashboard</a:t>
            </a:r>
          </a:p>
        </p:txBody>
      </p:sp>
      <p:pic>
        <p:nvPicPr>
          <p:cNvPr id="5" name="Picture 4" descr="_fit_13-mechanic-log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965960"/>
            <a:ext cx="5120640" cy="32918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772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Mechanic console · dispatch inbox, live badge, job lifecycle</a:t>
            </a:r>
          </a:p>
        </p:txBody>
      </p:sp>
      <p:pic>
        <p:nvPicPr>
          <p:cNvPr id="8" name="Picture 7" descr="_fit_14-author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65960"/>
            <a:ext cx="5120640" cy="32918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5340096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5C6B80"/>
                </a:solidFill>
                <a:latin typeface="Segoe UI"/>
              </a:rPr>
              <a:t>RAKSHA authority · live map, road health, detection triage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48640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1000" b="0" i="0">
                <a:solidFill>
                  <a:srgbClr val="93A1B5"/>
                </a:solidFill>
                <a:latin typeface="Segoe UI"/>
              </a:rPr>
              <a:t>Mechanic: availability · incoming request · accept · decline · en route · arrived · in service · complete — every transition persisted and pushed to the customer.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EMERGENCY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Three states, three honest answers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34D399"/>
                </a:solidFill>
                <a:latin typeface="Segoe UI Semibold"/>
              </a:rPr>
              <a:t>ONLINE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Everything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reaches 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Live tracking + 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Cloud diagnosis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5B14C"/>
                </a:solidFill>
                <a:latin typeface="Segoe UI Semibold"/>
              </a:rPr>
              <a:t>LIMITED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Requests still attempted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Anything that fails is STORED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Slow or flaky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User is told it is weak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1965960"/>
            <a:ext cx="3383280" cy="30175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19456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 spc="140">
                <a:solidFill>
                  <a:srgbClr val="FF4D5E"/>
                </a:solidFill>
                <a:latin typeface="Segoe UI Semibold"/>
              </a:rPr>
              <a:t>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69748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SOS stored on device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004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GPS still works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0332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Local diagnosis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062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Cached maps · no live anything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166360"/>
            <a:ext cx="106070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The indicator names the state in WORDS as well as colour — status is never carried by tint alone.</a:t>
            </a:r>
          </a:p>
          <a:p>
            <a:pPr algn="ctr">
              <a:lnSpc>
                <a:spcPct val="140000"/>
              </a:lnSpc>
            </a:pPr>
            <a:r>
              <a:rPr sz="1150" b="0" i="0">
                <a:solidFill>
                  <a:srgbClr val="93A1B5"/>
                </a:solidFill>
                <a:latin typeface="Segoe UI"/>
              </a:rPr>
              <a:t>Under every state the primary action stays the same and stays one tap away: SOS.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PAYMENT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client never decides that money arrived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INVOICE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server-computed
total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23113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created server-side
with that amount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712463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803904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CHECKOUT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gateway UI,
key id only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285231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376672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WEBHOOK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at-least-once
delivery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858000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6949440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SIGNATURE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HMAC-SHA256
recomputed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430767" y="2697480"/>
            <a:ext cx="73153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522208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SETTLEMENT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conditional on
PENDING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03536" y="2697480"/>
            <a:ext cx="73152" cy="0"/>
          </a:xfrm>
          <a:prstGeom prst="line">
            <a:avLst/>
          </a:prstGeom>
          <a:ln w="17780">
            <a:solidFill>
              <a:srgbClr val="22D3EE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0094976" y="2148840"/>
            <a:ext cx="1463040" cy="10972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RECEIPT</a:t>
            </a:r>
          </a:p>
          <a:p>
            <a:pPr algn="ctr">
              <a:lnSpc>
                <a:spcPct val="110000"/>
              </a:lnSpc>
            </a:pPr>
            <a:r>
              <a:rPr sz="750">
                <a:solidFill>
                  <a:srgbClr val="93A1B5"/>
                </a:solidFill>
                <a:latin typeface="Segoe UI"/>
              </a:rPr>
              <a:t>booking → PAID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7947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AMOUNT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97479" y="37673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Never taken from the request — it is the invoice total, and the webhook refuses a mismatch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2519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TWO PATHS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79" y="42245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Browser callback AND webhook. The webhook is the one that matters: a customer can pay and close the tab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7091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IDEMPOTENT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79" y="46817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Delivery is at-least-once, so a replayed webhook settles nothing twice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1663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REFUSES TO BOOT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51389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Production will not start on a real gateway with no webhook secret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562356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559612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22 assertions against a local stub of Razorpay's API: forged signature, replay, wrong amount, wrong order — each fails closed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SEVEN LAYERS, AND 74 ATTACKS THAT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The suite passes when the platform refuses — “we tried and could not get in” is a stronger statement than “the code looks right”.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AUTHENTICATION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OTP → JWT, rotating refresh
with reuse detection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RBAC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role gates on every
operator surface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RESOURCE OWNERSHIP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checked at the resource,
not just the route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05740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RATE LIMITING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per principal — and never
on SOS escalation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INPUT VALIDATION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zod at every boundary,
parameterised SQL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PAYMENT VERIFICATION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server-side amount,
signed webhook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950" b="1">
                <a:solidFill>
                  <a:srgbClr val="F4F7FB"/>
                </a:solidFill>
                <a:latin typeface="Segoe UI Semibold"/>
              </a:rPr>
              <a:t>AUDIT LOG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hash-chained, append-only,
verified live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69680" y="3291840"/>
            <a:ext cx="2514600" cy="10515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347472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74 / 74</a:t>
            </a:r>
          </a:p>
          <a:p>
            <a:pPr algn="ctr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attacks refused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Sensitive data: medical break-glass needs a role, a LIVE incident and a written reason, and writes a tamper-evident row.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Logs redact credentials, OTP codes, phone numbers, medical fields and coordinates — and that redaction is unit-tested.</a:t>
            </a:r>
          </a:p>
          <a:p>
            <a:pPr algn="l">
              <a:lnSpc>
                <a:spcPct val="150000"/>
              </a:lnSpc>
            </a:pPr>
            <a:r>
              <a:rPr sz="1050" b="0" i="0">
                <a:solidFill>
                  <a:srgbClr val="93A1B5"/>
                </a:solidFill>
                <a:latin typeface="Segoe UI"/>
              </a:rPr>
              <a:t>Three real vulnerabilities were found by this suite during the audit and fixed: missing request ids on 401s, a 500 on malformed JSON, an unsigned SMS intake that did not say so.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DATABASE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PostgreSQL 16 + PostGIS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Chosen for one query, and kept for four more reasons.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6032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6032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62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6032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foreign keys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40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138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indexes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79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79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GiST spatial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0956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0956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check constraints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692640" y="2011680"/>
            <a:ext cx="164592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0" y="2157984"/>
            <a:ext cx="1645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1" i="0">
                <a:solidFill>
                  <a:srgbClr val="22D3EE"/>
                </a:solidFill>
                <a:latin typeface="Segoe UI Semibold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587752"/>
            <a:ext cx="1645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migrations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3246120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POSTGIS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97479" y="3218688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“nearest available mechanic to this point” is ONE indexed query with ST_DWithin doing true metres-on-a-sphere. Without it: fetch every mechanic and compute haversine in app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3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WHY RELATIONAL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79" y="3730751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SELECT … FOR UPDATE is what stops two mechanics taking one job. Transactions are the feature, not a formality.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270248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CONSTRAINTS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97479" y="4242816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client_incident_id UNIQUE is the entire duplicate-emergency defence. Money is integer paise; ratings are CHECK 1–5.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782312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AUDITABILITY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79" y="4754880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audit_log is hash-chained and Postgres RULES block UPDATE and DELETE — an admin cannot quietly edit it.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294376"/>
            <a:ext cx="1828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40">
                <a:solidFill>
                  <a:srgbClr val="22D3EE"/>
                </a:solidFill>
                <a:latin typeface="Segoe UI"/>
              </a:rPr>
              <a:t>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97479" y="5266944"/>
            <a:ext cx="8641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Migrations run from an EMPTY database in this audit, then the full suite. Backup + restore rehearsed: chain intact across 639 entries.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1 · CLOUD COMPUTING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we sit in the cloud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We are a consumer of IaaS and PaaS, and a provider of SaaS to three user classes.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SaaS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PROVIDE this: citizen app,
mechanic console, authority dashboard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94767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PaaS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We would CONSUME managed
Postgres + container platform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5955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0" y="2103120"/>
            <a:ext cx="3383280" cy="12344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>
                <a:solidFill>
                  <a:srgbClr val="F4F7FB"/>
                </a:solidFill>
                <a:latin typeface="Segoe UI Semibold"/>
              </a:rPr>
              <a:t>IaaS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Compute, network, storage.
Compose is the local stand-in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71432" y="340156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77639"/>
            <a:ext cx="516636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160520"/>
            <a:ext cx="4709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22D3EE"/>
                </a:solidFill>
                <a:latin typeface="Segoe UI"/>
              </a:rPr>
              <a:t>CHARACTERISTICS WE ACTUALLY EXHIBIT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526280"/>
            <a:ext cx="47091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Broad network access — one API serves a browser, an installed PWA, an Android WebView and a feature phone over SMS.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Resource pooling — dispatch pools providers and allocates on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977639"/>
            <a:ext cx="5120640" cy="173736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160520"/>
            <a:ext cx="4663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 spc="160">
                <a:solidFill>
                  <a:srgbClr val="F5B14C"/>
                </a:solidFill>
                <a:latin typeface="Segoe UI"/>
              </a:rPr>
              <a:t>DEPLOYMENT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26280"/>
            <a:ext cx="46634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Public cloud, Indian region. The constraint that decides it is regulatory, not technical: “No PII leaves India” — including logs, backups and crash reports.</a:t>
            </a:r>
          </a:p>
          <a:p>
            <a:pPr algn="l">
              <a:lnSpc>
                <a:spcPct val="135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Status: designed, not deployed.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Enabling technologies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Five topics. Four are genuinely built; one is partial and says 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94560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Data centre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2176272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Compose stack: PostGIS + Redis + Redpanda on a private network; DB port NOT published in production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49840" y="230428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852927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944368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Virtualization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71800" y="2926079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Multi-stage container, non-root (uid 1000), tini as PID 1, healthcheck. Built and run — 321 MB.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49840" y="305409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02735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694175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Web technology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675887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REST over HTTPS with a uniform envelope, server-sent events for real-time, PWA with a service worker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149840" y="3803903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52544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4443983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Multitenancy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425696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Row-scoped shared schema. 12 cross-tenant attacks fired; all 12 refused.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49840" y="45537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02352"/>
            <a:ext cx="10607040" cy="6400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5193792"/>
            <a:ext cx="1920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2D3EE"/>
                </a:solidFill>
                <a:latin typeface="Segoe UI Semibold"/>
              </a:rPr>
              <a:t>Service technology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71800" y="5175504"/>
            <a:ext cx="69494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Versioned /v1, 65 endpoints, zod validation, stable error codes, idempotency keys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530352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Infrastructure mechanisms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08483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Virtual server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46120" y="2066544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Container image; runs anywhere Docker runs. Full test suite passes AGAINST the image.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149840" y="217627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670048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743200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storage device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724912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Postgres volume, upload volume, and client-side IndexedDB with AES-GCM-256 at rest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149840" y="2834640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328416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401568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Cloud usage monitor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46120" y="3383280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Structured JSON logs, per-request correlation id, operation duration/result, /v1/ops/overview with live counts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149840" y="3493008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" y="3986784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059936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Ready-made environment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4041648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compose → migrate → seed → start. Reference-only seed for production verified: 0 demo rows.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0" y="4151376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77240" y="4645152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71830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Network perimeter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46120" y="4700016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DB has no published port; API on loopback behind a proxy; CORS allowlist enforced in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4809744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303520"/>
            <a:ext cx="106070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76672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2D3EE"/>
                </a:solidFill>
                <a:latin typeface="Segoe UI Semibold"/>
              </a:rPr>
              <a:t>Resource replication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46120" y="5358383"/>
            <a:ext cx="6675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F4F7FB"/>
                </a:solidFill>
                <a:latin typeface="Segoe UI"/>
              </a:rPr>
              <a:t>Stateless API is the precondition and is met. Nothing is replicated.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5468112"/>
            <a:ext cx="105156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The eight fundamental architectures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Two are built. Six are design. I will not show you an animation and call it an autoscaler.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840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Workload distribution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The dispatch engine distributes jobs across a provider pool by computed score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Resource pooling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Providers are a pool; state is derived and busy members excluded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Dynamic scalability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HPA on queue depth. BUILT: the readiness gate — /health returns 503 when the DB is down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840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resource capacity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Cluster autoscaler under the pods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2057400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73368" y="2112264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Service load balancing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3368" y="2350008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LB with health-checked rotation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49840" y="2212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2715768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770632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Cloud bursting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3008375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Modelled evening scenario — labelled as modelled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49840" y="2871215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374136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73368" y="3429000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Elastic disk provisioning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73368" y="3666744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Storage allocated as data arrives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352958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4032504"/>
            <a:ext cx="5120640" cy="566928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73368" y="4087368"/>
            <a:ext cx="2834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2D3EE"/>
                </a:solidFill>
                <a:latin typeface="Segoe UI Semibold"/>
              </a:rPr>
              <a:t>Redundant storage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73368" y="4325112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Replica with failover. Backup procedure documented and rehearsed.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41879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77240" y="4846320"/>
            <a:ext cx="10607040" cy="86868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50292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Three things block replication today, and each is documented where it is defined: the SSE registry, the rate limiter and the offer sweeper are in-process.</a:t>
            </a:r>
          </a:p>
          <a:p>
            <a:pPr algn="ctr">
              <a:lnSpc>
                <a:spcPct val="14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The fix for each is already designed — Redis, and the outbox → Redpanda bus already in the architecture.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m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MODULE 4 · CLOUD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Static vs dynamic scheduling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965960"/>
            <a:ext cx="516636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176272"/>
            <a:ext cx="4709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E7DFF"/>
                </a:solidFill>
                <a:latin typeface="Segoe UI Semibold"/>
              </a:rPr>
              <a:t>STATIC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560320"/>
            <a:ext cx="4709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before run time, on a fixed schedule.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06324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Offer sweeper — every 10 s (OFFER_SWEEP_SECONDS)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56616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Client booking poll — 6 s, or 60 s while streaming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06908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SSE heartbeat — every 25 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572000"/>
            <a:ext cx="4709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Retention purge — 24 h after a sync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965960"/>
            <a:ext cx="512064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34D399"/>
                </a:solidFill>
                <a:latin typeface="Segoe UI Semibold"/>
              </a:rPr>
              <a:t>DYNAMIC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60320"/>
            <a:ext cx="4663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93A1B5"/>
                </a:solidFill>
                <a:latin typeface="Segoe UI"/>
              </a:rPr>
              <a:t>Decided at run time, from live state.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30632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Dispatch: pool queried at request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5204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Score from live distance, rating, workload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977639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Wave offered; timeout re-schedules to the next wave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4348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 decline escalates immediately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892040"/>
            <a:ext cx="46634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F4F7FB"/>
                </a:solidFill>
                <a:latin typeface="Segoe UI"/>
              </a:rPr>
              <a:t>— Assignment settled under a row lock — exactly one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44068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F4F7FB"/>
                </a:solidFill>
                <a:latin typeface="Segoe UI"/>
              </a:rPr>
              <a:t>RoadAssist's dispatch engine IS dynamic scheduling — it is the clearest Module 4 mechanism the project actually implements.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650 assertions, all executed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Against a real PostgreSQL + PostGIS and a real Chrome. Every number here is from a run, not an estimate.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574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1488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1579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state machines, rules, redaction, SMS coordinates, i18n segment budget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060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6974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End-to-end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80" y="269748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189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27066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the whole API journey against real Postgres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15468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461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Concurrency + real-time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0" y="324612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65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25526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races a sequential suite structurally cannot make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70332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79475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Security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40480" y="379475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74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3803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attacks that must FAIL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25196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Gateway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80" y="434340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435254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webhook signatures, append-only rules, OTP ceilings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480060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89204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Payment sandbox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892040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490118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forged signature, replay, wrong amount — fails closed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349240"/>
            <a:ext cx="10607040" cy="4572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5440679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F4F7FB"/>
                </a:solidFill>
                <a:latin typeface="Segoe UI Semibold"/>
              </a:rPr>
              <a:t>Browser / offline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40480" y="5440679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1" i="0">
                <a:solidFill>
                  <a:srgbClr val="34D399"/>
                </a:solidFill>
                <a:latin typeface="Segoe UI Semibold"/>
              </a:rPr>
              <a:t>163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92040" y="544982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93A1B5"/>
                </a:solidFill>
                <a:latin typeface="Segoe UI"/>
              </a:rPr>
              <a:t>what only a browser can prove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7240" y="5943600"/>
            <a:ext cx="10607040" cy="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59436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34D399"/>
                </a:solidFill>
                <a:latin typeface="Segoe UI"/>
              </a:rPr>
              <a:t>600 passed · 0 failed · 0 skipped   •   coverage 95.68% lines on the pure domain modules   •   0 server errors across the sweep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FAILURE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Every failure has an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DETECT → DEGRADE → PRESERVE DATA → RECOVER. Twenty rows in the failure matrix; seven of them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DETECTED BY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23560" y="2011680"/>
            <a:ext cx="32918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USER EXPERIENCE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98280" y="20116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 spc="160">
                <a:solidFill>
                  <a:srgbClr val="22D3EE"/>
                </a:solidFill>
                <a:latin typeface="Segoe UI"/>
              </a:rPr>
              <a:t>RECOVERY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3774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Network lost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connectivity manager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23560" y="246888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off-grid mode; SOS stored locally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98280" y="246888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 on reconnect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28803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Backend unreachable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probe fails, radio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23560" y="29718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LIMITED, then OFF-GRID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29718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38328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Database 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/health → 503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47472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safe 500 with a request 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98280" y="347472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auto, no restart — tested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88620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GPS denied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geolocation error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3560" y="397763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“Unknown — denied”, never a fake fix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97763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next fix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438912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AI endpoint down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timeout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23560" y="448056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rules engine — nothing visible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48056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auto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489204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5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Payment fails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gateway error / bad signature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23560" y="4983479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invoice stays unpaid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4983479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customer retries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7240" y="5394960"/>
            <a:ext cx="10607040" cy="42062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F4F7FB"/>
                </a:solidFill>
                <a:latin typeface="Segoe UI"/>
              </a:rPr>
              <a:t>Provider times out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expires_at passes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486400"/>
            <a:ext cx="3383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93A1B5"/>
                </a:solidFill>
                <a:latin typeface="Segoe UI"/>
              </a:rPr>
              <a:t>sweeper escalates to next wave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098280" y="5486400"/>
            <a:ext cx="21945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34D399"/>
                </a:solidFill>
                <a:latin typeface="Segoe UI"/>
              </a:rPr>
              <a:t>ladder continues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59893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Each row names the suite that proves it. Database loss and backup/restore are now automated CI steps, not prose.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IMPLEMENTATION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is built, what is partial, what is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Marked from the code, not from intent.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AI diagnosis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rules engine + trained YOLO11n for road damage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79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online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e2e + concurrency suites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79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SOS — offline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browser suite drives the whole scenario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79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Offline storage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IndexedDB, AES-GCM-256, survives restart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79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Store-and-forward sync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idempotent; duplicate proven impossible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79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Dispatch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ladder, timeout, busy-exclusion, race-safe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754879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201168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207568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Real-time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229514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SSE, measured 65 ms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149840" y="214884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72200" y="2615184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5080" y="2679192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Payment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5080" y="2898648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sandbox only — never a live account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49840" y="2752344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34D399"/>
                </a:solidFill>
                <a:latin typeface="Segoe UI"/>
              </a:rPr>
              <a:t>IMPLEMENTED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72200" y="3218688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55080" y="3282696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Fleet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3502152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schema + roles exist; no dedicated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149840" y="3355848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72200" y="3822191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55080" y="3886200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Analytics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355080" y="4105655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ops overview with live counts; no BI layer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0149840" y="3959352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F5B14C"/>
                </a:solidFill>
                <a:latin typeface="Segoe UI"/>
              </a:rPr>
              <a:t>PARTIAL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172200" y="4425696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4489704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Cloud autoscaling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355080" y="4709159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designed; no cluster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0149840" y="4562856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72200" y="5029200"/>
            <a:ext cx="5120640" cy="512064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55080" y="5093208"/>
            <a:ext cx="22860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F4F7FB"/>
                </a:solidFill>
                <a:latin typeface="Segoe UI Semibold"/>
              </a:rPr>
              <a:t>Replication / load balancing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55080" y="5312664"/>
            <a:ext cx="36576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93A1B5"/>
                </a:solidFill>
                <a:latin typeface="Segoe UI"/>
              </a:rPr>
              <a:t>stateless API is the precondition, and is met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0149840" y="5166360"/>
            <a:ext cx="960120" cy="237744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800" b="1">
                <a:solidFill>
                  <a:srgbClr val="2E7DFF"/>
                </a:solidFill>
                <a:latin typeface="Segoe UI"/>
              </a:rPr>
              <a:t>TARGET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80644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C6B80"/>
                </a:solidFill>
                <a:latin typeface="Segoe UI"/>
              </a:rPr>
              <a:t>GREEN = code exists, database persists it, UI consumes it, AND a test exercises it.  AMBER = some of that.  BLUE = architecture only.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STATED BEFORE YOU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Limitations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In order of importance. Every one of these is also written in the code or the docs.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11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2020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Nothing is deployed to a cloud — no account, no domain, no cluster.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68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478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Single instance only: SSE registry, rate limiter and offer sweeper are in-process.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926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935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ERSS 112 handoff is a stub, and the API response says so. Emergency isolation (ADR-0005) is a design, not a deployment.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383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392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Payments verified against a local stub of Razorpay's API — never a real account.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38404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8496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diagnosis “AI” is a deterministic rules engine. Labelled as such everywhere.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2976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3068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load test, no external penetration test, no coverage on the HTTP layer (suites run out-of-process).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47548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Device encryption protects a storage dump, not script on the same origin — and the UI says exactly that.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52120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2212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GPS cold start can take minutes and may never fix indoors. The app shows “Unknown” rather than a guess.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2960" y="5669280"/>
            <a:ext cx="329184" cy="274320"/>
          </a:xfrm>
          <a:prstGeom prst="roundRect">
            <a:avLst>
              <a:gd name="adj" fmla="val 50000"/>
            </a:avLst>
          </a:prstGeom>
          <a:solidFill>
            <a:srgbClr val="131D30"/>
          </a:solidFill>
          <a:ln w="11430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900" b="1">
                <a:solidFill>
                  <a:srgbClr val="F5B14C"/>
                </a:solidFill>
                <a:latin typeface="Segoe U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678424"/>
            <a:ext cx="100584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No historical volume yet for predictive maintenance — the dead-zone heuristic is labelled heuristic v1.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FUTURE — LABELLED AS SUCH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3327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34D399"/>
                </a:solidFill>
                <a:latin typeface="Segoe UI Semibold"/>
              </a:rPr>
              <a:t>NEXT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Redis-backed rate limiting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Outbox → event bus for SSE fan-out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WAL archiving (RPO under a day)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27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Object storage for photos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F5B14C"/>
                </a:solidFill>
                <a:latin typeface="Segoe UI Semibold"/>
              </a:rPr>
              <a:t>THEN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45152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Multi-region deployment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Database read replicas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External APM + error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Automated backup schedule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1000" y="2011680"/>
            <a:ext cx="3383280" cy="3291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57031" y="224028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 spc="160">
                <a:solidFill>
                  <a:srgbClr val="2E7DFF"/>
                </a:solidFill>
                <a:latin typeface="Segoe UI Semibold"/>
              </a:rPr>
              <a:t>LATER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274320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Predictive maintenance at volume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3255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Fleet management UI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1" y="376732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Satellite emergency communication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57031" y="427939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Mesh networking between devices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57031" y="479145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— Government emergency-network integration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4864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Satellite, mesh and government-network integration are FUTURE and are labelled that way everywhere in the product — not implemented, not claimed.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Where the money would come from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Potential, not current. No commercial operation exists — this is a university project.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E7D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Subscription for individual drivers; pay-per-incident for non-members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7472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Fleet operators — uptime is their cost centre; per-vehicle per-month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F5B1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B2B2C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Insurers and OEMs bundling roadside cover into an existing policy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869680" y="2148840"/>
            <a:ext cx="2514600" cy="13716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700" b="1">
                <a:solidFill>
                  <a:srgbClr val="F4F7FB"/>
                </a:solidFill>
                <a:latin typeface="Segoe UI Semibold"/>
              </a:rPr>
              <a:t>B2G</a:t>
            </a:r>
          </a:p>
          <a:p>
            <a:pPr algn="ctr">
              <a:lnSpc>
                <a:spcPct val="110000"/>
              </a:lnSpc>
            </a:pPr>
            <a:r>
              <a:rPr sz="900">
                <a:solidFill>
                  <a:srgbClr val="93A1B5"/>
                </a:solidFill>
                <a:latin typeface="Segoe UI"/>
              </a:rPr>
              <a:t>Highway authorities — RAKSHA road-health data and incident analytics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40480"/>
            <a:ext cx="10607040" cy="96012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041648"/>
            <a:ext cx="101498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The unit economics that make it plausible: the platform runs on ZERO paid third-party accounts by default.</a:t>
            </a:r>
          </a:p>
          <a:p>
            <a:pPr algn="ctr">
              <a:lnSpc>
                <a:spcPct val="140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Maps are keyless OpenStreetMap, AI is a local rules engine, and every vendor sits behind an adapter with a working local implementation.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29200"/>
            <a:ext cx="10607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F5B14C"/>
                </a:solidFill>
                <a:latin typeface="Segoe UI"/>
              </a:rPr>
              <a:t>Current status: no revenue, no customers, no commercial deployment. Stated so the model is read as a plan, not a claim.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What a competitor would have to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16736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93A1B5"/>
                </a:solidFill>
                <a:latin typeface="Segoe UI"/>
              </a:rPr>
              <a:t>Not “we are better than X” — we have not benchmarked anyone. This is what is genuinely hard here.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10312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Network resilience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94760" y="219456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An emergency workflow that runs entirely on the device, with an encrypted journal and idempotent forward-sync. This is the moat.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88036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9900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Honest degradation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2971800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product never claims something reached the cloud when it did not. That is a design discipline, not a feature you can add later.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65760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767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Race-safe dispatch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374903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Row-locked assignment, wave ladder, timeout escalation, derived provider state — proven with ten simultaneous accepts.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434840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5445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Explainable diagnosis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452627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The same rule table on device and cloud, with a CI test that fails the build if they diverge.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5212079"/>
            <a:ext cx="10607040" cy="676656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2700">
            <a:solidFill>
              <a:srgbClr val="1E2C4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321807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22D3EE"/>
                </a:solidFill>
                <a:latin typeface="Segoe UI Semibold"/>
              </a:rPr>
              <a:t>Auditability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5303519"/>
            <a:ext cx="74066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F4F7FB"/>
                </a:solidFill>
                <a:latin typeface="Segoe UI"/>
              </a:rPr>
              <a:t>Hash-chained append-only log, verified live in the operations 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457199"/>
            <a:ext cx="10607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 spc="260">
                <a:solidFill>
                  <a:srgbClr val="22D3EE"/>
                </a:solidFill>
                <a:latin typeface="Segoe UI"/>
              </a:rPr>
              <a:t>THE PART THAT MATTERS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74980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3400" b="1" i="0">
                <a:solidFill>
                  <a:srgbClr val="F4F7FB"/>
                </a:solidFill>
                <a:latin typeface="Segoe UI Semibold"/>
              </a:rPr>
              <a:t>Live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34D399"/>
                </a:solidFill>
                <a:latin typeface="Segoe UI"/>
              </a:rPr>
              <a:t>PART ONE · THE FULL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Login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Vehicle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Breakdown + AI diagnosis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Request assistance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5.  Dispatch — ranked offers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6.  Mechanic accepts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Live status, no refresh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Service → invoice → payment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9.  Review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96596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 spc="180">
                <a:solidFill>
                  <a:srgbClr val="FF4D5E"/>
                </a:solidFill>
                <a:latin typeface="Segoe UI"/>
              </a:rPr>
              <a:t>PART TWO · THE ONE NOBODY ELSE HAS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3774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1.  Network OFF — the UI changes immediately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27432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2.  Local diagnosis, labelled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31089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3.  Hold SOS → off-grid incident, real GPS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34747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4.  “Nothing has been transmitted”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84048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5.  CLOSE THE TAB. REOPEN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0624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6.  The incident is still there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57200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7.  Network ON → automatic sync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93776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4F7FB"/>
                </a:solidFill>
                <a:latin typeface="Segoe UI"/>
              </a:rPr>
              <a:t>8.  “SOS synchronized”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46520" y="5303520"/>
            <a:ext cx="4937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F5B14C"/>
                </a:solidFill>
                <a:latin typeface="Segoe UI"/>
              </a:rPr>
              <a:t>9.  Replay the reference → duplicate refused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5623560"/>
            <a:ext cx="10607040" cy="6858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9050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779008"/>
            <a:ext cx="101498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F4F7FB"/>
                </a:solidFill>
                <a:latin typeface="Segoe UI Semibold"/>
              </a:rPr>
              <a:t>If any step fails, the failure IS the demonstration — nothing here fakes a success.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0" y="6382512"/>
            <a:ext cx="4572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 i="0">
                <a:solidFill>
                  <a:srgbClr val="5C6B80"/>
                </a:solidFill>
                <a:latin typeface="Consola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55448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 i="0">
                <a:solidFill>
                  <a:srgbClr val="F4F7FB"/>
                </a:solidFill>
                <a:latin typeface="Segoe UI Semibold"/>
              </a:rPr>
              <a:t>RoadAssist Bharat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468880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 i="0">
                <a:solidFill>
                  <a:srgbClr val="93A1B5"/>
                </a:solidFill>
                <a:latin typeface="Segoe UI"/>
              </a:rPr>
              <a:t>From breakdown to resolution — even when connectivity fails.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AI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explainable
rules engine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9464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CLOUD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consumed and
provided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OFFLINE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the whole emergency
path on-device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53912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REAL-TIME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65 ms, and never
the only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46136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SECURITY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74 attacks,
all refused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38360" y="3291840"/>
            <a:ext cx="1664208" cy="100584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15875">
            <a:solidFill>
              <a:srgbClr val="22D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>
                <a:solidFill>
                  <a:srgbClr val="F4F7FB"/>
                </a:solidFill>
                <a:latin typeface="Segoe UI Semibold"/>
              </a:rPr>
              <a:t>DISPATCH</a:t>
            </a:r>
          </a:p>
          <a:p>
            <a:pPr algn="ctr">
              <a:lnSpc>
                <a:spcPct val="110000"/>
              </a:lnSpc>
            </a:pPr>
            <a:r>
              <a:rPr sz="800">
                <a:solidFill>
                  <a:srgbClr val="93A1B5"/>
                </a:solidFill>
                <a:latin typeface="Segoe UI"/>
              </a:rPr>
              <a:t>dynamic, race-safe
scheduling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7240" y="4617720"/>
            <a:ext cx="10607040" cy="914400"/>
          </a:xfrm>
          <a:prstGeom prst="roundRect">
            <a:avLst>
              <a:gd name="adj" fmla="val 3500"/>
            </a:avLst>
          </a:prstGeom>
          <a:solidFill>
            <a:srgbClr val="0C1322"/>
          </a:solidFill>
          <a:ln w="22225">
            <a:solidFill>
              <a:srgbClr val="FF4D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828032"/>
            <a:ext cx="10149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1" i="0">
                <a:solidFill>
                  <a:srgbClr val="F4F7FB"/>
                </a:solidFill>
                <a:latin typeface="Segoe UI Semibold"/>
              </a:rPr>
              <a:t>“RoadAssist doesn't stop when the network stops.”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60720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C6B80"/>
                </a:solidFill>
                <a:latin typeface="Segoe UI"/>
              </a:rPr>
              <a:t>650 assertions · 6 suites · 0 failures  •  56 tables · 65 routes · 10 ADRs  •  every claim on these slides is testable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82512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 spc="200">
                <a:solidFill>
                  <a:srgbClr val="5C6B80"/>
                </a:solidFill>
                <a:latin typeface="Segoe UI"/>
              </a:rPr>
              <a:t>ROADASSIST BHARAT · SWE4004 CLOUD COMPUTING AND APPLICATIONS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