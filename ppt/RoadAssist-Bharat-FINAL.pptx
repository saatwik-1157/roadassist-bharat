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6245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Opening. Say the positioning line and the promise, then move on — the</a:t>
            </a:r>
          </a:p>
          <a:p>
            <a:r>
              <a:t>evidence is in the next thirty slides.</a:t>
            </a:r>
          </a:p>
          <a:p>
            <a:endParaRPr/>
          </a:p>
          <a:p>
            <a:r>
              <a:t>The three adjectives are ordered deliberately: AI is the least novel, cloud is</a:t>
            </a:r>
          </a:p>
          <a:p>
            <a:r>
              <a:t>expected, network-resilient is the one nobody else in this cohort will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scenario, no statistics. The audience has all been on a highway</a:t>
            </a:r>
          </a:p>
          <a:p>
            <a:r>
              <a:t>with one bar. The right-hand column is the engineering restatement.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sentence at the bottom is the one that separates a demo from a</a:t>
            </a:r>
          </a:p>
          <a:p>
            <a:r>
              <a:t>product, and it is literally true — the whole journey is driven through the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Five of these six exist in some form in competing products. The</a:t>
            </a:r>
          </a:p>
          <a:p>
            <a:r>
              <a:t>sixth is the differentiator and the rest of the deck defends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Note what is NOT here: no Kubernetes, no load balancer, no message</a:t>
            </a:r>
          </a:p>
          <a:p>
            <a:r>
              <a:t>broker. They are in the target architecture on slide 22, and I keep the two</a:t>
            </a:r>
          </a:p>
          <a:p>
            <a:r>
              <a:t>diagrams apart on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Strongest architecture slide. The point: the right column is not a</a:t>
            </a:r>
          </a:p>
          <a:p>
            <a:r>
              <a:t>degraded version of the left, it is a different system that runs on the 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asked 'did you contact emergency services' — no, and the product</a:t>
            </a:r>
          </a:p>
          <a:p>
            <a:r>
              <a:t>says so in those words. That honesty is the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 not call the diagnosis engine AI without qualifying it. The</a:t>
            </a:r>
          </a:p>
          <a:p>
            <a:r>
              <a:t>qualification is the credible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two or three, not all nine. The point is that the list exists and</a:t>
            </a:r>
          </a:p>
          <a:p>
            <a:r>
              <a:t>is specific.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on the promise, then stop talking. If there is time, offer to run</a:t>
            </a:r>
          </a:p>
          <a:p>
            <a:r>
              <a:t>the security suite or the concurrency suite live — they take under a minute and</a:t>
            </a:r>
          </a:p>
          <a:p>
            <a:r>
              <a:t>they are the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141732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 spc="300">
                <a:solidFill>
                  <a:srgbClr val="22D3EE"/>
                </a:solidFill>
                <a:latin typeface="Segoe UI"/>
              </a:rPr>
              <a:t>SWE4004 · CLOUD COMPUTING AND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106070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5400" b="1" i="0">
                <a:solidFill>
                  <a:srgbClr val="F4F7FB"/>
                </a:solidFill>
                <a:latin typeface="Segoe UI Semibold"/>
              </a:rPr>
              <a:t>RoadAssist Bharat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7180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93A1B5"/>
                </a:solidFill>
                <a:latin typeface="Segoe UI"/>
              </a:rPr>
              <a:t>AI-Powered  ·  Cloud-Connected  ·  Network-Resilient</a:t>
            </a:r>
          </a:p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93A1B5"/>
                </a:solidFill>
                <a:latin typeface="Segoe UI"/>
              </a:rPr>
              <a:t>Emergency Mobility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977639"/>
            <a:ext cx="4754880" cy="566928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411480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4F7FB"/>
                </a:solidFill>
                <a:latin typeface="Segoe UI Semibold"/>
              </a:rPr>
              <a:t>“RoadAssist doesn't stop when the network stops.”</a:t>
            </a:r>
          </a:p>
        </p:txBody>
      </p:sp>
      <p:pic>
        <p:nvPicPr>
          <p:cNvPr id="8" name="Picture 7" descr="_fit_final_he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234440"/>
            <a:ext cx="4937760" cy="2514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46520" y="1234440"/>
            <a:ext cx="4937760" cy="2514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395020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140">
                <a:solidFill>
                  <a:srgbClr val="22D3EE"/>
                </a:solidFill>
                <a:latin typeface="Segoe UI"/>
              </a:rPr>
              <a:t>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922776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V. Saatwik Sairaam · P. Sai Nirisha Chowdary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4279392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425196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T. V. S. Jignesh · G. Parthavi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608576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140">
                <a:solidFill>
                  <a:srgbClr val="22D3EE"/>
                </a:solidFill>
                <a:latin typeface="Segoe UI"/>
              </a:rPr>
              <a:t>FACULTY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581144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Dr. Nagendra Panini Challa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937760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140">
                <a:solidFill>
                  <a:srgbClr val="22D3EE"/>
                </a:solidFill>
                <a:latin typeface="Segoe UI"/>
              </a:rPr>
              <a:t>INSTITUTION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910328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VIT-AP University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8251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 spc="200">
                <a:solidFill>
                  <a:srgbClr val="5C6B80"/>
                </a:solidFill>
                <a:latin typeface="Segoe UI"/>
              </a:rPr>
              <a:t>ROADASSIST BHARAT · SWE4004 CLOUD COMPUTING AND APPLICATIONS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57199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60">
                <a:solidFill>
                  <a:srgbClr val="22D3EE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4F7FB"/>
                </a:solidFill>
                <a:latin typeface="Segoe UI Semibold"/>
              </a:rPr>
              <a:t>A breakdown is not a software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16736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93A1B5"/>
                </a:solidFill>
                <a:latin typeface="Segoe UI"/>
              </a:rPr>
              <a:t>…until you realise the app you would use to fix it needs the network you do not have.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F5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1">
                <a:solidFill>
                  <a:srgbClr val="F5B14C"/>
                </a:solidFill>
                <a:latin typeface="Segoe UI"/>
              </a:rPr>
              <a:t>21:40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F4F7FB"/>
                </a:solidFill>
                <a:latin typeface="Segoe UI"/>
              </a:rPr>
              <a:t>A Swift stops on NH-48. Two hundred kilometres from home, one bar of signal.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0720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F5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1">
                <a:solidFill>
                  <a:srgbClr val="F5B14C"/>
                </a:solidFill>
                <a:latin typeface="Segoe UI"/>
              </a:rPr>
              <a:t>21:41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78892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F4F7FB"/>
                </a:solidFill>
                <a:latin typeface="Segoe UI"/>
              </a:rPr>
              <a:t>The driver opens a roadside-assistance app. It shows a spinner.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465576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1">
                <a:solidFill>
                  <a:srgbClr val="FF4D5E"/>
                </a:solidFill>
                <a:latin typeface="Segoe UI"/>
              </a:rPr>
              <a:t>21:44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447288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F4F7FB"/>
                </a:solidFill>
                <a:latin typeface="Segoe UI"/>
              </a:rPr>
              <a:t>Still a spinner. There is no way to tell whether anything was sent.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23944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1000" b="1">
                <a:solidFill>
                  <a:srgbClr val="FF4D5E"/>
                </a:solidFill>
                <a:latin typeface="Segoe UI"/>
              </a:rPr>
              <a:t>21:52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4105656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F4F7FB"/>
                </a:solidFill>
                <a:latin typeface="Segoe UI"/>
              </a:rPr>
              <a:t>They give up and start calling numbers from a sticker on the windscreen.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057400"/>
            <a:ext cx="3291840" cy="278892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228600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 spc="200">
                <a:solidFill>
                  <a:srgbClr val="22D3EE"/>
                </a:solidFill>
                <a:latin typeface="Segoe UI"/>
              </a:rPr>
              <a:t>WHAT ACTUALLY FAILS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697480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3A1B5"/>
                </a:solidFill>
                <a:latin typeface="Segoe UI"/>
              </a:rPr>
              <a:t>— Coverage is worst exactly where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3A1B5"/>
                </a:solidFill>
                <a:latin typeface="Segoe UI"/>
              </a:rPr>
              <a:t>breakdowns are most dangerous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264408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3A1B5"/>
                </a:solidFill>
                <a:latin typeface="Segoe UI"/>
              </a:rPr>
              <a:t>— No way to know if a request was sent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831336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3A1B5"/>
                </a:solidFill>
                <a:latin typeface="Segoe UI"/>
              </a:rPr>
              <a:t>— No centralised incident 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398264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3A1B5"/>
                </a:solidFill>
                <a:latin typeface="Segoe UI"/>
              </a:rPr>
              <a:t>— Response time is unmeasured,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3A1B5"/>
                </a:solidFill>
                <a:latin typeface="Segoe UI"/>
              </a:rPr>
              <a:t>so it cannot be improved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38251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 spc="200">
                <a:solidFill>
                  <a:srgbClr val="5C6B80"/>
                </a:solidFill>
                <a:latin typeface="Segoe UI"/>
              </a:rPr>
              <a:t>ROADASSIST BHARAT · SWE4004 CLOUD COMPUTING AND APPLICATIONS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5C6B80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57199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60">
                <a:solidFill>
                  <a:srgbClr val="22D3EE"/>
                </a:solidFill>
                <a:latin typeface="Segoe UI"/>
              </a:rPr>
              <a:t>THE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4F7FB"/>
                </a:solidFill>
                <a:latin typeface="Segoe UI Semibold"/>
              </a:rPr>
              <a:t>One platform, from incident to resolution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468880"/>
            <a:ext cx="1627632" cy="137160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E7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4F7FB"/>
                </a:solidFill>
                <a:latin typeface="Segoe UI Semibold"/>
              </a:rPr>
              <a:t>DRIVER</a:t>
            </a:r>
          </a:p>
          <a:p>
            <a:pPr algn="ctr">
              <a:lnSpc>
                <a:spcPct val="110000"/>
              </a:lnSpc>
            </a:pPr>
            <a:r>
              <a:rPr sz="850">
                <a:solidFill>
                  <a:srgbClr val="93A1B5"/>
                </a:solidFill>
                <a:latin typeface="Segoe UI"/>
              </a:rPr>
              <a:t>reports a fault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04288" y="3154680"/>
            <a:ext cx="146303" cy="0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468880" y="2468880"/>
            <a:ext cx="1627632" cy="137160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4F7FB"/>
                </a:solidFill>
                <a:latin typeface="Segoe UI Semibold"/>
              </a:rPr>
              <a:t>ROADASSIST</a:t>
            </a:r>
          </a:p>
          <a:p>
            <a:pPr algn="ctr">
              <a:lnSpc>
                <a:spcPct val="110000"/>
              </a:lnSpc>
            </a:pPr>
            <a:r>
              <a:rPr sz="850">
                <a:solidFill>
                  <a:srgbClr val="93A1B5"/>
                </a:solidFill>
                <a:latin typeface="Segoe UI"/>
              </a:rPr>
              <a:t>one platform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0" y="3154680"/>
            <a:ext cx="146304" cy="0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79392" y="2468880"/>
            <a:ext cx="1627632" cy="137160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F5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4F7FB"/>
                </a:solidFill>
                <a:latin typeface="Segoe UI Semibold"/>
              </a:rPr>
              <a:t>AI + INCIDENT
INTELLIGENCE</a:t>
            </a:r>
          </a:p>
          <a:p>
            <a:pPr algn="ctr">
              <a:lnSpc>
                <a:spcPct val="110000"/>
              </a:lnSpc>
            </a:pPr>
            <a:r>
              <a:rPr sz="850">
                <a:solidFill>
                  <a:srgbClr val="93A1B5"/>
                </a:solidFill>
                <a:latin typeface="Segoe UI"/>
              </a:rPr>
              <a:t>cause · severity
· capability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25312" y="3154680"/>
            <a:ext cx="146304" cy="0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089904" y="2468880"/>
            <a:ext cx="1627632" cy="137160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4F7FB"/>
                </a:solidFill>
                <a:latin typeface="Segoe UI Semibold"/>
              </a:rPr>
              <a:t>DISPATCH</a:t>
            </a:r>
          </a:p>
          <a:p>
            <a:pPr algn="ctr">
              <a:lnSpc>
                <a:spcPct val="110000"/>
              </a:lnSpc>
            </a:pPr>
            <a:r>
              <a:rPr sz="850">
                <a:solidFill>
                  <a:srgbClr val="93A1B5"/>
                </a:solidFill>
                <a:latin typeface="Segoe UI"/>
              </a:rPr>
              <a:t>rank · offer
· escalate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35824" y="3154680"/>
            <a:ext cx="146304" cy="0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900416" y="2468880"/>
            <a:ext cx="1627632" cy="137160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E7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4F7FB"/>
                </a:solidFill>
                <a:latin typeface="Segoe UI Semibold"/>
              </a:rPr>
              <a:t>MECHANIC</a:t>
            </a:r>
          </a:p>
          <a:p>
            <a:pPr algn="ctr">
              <a:lnSpc>
                <a:spcPct val="110000"/>
              </a:lnSpc>
            </a:pPr>
            <a:r>
              <a:rPr sz="850">
                <a:solidFill>
                  <a:srgbClr val="93A1B5"/>
                </a:solidFill>
                <a:latin typeface="Segoe UI"/>
              </a:rPr>
              <a:t>accepts, drives,
fixes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46336" y="3154680"/>
            <a:ext cx="146304" cy="0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710928" y="2468880"/>
            <a:ext cx="1627632" cy="137160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4F7FB"/>
                </a:solidFill>
                <a:latin typeface="Segoe UI Semibold"/>
              </a:rPr>
              <a:t>RESOLUTION</a:t>
            </a:r>
          </a:p>
          <a:p>
            <a:pPr algn="ctr">
              <a:lnSpc>
                <a:spcPct val="110000"/>
              </a:lnSpc>
            </a:pPr>
            <a:r>
              <a:rPr sz="850">
                <a:solidFill>
                  <a:srgbClr val="93A1B5"/>
                </a:solidFill>
                <a:latin typeface="Segoe UI"/>
              </a:rPr>
              <a:t>invoice · payment
·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343400"/>
            <a:ext cx="10607040" cy="73152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526280"/>
            <a:ext cx="10149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4F7FB"/>
                </a:solidFill>
                <a:latin typeface="Segoe UI Semibold"/>
              </a:rPr>
              <a:t>Every step is real application state. No manual database editing anywhere in the normal workflow.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8251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 spc="200">
                <a:solidFill>
                  <a:srgbClr val="5C6B80"/>
                </a:solidFill>
                <a:latin typeface="Segoe UI"/>
              </a:rPr>
              <a:t>ROADASSIST BHARAT · SWE4004 CLOUD COMPUTING AND APPLICATIONS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5C6B80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57199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60">
                <a:solidFill>
                  <a:srgbClr val="22D3EE"/>
                </a:solidFill>
                <a:latin typeface="Segoe UI"/>
              </a:rPr>
              <a:t>WHY ROADASSIST IS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4F7FB"/>
                </a:solidFill>
                <a:latin typeface="Segoe UI Semibold"/>
              </a:rPr>
              <a:t>Six things, and one that matters most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57400"/>
            <a:ext cx="3383280" cy="1170432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F5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4F7FB"/>
                </a:solidFill>
                <a:latin typeface="Segoe UI Semibold"/>
              </a:rPr>
              <a:t>AI-ASSISTED
DIAGNOSIS</a:t>
            </a:r>
          </a:p>
          <a:p>
            <a:pPr algn="ctr">
              <a:lnSpc>
                <a:spcPct val="110000"/>
              </a:lnSpc>
            </a:pPr>
            <a:r>
              <a:rPr sz="900">
                <a:solidFill>
                  <a:srgbClr val="93A1B5"/>
                </a:solidFill>
                <a:latin typeface="Segoe UI"/>
              </a:rPr>
              <a:t>Rules engine, explainable,
same table on device and cloud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57400"/>
            <a:ext cx="3383280" cy="1170432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4F7FB"/>
                </a:solidFill>
                <a:latin typeface="Segoe UI Semibold"/>
              </a:rPr>
              <a:t>DYNAMIC
DISPATCH</a:t>
            </a:r>
          </a:p>
          <a:p>
            <a:pPr algn="ctr">
              <a:lnSpc>
                <a:spcPct val="110000"/>
              </a:lnSpc>
            </a:pPr>
            <a:r>
              <a:rPr sz="900">
                <a:solidFill>
                  <a:srgbClr val="93A1B5"/>
                </a:solidFill>
                <a:latin typeface="Segoe UI"/>
              </a:rPr>
              <a:t>Ranked, wave-based,
busy providers excluded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2057400"/>
            <a:ext cx="3383280" cy="1170432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4F7FB"/>
                </a:solidFill>
                <a:latin typeface="Segoe UI Semibold"/>
              </a:rPr>
              <a:t>REAL-TIME
TRACKING</a:t>
            </a:r>
          </a:p>
          <a:p>
            <a:pPr algn="ctr">
              <a:lnSpc>
                <a:spcPct val="110000"/>
              </a:lnSpc>
            </a:pPr>
            <a:r>
              <a:rPr sz="900">
                <a:solidFill>
                  <a:srgbClr val="93A1B5"/>
                </a:solidFill>
                <a:latin typeface="Segoe UI"/>
              </a:rPr>
              <a:t>Server-sent events,
measured at 65 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429000"/>
            <a:ext cx="3383280" cy="1170432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4F7FB"/>
                </a:solidFill>
                <a:latin typeface="Segoe UI Semibold"/>
              </a:rPr>
              <a:t>SECURE
PAYMENTS</a:t>
            </a:r>
          </a:p>
          <a:p>
            <a:pPr algn="ctr">
              <a:lnSpc>
                <a:spcPct val="110000"/>
              </a:lnSpc>
            </a:pPr>
            <a:r>
              <a:rPr sz="900">
                <a:solidFill>
                  <a:srgbClr val="93A1B5"/>
                </a:solidFill>
                <a:latin typeface="Segoe UI"/>
              </a:rPr>
              <a:t>Server-side amount,
signature-verified webhook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429000"/>
            <a:ext cx="3383280" cy="1170432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4F7FB"/>
                </a:solidFill>
                <a:latin typeface="Segoe UI Semibold"/>
              </a:rPr>
              <a:t>INCIDENT
INTELLIGENCE</a:t>
            </a:r>
          </a:p>
          <a:p>
            <a:pPr algn="ctr">
              <a:lnSpc>
                <a:spcPct val="110000"/>
              </a:lnSpc>
            </a:pPr>
            <a:r>
              <a:rPr sz="900">
                <a:solidFill>
                  <a:srgbClr val="93A1B5"/>
                </a:solidFill>
                <a:latin typeface="Segoe UI"/>
              </a:rPr>
              <a:t>Severity, capability,
tamper-evident audit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3429000"/>
            <a:ext cx="3383280" cy="1170432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4F7FB"/>
                </a:solidFill>
                <a:latin typeface="Segoe UI Semibold"/>
              </a:rPr>
              <a:t>OFFLINE-FIRST
EMERGENCY</a:t>
            </a:r>
          </a:p>
          <a:p>
            <a:pPr algn="ctr">
              <a:lnSpc>
                <a:spcPct val="110000"/>
              </a:lnSpc>
            </a:pPr>
            <a:r>
              <a:rPr sz="900">
                <a:solidFill>
                  <a:srgbClr val="93A1B5"/>
                </a:solidFill>
                <a:latin typeface="Segoe UI"/>
              </a:rPr>
              <a:t>SOS with no network,
stored and forwarded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956048"/>
            <a:ext cx="10607040" cy="841248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9050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5138928"/>
            <a:ext cx="10149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4F7FB"/>
                </a:solidFill>
                <a:latin typeface="Segoe UI Semibold"/>
              </a:rPr>
              <a:t>“RoadAssist doesn't stop when the network stops.”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38251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 spc="200">
                <a:solidFill>
                  <a:srgbClr val="5C6B80"/>
                </a:solidFill>
                <a:latin typeface="Segoe UI"/>
              </a:rPr>
              <a:t>ROADASSIST BHARAT · SWE4004 CLOUD COMPUTING AND APPLICATIONS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5C6B80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57199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60">
                <a:solidFill>
                  <a:srgbClr val="22D3EE"/>
                </a:solidFill>
                <a:latin typeface="Segoe UI"/>
              </a:rPr>
              <a:t>WHAT ACTUALLY RUNS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4F7FB"/>
                </a:solidFill>
                <a:latin typeface="Segoe UI Semibold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16736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93A1B5"/>
                </a:solidFill>
                <a:latin typeface="Segoe UI"/>
              </a:rPr>
              <a:t>One container, one PostGIS database — live on Render + Neon in Singapore. Everything external is behind an adapter.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74519"/>
            <a:ext cx="3108960" cy="658368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E7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4F7FB"/>
                </a:solidFill>
                <a:latin typeface="Segoe UI Semibold"/>
              </a:rPr>
              <a:t>CUSTOMER</a:t>
            </a:r>
          </a:p>
          <a:p>
            <a:pPr algn="ctr">
              <a:lnSpc>
                <a:spcPct val="110000"/>
              </a:lnSpc>
            </a:pPr>
            <a:r>
              <a:rPr sz="850">
                <a:solidFill>
                  <a:srgbClr val="93A1B5"/>
                </a:solidFill>
                <a:latin typeface="Segoe UI"/>
              </a:rPr>
              <a:t>PWA · Android WebView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68880" y="2551176"/>
            <a:ext cx="0" cy="265176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43400" y="1874519"/>
            <a:ext cx="3108960" cy="658368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E7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4F7FB"/>
                </a:solidFill>
                <a:latin typeface="Segoe UI Semibold"/>
              </a:rPr>
              <a:t>MECHANIC</a:t>
            </a:r>
          </a:p>
          <a:p>
            <a:pPr algn="ctr">
              <a:lnSpc>
                <a:spcPct val="110000"/>
              </a:lnSpc>
            </a:pPr>
            <a:r>
              <a:rPr sz="850">
                <a:solidFill>
                  <a:srgbClr val="93A1B5"/>
                </a:solidFill>
                <a:latin typeface="Segoe UI"/>
              </a:rPr>
              <a:t>console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97880" y="2551176"/>
            <a:ext cx="0" cy="265176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772400" y="1874519"/>
            <a:ext cx="3108960" cy="658368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E7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4F7FB"/>
                </a:solidFill>
                <a:latin typeface="Segoe UI Semibold"/>
              </a:rPr>
              <a:t>AUTHORITY / FLEET</a:t>
            </a:r>
          </a:p>
          <a:p>
            <a:pPr algn="ctr">
              <a:lnSpc>
                <a:spcPct val="110000"/>
              </a:lnSpc>
            </a:pPr>
            <a:r>
              <a:rPr sz="850">
                <a:solidFill>
                  <a:srgbClr val="93A1B5"/>
                </a:solidFill>
                <a:latin typeface="Segoe UI"/>
              </a:rPr>
              <a:t>RAKSHA dashboard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26880" y="2551176"/>
            <a:ext cx="0" cy="265176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4400" y="2834640"/>
            <a:ext cx="10515600" cy="566928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50" b="1">
                <a:solidFill>
                  <a:srgbClr val="F4F7FB"/>
                </a:solidFill>
                <a:latin typeface="Segoe UI Semibold"/>
              </a:rPr>
              <a:t>WEB / PWA  ·  service worker, IndexedDB, connectivity manager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72200" y="3419856"/>
            <a:ext cx="0" cy="237744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" y="3694176"/>
            <a:ext cx="10515600" cy="566928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50" b="1">
                <a:solidFill>
                  <a:srgbClr val="F4F7FB"/>
                </a:solidFill>
                <a:latin typeface="Segoe UI Semibold"/>
              </a:rPr>
              <a:t>FASTIFY API  ·  68 routes, 65 under /v1  ·  zod validation  ·  SSE stream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72200" y="4279392"/>
            <a:ext cx="0" cy="237744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4553712"/>
            <a:ext cx="2011680" cy="68580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F5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1">
                <a:solidFill>
                  <a:srgbClr val="F4F7FB"/>
                </a:solidFill>
                <a:latin typeface="Segoe UI Semibold"/>
              </a:rPr>
              <a:t>AUTH + RBAC</a:t>
            </a:r>
          </a:p>
          <a:p>
            <a:pPr algn="ctr">
              <a:lnSpc>
                <a:spcPct val="110000"/>
              </a:lnSpc>
            </a:pPr>
            <a:r>
              <a:rPr sz="800">
                <a:solidFill>
                  <a:srgbClr val="93A1B5"/>
                </a:solidFill>
                <a:latin typeface="Segoe UI"/>
              </a:rPr>
              <a:t>OTP · JWT · rotation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35808" y="4553712"/>
            <a:ext cx="2011680" cy="68580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F5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1">
                <a:solidFill>
                  <a:srgbClr val="F4F7FB"/>
                </a:solidFill>
                <a:latin typeface="Segoe UI Semibold"/>
              </a:rPr>
              <a:t>DISPATCH</a:t>
            </a:r>
          </a:p>
          <a:p>
            <a:pPr algn="ctr">
              <a:lnSpc>
                <a:spcPct val="110000"/>
              </a:lnSpc>
            </a:pPr>
            <a:r>
              <a:rPr sz="800">
                <a:solidFill>
                  <a:srgbClr val="93A1B5"/>
                </a:solidFill>
                <a:latin typeface="Segoe UI"/>
              </a:rPr>
              <a:t>PostGIS KNN · ladder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4553712"/>
            <a:ext cx="2011680" cy="68580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F5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1">
                <a:solidFill>
                  <a:srgbClr val="F4F7FB"/>
                </a:solidFill>
                <a:latin typeface="Segoe UI Semibold"/>
              </a:rPr>
              <a:t>EMERGENCY</a:t>
            </a:r>
          </a:p>
          <a:p>
            <a:pPr algn="ctr">
              <a:lnSpc>
                <a:spcPct val="110000"/>
              </a:lnSpc>
            </a:pPr>
            <a:r>
              <a:rPr sz="800">
                <a:solidFill>
                  <a:srgbClr val="93A1B5"/>
                </a:solidFill>
                <a:latin typeface="Segoe UI"/>
              </a:rPr>
              <a:t>SOS state machine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78623" y="4553712"/>
            <a:ext cx="2011680" cy="68580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F5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1">
                <a:solidFill>
                  <a:srgbClr val="F4F7FB"/>
                </a:solidFill>
                <a:latin typeface="Segoe UI Semibold"/>
              </a:rPr>
              <a:t>OFFLINE SYNC</a:t>
            </a:r>
          </a:p>
          <a:p>
            <a:pPr algn="ctr">
              <a:lnSpc>
                <a:spcPct val="110000"/>
              </a:lnSpc>
            </a:pPr>
            <a:r>
              <a:rPr sz="800">
                <a:solidFill>
                  <a:srgbClr val="93A1B5"/>
                </a:solidFill>
                <a:latin typeface="Segoe UI"/>
              </a:rPr>
              <a:t>journal · conflicts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00032" y="4553712"/>
            <a:ext cx="2011680" cy="68580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F5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1">
                <a:solidFill>
                  <a:srgbClr val="F4F7FB"/>
                </a:solidFill>
                <a:latin typeface="Segoe UI Semibold"/>
              </a:rPr>
              <a:t>PAYMENTS</a:t>
            </a:r>
          </a:p>
          <a:p>
            <a:pPr algn="ctr">
              <a:lnSpc>
                <a:spcPct val="110000"/>
              </a:lnSpc>
            </a:pPr>
            <a:r>
              <a:rPr sz="800">
                <a:solidFill>
                  <a:srgbClr val="93A1B5"/>
                </a:solidFill>
                <a:latin typeface="Segoe UI"/>
              </a:rPr>
              <a:t>order · webhook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72200" y="5276088"/>
            <a:ext cx="0" cy="219456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291840" y="5532120"/>
            <a:ext cx="5760720" cy="566928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50" b="1">
                <a:solidFill>
                  <a:srgbClr val="F4F7FB"/>
                </a:solidFill>
                <a:latin typeface="Segoe UI Semibold"/>
              </a:rPr>
              <a:t>PostgreSQL 16 + PostGIS  ·  56 tables  ·  62 FKs  ·  5 GiST indexes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38251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 spc="200">
                <a:solidFill>
                  <a:srgbClr val="5C6B80"/>
                </a:solidFill>
                <a:latin typeface="Segoe UI"/>
              </a:rPr>
              <a:t>ROADASSIST BHARAT · SWE4004 CLOUD COMPUTING AND APPLICATIONS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5C6B80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57199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60">
                <a:solidFill>
                  <a:srgbClr val="22D3EE"/>
                </a:solidFill>
                <a:latin typeface="Segoe UI"/>
              </a:rPr>
              <a:t>NETWORK-RESILIENT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4F7FB"/>
                </a:solidFill>
                <a:latin typeface="Segoe UI Semibold"/>
              </a:rPr>
              <a:t>Two paths, and the second one is the product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5029200" cy="379476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40">
                <a:solidFill>
                  <a:srgbClr val="34D399"/>
                </a:solidFill>
                <a:latin typeface="Segoe UI"/>
              </a:rPr>
              <a:t>ONLINE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2395728"/>
            <a:ext cx="4114800" cy="530352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4F7FB"/>
                </a:solidFill>
                <a:latin typeface="Segoe UI Semibold"/>
              </a:rPr>
              <a:t>USER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91840" y="2926080"/>
            <a:ext cx="0" cy="256032"/>
          </a:xfrm>
          <a:prstGeom prst="line">
            <a:avLst/>
          </a:prstGeom>
          <a:ln w="17780">
            <a:solidFill>
              <a:srgbClr val="34D39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234440" y="3182112"/>
            <a:ext cx="4114800" cy="530352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4F7FB"/>
                </a:solidFill>
                <a:latin typeface="Segoe UI Semibold"/>
              </a:rPr>
              <a:t>ROADASSIST CLIENT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91840" y="3712464"/>
            <a:ext cx="0" cy="256032"/>
          </a:xfrm>
          <a:prstGeom prst="line">
            <a:avLst/>
          </a:prstGeom>
          <a:ln w="17780">
            <a:solidFill>
              <a:srgbClr val="34D39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234440" y="3968496"/>
            <a:ext cx="4114800" cy="530352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4F7FB"/>
                </a:solidFill>
                <a:latin typeface="Segoe UI Semibold"/>
              </a:rPr>
              <a:t>CLOUD API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91840" y="4498848"/>
            <a:ext cx="0" cy="256032"/>
          </a:xfrm>
          <a:prstGeom prst="line">
            <a:avLst/>
          </a:prstGeom>
          <a:ln w="17780">
            <a:solidFill>
              <a:srgbClr val="34D39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234440" y="4754880"/>
            <a:ext cx="4114800" cy="530352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4F7FB"/>
                </a:solidFill>
                <a:latin typeface="Segoe UI Semibold"/>
              </a:rPr>
              <a:t>AI · DISPATCH · DATABASE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828800"/>
            <a:ext cx="5029200" cy="379476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9050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20116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40">
                <a:solidFill>
                  <a:srgbClr val="FF4D5E"/>
                </a:solidFill>
                <a:latin typeface="Segoe UI"/>
              </a:rPr>
              <a:t>OFF-GRID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2395728"/>
            <a:ext cx="4114800" cy="530352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4F7FB"/>
                </a:solidFill>
                <a:latin typeface="Segoe UI Semibold"/>
              </a:rPr>
              <a:t>CONNECTIVITY MANAGER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69680" y="2926080"/>
            <a:ext cx="0" cy="256032"/>
          </a:xfrm>
          <a:prstGeom prst="line">
            <a:avLst/>
          </a:prstGeom>
          <a:ln w="17780">
            <a:solidFill>
              <a:srgbClr val="FF4D5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812280" y="3182112"/>
            <a:ext cx="4114800" cy="530352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4F7FB"/>
                </a:solidFill>
                <a:latin typeface="Segoe UI Semibold"/>
              </a:rPr>
              <a:t>LOCAL EMERGENCY ENGINE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69680" y="3712464"/>
            <a:ext cx="0" cy="256032"/>
          </a:xfrm>
          <a:prstGeom prst="line">
            <a:avLst/>
          </a:prstGeom>
          <a:ln w="17780">
            <a:solidFill>
              <a:srgbClr val="FF4D5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12280" y="3968496"/>
            <a:ext cx="4114800" cy="530352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4F7FB"/>
                </a:solidFill>
                <a:latin typeface="Segoe UI Semibold"/>
              </a:rPr>
              <a:t>ENCRYPTED SYNC JOURNAL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69680" y="4498848"/>
            <a:ext cx="0" cy="256032"/>
          </a:xfrm>
          <a:prstGeom prst="line">
            <a:avLst/>
          </a:prstGeom>
          <a:ln w="17780">
            <a:solidFill>
              <a:srgbClr val="FF4D5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812280" y="4754880"/>
            <a:ext cx="4114800" cy="530352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4F7FB"/>
                </a:solidFill>
                <a:latin typeface="Segoe UI Semibold"/>
              </a:rPr>
              <a:t>NETWORK RETURNS → CLOUD SYNC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0644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93A1B5"/>
                </a:solidFill>
                <a:latin typeface="Segoe UI"/>
              </a:rPr>
              <a:t>The connectivity manager decides which path runs — ONLINE, LIMITED or OFF-GRID — from measured evidence, never from navigator.onLine alone.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38251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 spc="200">
                <a:solidFill>
                  <a:srgbClr val="5C6B80"/>
                </a:solidFill>
                <a:latin typeface="Segoe UI"/>
              </a:rPr>
              <a:t>ROADASSIST BHARAT · SWE4004 CLOUD COMPUTING AND APPLICATIONS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5C6B80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57199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60">
                <a:solidFill>
                  <a:srgbClr val="22D3EE"/>
                </a:solidFill>
                <a:latin typeface="Segoe UI"/>
              </a:rPr>
              <a:t>THE EMERGENCY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4F7FB"/>
                </a:solidFill>
                <a:latin typeface="Segoe UI Semibold"/>
              </a:rPr>
              <a:t>Off-grid 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16736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93A1B5"/>
                </a:solidFill>
                <a:latin typeface="Segoe UI"/>
              </a:rPr>
              <a:t>No internet does not mean the emergency workflow disappears. It means it runs here instead.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1828800" cy="54864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4F7FB"/>
                </a:solidFill>
                <a:latin typeface="Segoe UI Semibold"/>
              </a:rPr>
              <a:t>SOS HELD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70048" y="2331720"/>
            <a:ext cx="256032" cy="0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944368" y="2057400"/>
            <a:ext cx="2103120" cy="54864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4F7FB"/>
                </a:solidFill>
                <a:latin typeface="Segoe UI Semibold"/>
              </a:rPr>
              <a:t>CONNECTIVITY
CHECK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5065776" y="1874519"/>
            <a:ext cx="329184" cy="338329"/>
          </a:xfrm>
          <a:prstGeom prst="line">
            <a:avLst/>
          </a:prstGeom>
          <a:ln w="17780">
            <a:solidFill>
              <a:srgbClr val="34D39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065776" y="2450592"/>
            <a:ext cx="329184" cy="612648"/>
          </a:xfrm>
          <a:prstGeom prst="line">
            <a:avLst/>
          </a:prstGeom>
          <a:ln w="17780">
            <a:solidFill>
              <a:srgbClr val="FF4D5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40680" y="1627632"/>
            <a:ext cx="2377440" cy="50292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4F7FB"/>
                </a:solidFill>
                <a:latin typeface="Segoe UI Semibold"/>
              </a:rPr>
              <a:t>ONLINE → SERVER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2834640"/>
            <a:ext cx="2377440" cy="50292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4F7FB"/>
                </a:solidFill>
                <a:latin typeface="Segoe UI Semibold"/>
              </a:rPr>
              <a:t>NO → LOCAL SOS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3520440"/>
            <a:ext cx="2377440" cy="402336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1">
                <a:solidFill>
                  <a:srgbClr val="F4F7FB"/>
                </a:solidFill>
                <a:latin typeface="Segoe UI Semibold"/>
              </a:rPr>
              <a:t>GPS IF AVAILABLE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629400" y="3922776"/>
            <a:ext cx="0" cy="100584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440680" y="4023360"/>
            <a:ext cx="2377440" cy="402336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1">
                <a:solidFill>
                  <a:srgbClr val="F4F7FB"/>
                </a:solidFill>
                <a:latin typeface="Segoe UI Semibold"/>
              </a:rPr>
              <a:t>ENCRYPTED LOCAL STORAGE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29400" y="4425696"/>
            <a:ext cx="0" cy="100584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440680" y="4526280"/>
            <a:ext cx="2377440" cy="402336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1">
                <a:solidFill>
                  <a:srgbClr val="F4F7FB"/>
                </a:solidFill>
                <a:latin typeface="Segoe UI Semibold"/>
              </a:rPr>
              <a:t>SYNC JOURNAL (op id + digest)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29400" y="4928616"/>
            <a:ext cx="0" cy="100584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440680" y="5029200"/>
            <a:ext cx="2377440" cy="402336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1">
                <a:solidFill>
                  <a:srgbClr val="F4F7FB"/>
                </a:solidFill>
                <a:latin typeface="Segoe UI Semibold"/>
              </a:rPr>
              <a:t>NETWORK RESTORED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29400" y="5431536"/>
            <a:ext cx="0" cy="100584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440680" y="5532120"/>
            <a:ext cx="2377440" cy="402336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850" b="1">
                <a:solidFill>
                  <a:srgbClr val="F4F7FB"/>
                </a:solidFill>
                <a:latin typeface="Segoe UI Semibold"/>
              </a:rPr>
              <a:t>SERVER SYNC — idempotent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627632"/>
            <a:ext cx="3154680" cy="402336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9050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58200" y="1828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 spc="180">
                <a:solidFill>
                  <a:srgbClr val="FF4D5E"/>
                </a:solidFill>
                <a:latin typeface="Segoe UI"/>
              </a:rPr>
              <a:t>WHAT THE USER IS TOLD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212848"/>
            <a:ext cx="27432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F4F7FB"/>
                </a:solidFill>
                <a:latin typeface="Segoe UI"/>
              </a:rPr>
              <a:t>OFF-GRID SOS CREATED</a:t>
            </a:r>
          </a:p>
          <a:p>
            <a:pPr algn="l">
              <a:lnSpc>
                <a:spcPct val="135000"/>
              </a:lnSpc>
            </a:pPr>
            <a:endParaRPr sz="1000" b="0" i="0">
              <a:solidFill>
                <a:srgbClr val="F4F7FB"/>
              </a:solidFill>
              <a:latin typeface="Segoe UI"/>
            </a:endParaRP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F4F7FB"/>
                </a:solidFill>
                <a:latin typeface="Segoe UI"/>
              </a:rPr>
              <a:t>No network connection detected.</a:t>
            </a:r>
          </a:p>
          <a:p>
            <a:pPr algn="l">
              <a:lnSpc>
                <a:spcPct val="135000"/>
              </a:lnSpc>
            </a:pPr>
            <a:endParaRPr sz="1000" b="0" i="0">
              <a:solidFill>
                <a:srgbClr val="F4F7FB"/>
              </a:solidFill>
              <a:latin typeface="Segoe UI"/>
            </a:endParaRPr>
          </a:p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F4F7FB"/>
                </a:solidFill>
                <a:latin typeface="Segoe UI"/>
              </a:rPr>
              <a:t>Your emergency information is stored securely on this device and will be synchronized automatically when connectivity returns.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58200" y="4526280"/>
            <a:ext cx="2743200" cy="960120"/>
          </a:xfrm>
          <a:prstGeom prst="roundRect">
            <a:avLst>
              <a:gd name="adj" fmla="val 3500"/>
            </a:avLst>
          </a:prstGeom>
          <a:solidFill>
            <a:srgbClr val="131D30"/>
          </a:solidFill>
          <a:ln w="12700">
            <a:solidFill>
              <a:srgbClr val="F5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41080" y="4681728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F5B14C"/>
                </a:solidFill>
                <a:latin typeface="Segoe UI"/>
              </a:rPr>
              <a:t>“Nothing has been transmitted.”</a:t>
            </a:r>
          </a:p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F5B14C"/>
                </a:solidFill>
                <a:latin typeface="Segoe UI"/>
              </a:rPr>
              <a:t>We never claim emergency services were contacted. The 112 handoff is a stub and the API says so.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38251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 spc="200">
                <a:solidFill>
                  <a:srgbClr val="5C6B80"/>
                </a:solidFill>
                <a:latin typeface="Segoe UI"/>
              </a:rPr>
              <a:t>ROADASSIST BHARAT · SWE4004 CLOUD COMPUTING AND APPLICATIONS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5C6B80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57199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60">
                <a:solidFill>
                  <a:srgbClr val="22D3EE"/>
                </a:solidFill>
                <a:latin typeface="Segoe UI"/>
              </a:rPr>
              <a:t>AI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4F7FB"/>
                </a:solidFill>
                <a:latin typeface="Segoe UI Semibold"/>
              </a:rPr>
              <a:t>Diagnosis: rules first, model optional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2011680" cy="105156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E7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4F7FB"/>
                </a:solidFill>
                <a:latin typeface="Segoe UI Semibold"/>
              </a:rPr>
              <a:t>SYMPTOMS
+ OBD CODES</a:t>
            </a:r>
          </a:p>
          <a:p>
            <a:pPr algn="ctr">
              <a:lnSpc>
                <a:spcPct val="110000"/>
              </a:lnSpc>
            </a:pPr>
            <a:r>
              <a:rPr sz="800">
                <a:solidFill>
                  <a:srgbClr val="93A1B5"/>
                </a:solidFill>
                <a:latin typeface="Segoe UI"/>
              </a:rPr>
              <a:t>free text and
scanned codes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07208" y="2633472"/>
            <a:ext cx="128016" cy="0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953512" y="2103120"/>
            <a:ext cx="2011680" cy="105156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4F7FB"/>
                </a:solidFill>
                <a:latin typeface="Segoe UI Semibold"/>
              </a:rPr>
              <a:t>VALIDATION</a:t>
            </a:r>
          </a:p>
          <a:p>
            <a:pPr algn="ctr">
              <a:lnSpc>
                <a:spcPct val="110000"/>
              </a:lnSpc>
            </a:pPr>
            <a:r>
              <a:rPr sz="800">
                <a:solidFill>
                  <a:srgbClr val="93A1B5"/>
                </a:solidFill>
                <a:latin typeface="Segoe UI"/>
              </a:rPr>
              <a:t>zod schema,
length + type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83479" y="2633472"/>
            <a:ext cx="128017" cy="0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29783" y="2103120"/>
            <a:ext cx="2011680" cy="105156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F5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4F7FB"/>
                </a:solidFill>
                <a:latin typeface="Segoe UI Semibold"/>
              </a:rPr>
              <a:t>RULES ENGINE</a:t>
            </a:r>
          </a:p>
          <a:p>
            <a:pPr algn="ctr">
              <a:lnSpc>
                <a:spcPct val="110000"/>
              </a:lnSpc>
            </a:pPr>
            <a:r>
              <a:rPr sz="800">
                <a:solidFill>
                  <a:srgbClr val="93A1B5"/>
                </a:solidFill>
                <a:latin typeface="Segoe UI"/>
              </a:rPr>
              <a:t>9 rules, keyword
+ DTC scoring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159752" y="2633472"/>
            <a:ext cx="128016" cy="0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06055" y="2103120"/>
            <a:ext cx="2011680" cy="105156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E7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4F7FB"/>
                </a:solidFill>
                <a:latin typeface="Segoe UI Semibold"/>
              </a:rPr>
              <a:t>REMOTE MODEL</a:t>
            </a:r>
          </a:p>
          <a:p>
            <a:pPr algn="ctr">
              <a:lnSpc>
                <a:spcPct val="110000"/>
              </a:lnSpc>
            </a:pPr>
            <a:r>
              <a:rPr sz="800">
                <a:solidFill>
                  <a:srgbClr val="93A1B5"/>
                </a:solidFill>
                <a:latin typeface="Segoe UI"/>
              </a:rPr>
              <a:t>optional, only if
configured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36024" y="2633472"/>
            <a:ext cx="128016" cy="0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482328" y="2103120"/>
            <a:ext cx="2011680" cy="105156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4F7FB"/>
                </a:solidFill>
                <a:latin typeface="Segoe UI Semibold"/>
              </a:rPr>
              <a:t>RESULT</a:t>
            </a:r>
          </a:p>
          <a:p>
            <a:pPr algn="ctr">
              <a:lnSpc>
                <a:spcPct val="110000"/>
              </a:lnSpc>
            </a:pPr>
            <a:r>
              <a:rPr sz="800">
                <a:solidFill>
                  <a:srgbClr val="93A1B5"/>
                </a:solidFill>
                <a:latin typeface="Segoe UI"/>
              </a:rPr>
              <a:t>cause · confidence
severity · 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429000"/>
            <a:ext cx="5166360" cy="228600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F5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611880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 spc="180">
                <a:solidFill>
                  <a:srgbClr val="F5B14C"/>
                </a:solidFill>
                <a:latin typeface="Segoe UI"/>
              </a:rPr>
              <a:t>THE SAFETY ASYMMETRY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977639"/>
            <a:ext cx="47091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4F7FB"/>
                </a:solidFill>
                <a:latin typeface="Segoe UI"/>
              </a:rPr>
              <a:t>A model may make a drivability verdict STRICTER. It can never make one laxer.</a:t>
            </a:r>
          </a:p>
          <a:p>
            <a:pPr algn="l">
              <a:lnSpc>
                <a:spcPct val="140000"/>
              </a:lnSpc>
            </a:pPr>
            <a:endParaRPr sz="1100" b="0" i="0">
              <a:solidFill>
                <a:srgbClr val="F4F7FB"/>
              </a:solidFill>
              <a:latin typeface="Segoe UI"/>
            </a:endParaRP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4F7FB"/>
                </a:solidFill>
                <a:latin typeface="Segoe UI"/>
              </a:rPr>
              <a:t>The rules result is always computed. A remote answer is used only if it clears AI_MIN_CONFIDENCE and does not contradict the rules on safety.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429000"/>
            <a:ext cx="5120640" cy="228600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361188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 spc="180">
                <a:solidFill>
                  <a:srgbClr val="FF4D5E"/>
                </a:solidFill>
                <a:latin typeface="Segoe UI"/>
              </a:rPr>
              <a:t>STATED PLAINLY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977639"/>
            <a:ext cx="46634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4F7FB"/>
                </a:solidFill>
                <a:latin typeface="Segoe UI"/>
              </a:rPr>
              <a:t>This is a deterministic rules engine, not machine learning. The UI labels it “rules-1.0.0”, and “LOCAL OFFLINE DIAGNOSIS” on the device.</a:t>
            </a:r>
          </a:p>
          <a:p>
            <a:pPr algn="l">
              <a:lnSpc>
                <a:spcPct val="140000"/>
              </a:lnSpc>
            </a:pPr>
            <a:endParaRPr sz="1100" b="0" i="0">
              <a:solidFill>
                <a:srgbClr val="F4F7FB"/>
              </a:solidFill>
              <a:latin typeface="Segoe UI"/>
            </a:endParaRP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4F7FB"/>
                </a:solidFill>
                <a:latin typeface="Segoe UI"/>
              </a:rPr>
              <a:t>Trained models DO exist — YOLO11 for road damage: best run YOLO11s, mAP50 0.472; RAKSHA's demo detections come from a YOLO11n, mAP50 0.443. Both measured.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38251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 spc="200">
                <a:solidFill>
                  <a:srgbClr val="5C6B80"/>
                </a:solidFill>
                <a:latin typeface="Segoe UI"/>
              </a:rPr>
              <a:t>ROADASSIST BHARAT · SWE4004 CLOUD COMPUTING AND APPLICATIONS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5C6B80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57199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60">
                <a:solidFill>
                  <a:srgbClr val="22D3EE"/>
                </a:solidFill>
                <a:latin typeface="Segoe UI"/>
              </a:rPr>
              <a:t>EXPLAINABLE, NOT OPAQUE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4F7FB"/>
                </a:solidFill>
                <a:latin typeface="Segoe UI Semibold"/>
              </a:rPr>
              <a:t>Incident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16736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93A1B5"/>
                </a:solidFill>
                <a:latin typeface="Segoe UI"/>
              </a:rPr>
              <a:t>Every field below is derived from a rule you can read, not from a weighting nobody can inspect.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2011680" cy="114300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4F7FB"/>
                </a:solidFill>
                <a:latin typeface="Segoe UI Semibold"/>
              </a:rPr>
              <a:t>INCIDENT</a:t>
            </a:r>
          </a:p>
          <a:p>
            <a:pPr algn="ctr">
              <a:lnSpc>
                <a:spcPct val="110000"/>
              </a:lnSpc>
            </a:pPr>
            <a:r>
              <a:rPr sz="800">
                <a:solidFill>
                  <a:srgbClr val="93A1B5"/>
                </a:solidFill>
                <a:latin typeface="Segoe UI"/>
              </a:rPr>
              <a:t>raised by user
or by signal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07208" y="2715768"/>
            <a:ext cx="128016" cy="0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953512" y="2148840"/>
            <a:ext cx="2011680" cy="114300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4F7FB"/>
                </a:solidFill>
                <a:latin typeface="Segoe UI Semibold"/>
              </a:rPr>
              <a:t>CLASSIFICATION</a:t>
            </a:r>
          </a:p>
          <a:p>
            <a:pPr algn="ctr">
              <a:lnSpc>
                <a:spcPct val="110000"/>
              </a:lnSpc>
            </a:pPr>
            <a:r>
              <a:rPr sz="800">
                <a:solidFill>
                  <a:srgbClr val="93A1B5"/>
                </a:solidFill>
                <a:latin typeface="Segoe UI"/>
              </a:rPr>
              <a:t>breakdown · accident
medical · unsafe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83479" y="2715768"/>
            <a:ext cx="128017" cy="0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29783" y="2148840"/>
            <a:ext cx="2011680" cy="114300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4F7FB"/>
                </a:solidFill>
                <a:latin typeface="Segoe UI Semibold"/>
              </a:rPr>
              <a:t>SEVERITY</a:t>
            </a:r>
          </a:p>
          <a:p>
            <a:pPr algn="ctr">
              <a:lnSpc>
                <a:spcPct val="110000"/>
              </a:lnSpc>
            </a:pPr>
            <a:r>
              <a:rPr sz="800">
                <a:solidFill>
                  <a:srgbClr val="93A1B5"/>
                </a:solidFill>
                <a:latin typeface="Segoe UI"/>
              </a:rPr>
              <a:t>1–5, from the
rule that matched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59752" y="2715768"/>
            <a:ext cx="128016" cy="0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06055" y="2148840"/>
            <a:ext cx="2011680" cy="114300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4F7FB"/>
                </a:solidFill>
                <a:latin typeface="Segoe UI Semibold"/>
              </a:rPr>
              <a:t>REQUIRED
CAPABILITY</a:t>
            </a:r>
          </a:p>
          <a:p>
            <a:pPr algn="ctr">
              <a:lnSpc>
                <a:spcPct val="110000"/>
              </a:lnSpc>
            </a:pPr>
            <a:r>
              <a:rPr sz="800">
                <a:solidFill>
                  <a:srgbClr val="93A1B5"/>
                </a:solidFill>
                <a:latin typeface="Segoe UI"/>
              </a:rPr>
              <a:t>service type
pre-selected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336024" y="2715768"/>
            <a:ext cx="128016" cy="0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482328" y="2148840"/>
            <a:ext cx="2011680" cy="114300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4F7FB"/>
                </a:solidFill>
                <a:latin typeface="Segoe UI Semibold"/>
              </a:rPr>
              <a:t>DISPATCH
PRIORITY</a:t>
            </a:r>
          </a:p>
          <a:p>
            <a:pPr algn="ctr">
              <a:lnSpc>
                <a:spcPct val="110000"/>
              </a:lnSpc>
            </a:pPr>
            <a:r>
              <a:rPr sz="800">
                <a:solidFill>
                  <a:srgbClr val="93A1B5"/>
                </a:solidFill>
                <a:latin typeface="Segoe UI"/>
              </a:rPr>
              <a:t>CRITICAL for accident
and medical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94760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140">
                <a:solidFill>
                  <a:srgbClr val="22D3EE"/>
                </a:solidFill>
                <a:latin typeface="Segoe UI"/>
              </a:rPr>
              <a:t>EXPLAINABLE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79" y="3767328"/>
            <a:ext cx="8641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4F7FB"/>
                </a:solidFill>
                <a:latin typeface="Segoe UI"/>
              </a:rPr>
              <a:t>“Battery discharged or terminals loose” — because these keywords matched, at this confidence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6168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140">
                <a:solidFill>
                  <a:srgbClr val="22D3EE"/>
                </a:solidFill>
                <a:latin typeface="Segoe UI"/>
              </a:rPr>
              <a:t>AUDITABLE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79" y="4334256"/>
            <a:ext cx="8641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4F7FB"/>
                </a:solidFill>
                <a:latin typeface="Segoe UI"/>
              </a:rPr>
              <a:t>Every prediction writes a model_predictions row: capability, version, confidence, latency, input HASH (never the text)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928616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140">
                <a:solidFill>
                  <a:srgbClr val="22D3EE"/>
                </a:solidFill>
                <a:latin typeface="Segoe UI"/>
              </a:rPr>
              <a:t>HONEST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79" y="4901184"/>
            <a:ext cx="8641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4F7FB"/>
                </a:solidFill>
                <a:latin typeface="Segoe UI"/>
              </a:rPr>
              <a:t>Below 55% confidence the UI says so: “At 42% this is a suggestion, not a finding”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495544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140">
                <a:solidFill>
                  <a:srgbClr val="22D3EE"/>
                </a:solidFill>
                <a:latin typeface="Segoe UI"/>
              </a:rPr>
              <a:t>NEVER FABRICATED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79" y="5468112"/>
            <a:ext cx="8641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4F7FB"/>
                </a:solidFill>
                <a:latin typeface="Segoe UI"/>
              </a:rPr>
              <a:t>No ETA unless a provider is travelling. No location unless GPS returned one.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38251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 spc="200">
                <a:solidFill>
                  <a:srgbClr val="5C6B80"/>
                </a:solidFill>
                <a:latin typeface="Segoe UI"/>
              </a:rPr>
              <a:t>ROADASSIST BHARAT · SWE4004 CLOUD COMPUTING AND APPLICATIONS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5C6B80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57199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60">
                <a:solidFill>
                  <a:srgbClr val="22D3EE"/>
                </a:solidFill>
                <a:latin typeface="Segoe UI"/>
              </a:rPr>
              <a:t>SMART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4F7FB"/>
                </a:solidFill>
                <a:latin typeface="Segoe UI Semibold"/>
              </a:rPr>
              <a:t>Dispatch is dynamic 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16736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93A1B5"/>
                </a:solidFill>
                <a:latin typeface="Segoe UI"/>
              </a:rPr>
              <a:t>Work assigned at run time from a pool, by a score computed from live state, with timeout-driven re-scheduling.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03120"/>
            <a:ext cx="1463040" cy="109728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F4F7FB"/>
                </a:solidFill>
                <a:latin typeface="Segoe UI Semibold"/>
              </a:rPr>
              <a:t>AVAILABLE
PROVIDERS</a:t>
            </a:r>
          </a:p>
          <a:p>
            <a:pPr algn="ctr">
              <a:lnSpc>
                <a:spcPct val="110000"/>
              </a:lnSpc>
            </a:pPr>
            <a:r>
              <a:rPr sz="750">
                <a:solidFill>
                  <a:srgbClr val="93A1B5"/>
                </a:solidFill>
                <a:latin typeface="Segoe UI"/>
              </a:rPr>
              <a:t>PostGIS ST_DWithin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39696" y="2651760"/>
            <a:ext cx="73152" cy="0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231136" y="2103120"/>
            <a:ext cx="1463040" cy="109728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F4F7FB"/>
                </a:solidFill>
                <a:latin typeface="Segoe UI Semibold"/>
              </a:rPr>
              <a:t>FILTER</a:t>
            </a:r>
          </a:p>
          <a:p>
            <a:pPr algn="ctr">
              <a:lnSpc>
                <a:spcPct val="110000"/>
              </a:lnSpc>
            </a:pPr>
            <a:r>
              <a:rPr sz="750">
                <a:solidFill>
                  <a:srgbClr val="93A1B5"/>
                </a:solidFill>
                <a:latin typeface="Segoe UI"/>
              </a:rPr>
              <a:t>off duty · already
committed · already asked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12463" y="2651760"/>
            <a:ext cx="73152" cy="0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03904" y="2103120"/>
            <a:ext cx="1463040" cy="109728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F4F7FB"/>
                </a:solidFill>
                <a:latin typeface="Segoe UI Semibold"/>
              </a:rPr>
              <a:t>DISTANCE</a:t>
            </a:r>
          </a:p>
          <a:p>
            <a:pPr algn="ctr">
              <a:lnSpc>
                <a:spcPct val="110000"/>
              </a:lnSpc>
            </a:pPr>
            <a:r>
              <a:rPr sz="750">
                <a:solidFill>
                  <a:srgbClr val="93A1B5"/>
                </a:solidFill>
                <a:latin typeface="Segoe UI"/>
              </a:rPr>
              <a:t>KNN, true metres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85231" y="2651760"/>
            <a:ext cx="73152" cy="0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376672" y="2103120"/>
            <a:ext cx="1463040" cy="109728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F4F7FB"/>
                </a:solidFill>
                <a:latin typeface="Segoe UI Semibold"/>
              </a:rPr>
              <a:t>SCORE</a:t>
            </a:r>
          </a:p>
          <a:p>
            <a:pPr algn="ctr">
              <a:lnSpc>
                <a:spcPct val="110000"/>
              </a:lnSpc>
            </a:pPr>
            <a:r>
              <a:rPr sz="750">
                <a:solidFill>
                  <a:srgbClr val="93A1B5"/>
                </a:solidFill>
                <a:latin typeface="Segoe UI"/>
              </a:rPr>
              <a:t>proximity 60%
rating 34%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0" y="2651760"/>
            <a:ext cx="73152" cy="0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949440" y="2103120"/>
            <a:ext cx="1463040" cy="109728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F4F7FB"/>
                </a:solidFill>
                <a:latin typeface="Segoe UI Semibold"/>
              </a:rPr>
              <a:t>EXPLORATION</a:t>
            </a:r>
          </a:p>
          <a:p>
            <a:pPr algn="ctr">
              <a:lnSpc>
                <a:spcPct val="110000"/>
              </a:lnSpc>
            </a:pPr>
            <a:r>
              <a:rPr sz="750">
                <a:solidFill>
                  <a:srgbClr val="93A1B5"/>
                </a:solidFill>
                <a:latin typeface="Segoe UI"/>
              </a:rPr>
              <a:t>+6% under 20 jobs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30767" y="2651760"/>
            <a:ext cx="73153" cy="0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522208" y="2103120"/>
            <a:ext cx="1463040" cy="109728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F4F7FB"/>
                </a:solidFill>
                <a:latin typeface="Segoe UI Semibold"/>
              </a:rPr>
              <a:t>OFFER WAVE</a:t>
            </a:r>
          </a:p>
          <a:p>
            <a:pPr algn="ctr">
              <a:lnSpc>
                <a:spcPct val="110000"/>
              </a:lnSpc>
            </a:pPr>
            <a:r>
              <a:rPr sz="750">
                <a:solidFill>
                  <a:srgbClr val="93A1B5"/>
                </a:solidFill>
                <a:latin typeface="Segoe UI"/>
              </a:rPr>
              <a:t>N best, live push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003536" y="2651760"/>
            <a:ext cx="73152" cy="0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094976" y="2103120"/>
            <a:ext cx="1463040" cy="109728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F4F7FB"/>
                </a:solidFill>
                <a:latin typeface="Segoe UI Semibold"/>
              </a:rPr>
              <a:t>ASSIGN</a:t>
            </a:r>
          </a:p>
          <a:p>
            <a:pPr algn="ctr">
              <a:lnSpc>
                <a:spcPct val="110000"/>
              </a:lnSpc>
            </a:pPr>
            <a:r>
              <a:rPr sz="750">
                <a:solidFill>
                  <a:srgbClr val="93A1B5"/>
                </a:solidFill>
                <a:latin typeface="Segoe UI"/>
              </a:rPr>
              <a:t>row-locked,
exactly 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520440"/>
            <a:ext cx="5166360" cy="219456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3703320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 spc="180">
                <a:solidFill>
                  <a:srgbClr val="FF4D5E"/>
                </a:solidFill>
                <a:latin typeface="Segoe UI"/>
              </a:rPr>
              <a:t>THE BUG THIS AUDIT FOUND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069080"/>
            <a:ext cx="4709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Dispatch filtered on is_available alone — a duty toggle meaning “I am working today”, not “I am free now”. A mechanic already driving to one breakdown kept receiving offers for the next.</a:t>
            </a:r>
          </a:p>
          <a:p>
            <a:pPr algn="l">
              <a:lnSpc>
                <a:spcPct val="135000"/>
              </a:lnSpc>
            </a:pPr>
            <a:endParaRPr sz="1050" b="0" i="0">
              <a:solidFill>
                <a:srgbClr val="F4F7FB"/>
              </a:solidFill>
              <a:latin typeface="Segoe UI"/>
            </a:endParaRP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Fixed: provider state is DERIVED from live 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520440"/>
            <a:ext cx="5120640" cy="219456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370332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 spc="180">
                <a:solidFill>
                  <a:srgbClr val="22D3EE"/>
                </a:solidFill>
                <a:latin typeface="Segoe UI"/>
              </a:rPr>
              <a:t>PROVIDER STATES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0690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5C6B80"/>
                </a:solidFill>
                <a:latin typeface="Segoe UI"/>
              </a:rPr>
              <a:t>OFFLINE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40690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93A1B5"/>
                </a:solidFill>
                <a:latin typeface="Segoe UI"/>
              </a:rPr>
              <a:t>off duty — never offered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4531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34D399"/>
                </a:solidFill>
                <a:latin typeface="Segoe UI"/>
              </a:rPr>
              <a:t>AVAILABLE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445312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93A1B5"/>
                </a:solidFill>
                <a:latin typeface="Segoe UI"/>
              </a:rPr>
              <a:t>free — offerable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83717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F5B14C"/>
                </a:solidFill>
                <a:latin typeface="Segoe UI"/>
              </a:rPr>
              <a:t>OFFERED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483717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93A1B5"/>
                </a:solidFill>
                <a:latin typeface="Segoe UI"/>
              </a:rPr>
              <a:t>holding an offer — still offerable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22122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FF4D5E"/>
                </a:solidFill>
                <a:latin typeface="Segoe UI"/>
              </a:rPr>
              <a:t>BUSY / EN_ROUTE / ON_JOB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522122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93A1B5"/>
                </a:solidFill>
                <a:latin typeface="Segoe UI"/>
              </a:rPr>
              <a:t>committed — never offered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38251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 spc="200">
                <a:solidFill>
                  <a:srgbClr val="5C6B80"/>
                </a:solidFill>
                <a:latin typeface="Segoe UI"/>
              </a:rPr>
              <a:t>ROADASSIST BHARAT · SWE4004 CLOUD COMPUTING AND APPLICATIONS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5C6B80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57199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60">
                <a:solidFill>
                  <a:srgbClr val="22D3EE"/>
                </a:solidFill>
                <a:latin typeface="Segoe UI"/>
              </a:rPr>
              <a:t>INCIDENT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4F7FB"/>
                </a:solidFill>
                <a:latin typeface="Segoe UI Semibold"/>
              </a:rPr>
              <a:t>Two guarded state machines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16736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93A1B5"/>
                </a:solidFill>
                <a:latin typeface="Segoe UI"/>
              </a:rPr>
              <a:t>A client sends a command; only the transition table decides whether it is legal. Every change writes a timestamped event row.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 spc="160">
                <a:solidFill>
                  <a:srgbClr val="22D3EE"/>
                </a:solidFill>
                <a:latin typeface="Segoe UI"/>
              </a:rPr>
              <a:t>BOOKING — 13 states, 15 commands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2286000" cy="329184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F4F7FB"/>
                </a:solidFill>
                <a:latin typeface="Segoe UI Semibold"/>
              </a:rPr>
              <a:t>REQUESTED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65960" y="2660904"/>
            <a:ext cx="0" cy="91440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22960" y="2761487"/>
            <a:ext cx="2286000" cy="329184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F4F7FB"/>
                </a:solidFill>
                <a:latin typeface="Segoe UI Semibold"/>
              </a:rPr>
              <a:t>MATCHING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65960" y="3090672"/>
            <a:ext cx="0" cy="91440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3191256"/>
            <a:ext cx="2286000" cy="329184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F4F7FB"/>
                </a:solidFill>
                <a:latin typeface="Segoe UI Semibold"/>
              </a:rPr>
              <a:t>ASSIGNED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65960" y="3520440"/>
            <a:ext cx="0" cy="91440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2960" y="3621024"/>
            <a:ext cx="2286000" cy="329184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F4F7FB"/>
                </a:solidFill>
                <a:latin typeface="Segoe UI Semibold"/>
              </a:rPr>
              <a:t>EN_ROUTE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65960" y="3950208"/>
            <a:ext cx="0" cy="91440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2960" y="4050791"/>
            <a:ext cx="2286000" cy="329184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F4F7FB"/>
                </a:solidFill>
                <a:latin typeface="Segoe UI Semibold"/>
              </a:rPr>
              <a:t>ON_SITE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965960" y="4379976"/>
            <a:ext cx="0" cy="91440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22960" y="4480559"/>
            <a:ext cx="2286000" cy="329184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F4F7FB"/>
                </a:solidFill>
                <a:latin typeface="Segoe UI Semibold"/>
              </a:rPr>
              <a:t>IN_PROGRESS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65960" y="4809744"/>
            <a:ext cx="0" cy="91439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22960" y="4910327"/>
            <a:ext cx="2286000" cy="329184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F4F7FB"/>
                </a:solidFill>
                <a:latin typeface="Segoe UI Semibold"/>
              </a:rPr>
              <a:t>COMPLETED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965960" y="5239512"/>
            <a:ext cx="0" cy="91440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22960" y="5340096"/>
            <a:ext cx="2286000" cy="329184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00" b="1">
                <a:solidFill>
                  <a:srgbClr val="F4F7FB"/>
                </a:solidFill>
                <a:latin typeface="Segoe UI Semibold"/>
              </a:rPr>
              <a:t>PAID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196596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 spc="160">
                <a:solidFill>
                  <a:srgbClr val="FF4D5E"/>
                </a:solidFill>
                <a:latin typeface="Segoe UI"/>
              </a:rPr>
              <a:t>EMERGENCY — ADR-0005 in code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94760" y="2331720"/>
            <a:ext cx="3291840" cy="658368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4F7FB"/>
                </a:solidFill>
                <a:latin typeface="Segoe UI Semibold"/>
              </a:rPr>
              <a:t>SOS_CREATED</a:t>
            </a:r>
          </a:p>
          <a:p>
            <a:pPr algn="ctr">
              <a:lnSpc>
                <a:spcPct val="110000"/>
              </a:lnSpc>
            </a:pPr>
            <a:r>
              <a:rPr sz="750">
                <a:solidFill>
                  <a:srgbClr val="93A1B5"/>
                </a:solidFill>
                <a:latin typeface="Segoe UI"/>
              </a:rPr>
              <a:t>DETECTED / AWAITING_CONFIRMATION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40680" y="2990088"/>
            <a:ext cx="0" cy="182880"/>
          </a:xfrm>
          <a:prstGeom prst="line">
            <a:avLst/>
          </a:prstGeom>
          <a:ln w="17780">
            <a:solidFill>
              <a:srgbClr val="FF4D5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794760" y="3200400"/>
            <a:ext cx="3291840" cy="658368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4F7FB"/>
                </a:solidFill>
                <a:latin typeface="Segoe UI Semibold"/>
              </a:rPr>
              <a:t>SOS_RECEIVED</a:t>
            </a:r>
          </a:p>
          <a:p>
            <a:pPr algn="ctr">
              <a:lnSpc>
                <a:spcPct val="110000"/>
              </a:lnSpc>
            </a:pPr>
            <a:r>
              <a:rPr sz="750">
                <a:solidFill>
                  <a:srgbClr val="93A1B5"/>
                </a:solidFill>
                <a:latin typeface="Segoe UI"/>
              </a:rPr>
              <a:t>CONFIRMED — a human stands behind it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40680" y="3858768"/>
            <a:ext cx="0" cy="182880"/>
          </a:xfrm>
          <a:prstGeom prst="line">
            <a:avLst/>
          </a:prstGeom>
          <a:ln w="17780">
            <a:solidFill>
              <a:srgbClr val="FF4D5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794760" y="4069079"/>
            <a:ext cx="3291840" cy="658368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4F7FB"/>
                </a:solidFill>
                <a:latin typeface="Segoe UI Semibold"/>
              </a:rPr>
              <a:t>RESPONDING</a:t>
            </a:r>
          </a:p>
          <a:p>
            <a:pPr algn="ctr">
              <a:lnSpc>
                <a:spcPct val="110000"/>
              </a:lnSpc>
            </a:pPr>
            <a:r>
              <a:rPr sz="750">
                <a:solidFill>
                  <a:srgbClr val="93A1B5"/>
                </a:solidFill>
                <a:latin typeface="Segoe UI"/>
              </a:rPr>
              <a:t>contacts alerted, responder searched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40680" y="4727448"/>
            <a:ext cx="0" cy="182880"/>
          </a:xfrm>
          <a:prstGeom prst="line">
            <a:avLst/>
          </a:prstGeom>
          <a:ln w="17780">
            <a:solidFill>
              <a:srgbClr val="FF4D5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794760" y="4937759"/>
            <a:ext cx="3291840" cy="658368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00" b="1">
                <a:solidFill>
                  <a:srgbClr val="F4F7FB"/>
                </a:solidFill>
                <a:latin typeface="Segoe UI Semibold"/>
              </a:rPr>
              <a:t>RESOLVED</a:t>
            </a:r>
          </a:p>
          <a:p>
            <a:pPr algn="ctr">
              <a:lnSpc>
                <a:spcPct val="110000"/>
              </a:lnSpc>
            </a:pPr>
            <a:r>
              <a:rPr sz="750">
                <a:solidFill>
                  <a:srgbClr val="93A1B5"/>
                </a:solidFill>
                <a:latin typeface="Segoe UI"/>
              </a:rPr>
              <a:t>closed — terminal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2286000"/>
            <a:ext cx="3749039" cy="338328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F5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63840" y="248716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 spc="160">
                <a:solidFill>
                  <a:srgbClr val="F5B14C"/>
                </a:solidFill>
                <a:latin typeface="Segoe UI"/>
              </a:rPr>
              <a:t>THE RULE THAT IS ENFORCED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2852928"/>
            <a:ext cx="3291840" cy="2560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A model raises a SIGNAL. A human confirms an INCIDENT.</a:t>
            </a:r>
          </a:p>
          <a:p>
            <a:pPr algn="l">
              <a:lnSpc>
                <a:spcPct val="140000"/>
              </a:lnSpc>
            </a:pPr>
            <a:endParaRPr sz="1050" b="0" i="0">
              <a:solidFill>
                <a:srgbClr val="F4F7FB"/>
              </a:solidFill>
              <a:latin typeface="Segoe UI"/>
            </a:endParaRP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“escalate” is reachable only from CONFIRMED. There is no path from a model-detected crash to a dispatched responder that does not pass through a person.</a:t>
            </a:r>
          </a:p>
          <a:p>
            <a:pPr algn="l">
              <a:lnSpc>
                <a:spcPct val="140000"/>
              </a:lnSpc>
            </a:pPr>
            <a:endParaRPr sz="1050" b="0" i="0">
              <a:solidFill>
                <a:srgbClr val="F4F7FB"/>
              </a:solidFill>
              <a:latin typeface="Segoe UI"/>
            </a:endParaRPr>
          </a:p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That is one line in a transition table, and it is unit-tested.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38251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 spc="200">
                <a:solidFill>
                  <a:srgbClr val="5C6B80"/>
                </a:solidFill>
                <a:latin typeface="Segoe UI"/>
              </a:rPr>
              <a:t>ROADASSIST BHARAT · SWE4004 CLOUD COMPUTING AND APPLICATIONS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5C6B80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57199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60">
                <a:solidFill>
                  <a:srgbClr val="22D3EE"/>
                </a:solidFill>
                <a:latin typeface="Segoe UI"/>
              </a:rPr>
              <a:t>LIVE UPDATES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4F7FB"/>
                </a:solidFill>
                <a:latin typeface="Segoe UI Semibold"/>
              </a:rPr>
              <a:t>Real-time, but never the source of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16736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93A1B5"/>
                </a:solidFill>
                <a:latin typeface="Segoe UI"/>
              </a:rPr>
              <a:t>Server-sent events over one long-lived GET. Persist first, publish second — always.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103120"/>
            <a:ext cx="2468880" cy="100584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E7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4F7FB"/>
                </a:solidFill>
                <a:latin typeface="Segoe UI Semibold"/>
              </a:rPr>
              <a:t>MECHANIC</a:t>
            </a:r>
          </a:p>
          <a:p>
            <a:pPr algn="ctr">
              <a:lnSpc>
                <a:spcPct val="110000"/>
              </a:lnSpc>
            </a:pPr>
            <a:r>
              <a:rPr sz="850">
                <a:solidFill>
                  <a:srgbClr val="93A1B5"/>
                </a:solidFill>
                <a:latin typeface="Segoe UI"/>
              </a:rPr>
              <a:t>taps “En route”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93008" y="2606040"/>
            <a:ext cx="219455" cy="0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749039" y="2103120"/>
            <a:ext cx="2468880" cy="100584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4F7FB"/>
                </a:solidFill>
                <a:latin typeface="Segoe UI Semibold"/>
              </a:rPr>
              <a:t>BACKEND</a:t>
            </a:r>
          </a:p>
          <a:p>
            <a:pPr algn="ctr">
              <a:lnSpc>
                <a:spcPct val="110000"/>
              </a:lnSpc>
            </a:pPr>
            <a:r>
              <a:rPr sz="850">
                <a:solidFill>
                  <a:srgbClr val="93A1B5"/>
                </a:solidFill>
                <a:latin typeface="Segoe UI"/>
              </a:rPr>
              <a:t>guarded UPDATE
commits first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236208" y="2606040"/>
            <a:ext cx="219456" cy="0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92240" y="2103120"/>
            <a:ext cx="2468880" cy="100584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F5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4F7FB"/>
                </a:solidFill>
                <a:latin typeface="Segoe UI Semibold"/>
              </a:rPr>
              <a:t>SSE PUBLISH</a:t>
            </a:r>
          </a:p>
          <a:p>
            <a:pPr algn="ctr">
              <a:lnSpc>
                <a:spcPct val="110000"/>
              </a:lnSpc>
            </a:pPr>
            <a:r>
              <a:rPr sz="850">
                <a:solidFill>
                  <a:srgbClr val="93A1B5"/>
                </a:solidFill>
                <a:latin typeface="Segoe UI"/>
              </a:rPr>
              <a:t>to customer
and mechanic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979408" y="2606040"/>
            <a:ext cx="219455" cy="0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235440" y="2103120"/>
            <a:ext cx="2468880" cy="100584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>
                <a:solidFill>
                  <a:srgbClr val="F4F7FB"/>
                </a:solidFill>
                <a:latin typeface="Segoe UI Semibold"/>
              </a:rPr>
              <a:t>CUSTOMER UI</a:t>
            </a:r>
          </a:p>
          <a:p>
            <a:pPr algn="ctr">
              <a:lnSpc>
                <a:spcPct val="110000"/>
              </a:lnSpc>
            </a:pPr>
            <a:r>
              <a:rPr sz="850">
                <a:solidFill>
                  <a:srgbClr val="93A1B5"/>
                </a:solidFill>
                <a:latin typeface="Segoe UI"/>
              </a:rPr>
              <a:t>refetches the
authoritative state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429000"/>
            <a:ext cx="5166360" cy="228600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611880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 spc="180">
                <a:solidFill>
                  <a:srgbClr val="34D399"/>
                </a:solidFill>
                <a:latin typeface="Segoe UI"/>
              </a:rPr>
              <a:t>MEASURED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023360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140">
                <a:solidFill>
                  <a:srgbClr val="22D3EE"/>
                </a:solidFill>
                <a:latin typeface="Segoe UI"/>
              </a:rPr>
              <a:t>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995928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4F7FB"/>
                </a:solidFill>
                <a:latin typeface="Segoe UI"/>
              </a:rPr>
              <a:t>65 ms, against a 6-second poll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480560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140">
                <a:solidFill>
                  <a:srgbClr val="22D3EE"/>
                </a:solidFill>
                <a:latin typeface="Segoe UI"/>
              </a:rPr>
              <a:t>POLL WHILE 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4453128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4F7FB"/>
                </a:solidFill>
                <a:latin typeface="Segoe UI"/>
              </a:rPr>
              <a:t>60 s customer · 45 s mechanic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937760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140">
                <a:solidFill>
                  <a:srgbClr val="22D3EE"/>
                </a:solidFill>
                <a:latin typeface="Segoe UI"/>
              </a:rPr>
              <a:t>RECONNECT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910328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4F7FB"/>
                </a:solidFill>
                <a:latin typeface="Segoe UI"/>
              </a:rPr>
              <a:t>jittered backoff, automatic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429000"/>
            <a:ext cx="5120640" cy="228600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F5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361188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 spc="180">
                <a:solidFill>
                  <a:srgbClr val="F5B14C"/>
                </a:solidFill>
                <a:latin typeface="Segoe UI"/>
              </a:rPr>
              <a:t>WHEN THE STREAM DROPS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977639"/>
            <a:ext cx="46634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The badge flips Live → Polling and the poll returns to its old cadence.</a:t>
            </a:r>
          </a:p>
          <a:p>
            <a:pPr algn="l">
              <a:lnSpc>
                <a:spcPct val="135000"/>
              </a:lnSpc>
            </a:pPr>
            <a:endParaRPr sz="1050" b="0" i="0">
              <a:solidFill>
                <a:srgbClr val="F4F7FB"/>
              </a:solidFill>
              <a:latin typeface="Segoe UI"/>
            </a:endParaRP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Delivery is at-most-once and in-process. That is acceptable ONLY because the stream is never the only path — booking state is server-authoritative and the client refetches on reconnect.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38251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 spc="200">
                <a:solidFill>
                  <a:srgbClr val="5C6B80"/>
                </a:solidFill>
                <a:latin typeface="Segoe UI"/>
              </a:rPr>
              <a:t>ROADASSIST BHARAT · SWE4004 CLOUD COMPUTING AND APPLICATIONS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5C6B80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57199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60">
                <a:solidFill>
                  <a:srgbClr val="22D3EE"/>
                </a:solidFill>
                <a:latin typeface="Segoe UI"/>
              </a:rPr>
              <a:t>REAL SCREENSHOTS · CAPTURED FROM THE RUNNING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4F7FB"/>
                </a:solidFill>
                <a:latin typeface="Segoe UI Semibold"/>
              </a:rPr>
              <a:t>Customer application</a:t>
            </a:r>
          </a:p>
        </p:txBody>
      </p:sp>
      <p:pic>
        <p:nvPicPr>
          <p:cNvPr id="5" name="Picture 4" descr="_fit_02-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65960"/>
            <a:ext cx="2103120" cy="35661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1965960"/>
            <a:ext cx="2103120" cy="356616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561441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5C6B80"/>
                </a:solidFill>
                <a:latin typeface="Segoe UI"/>
              </a:rPr>
              <a:t>Home · SOS + readiness</a:t>
            </a:r>
          </a:p>
        </p:txBody>
      </p:sp>
      <p:pic>
        <p:nvPicPr>
          <p:cNvPr id="8" name="Picture 7" descr="_fit_03-vehi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2656" y="1965960"/>
            <a:ext cx="2103120" cy="35661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962656" y="1965960"/>
            <a:ext cx="2103120" cy="356616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62656" y="561441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5C6B80"/>
                </a:solidFill>
                <a:latin typeface="Segoe UI"/>
              </a:rPr>
              <a:t>Vehicle</a:t>
            </a:r>
          </a:p>
        </p:txBody>
      </p:sp>
      <p:pic>
        <p:nvPicPr>
          <p:cNvPr id="11" name="Picture 10" descr="_fit_04-ai-diagnos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6944" y="1965960"/>
            <a:ext cx="2103120" cy="35661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266944" y="1965960"/>
            <a:ext cx="2103120" cy="356616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66944" y="561441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5C6B80"/>
                </a:solidFill>
                <a:latin typeface="Segoe UI"/>
              </a:rPr>
              <a:t>Diagnosis</a:t>
            </a:r>
          </a:p>
        </p:txBody>
      </p:sp>
      <p:pic>
        <p:nvPicPr>
          <p:cNvPr id="14" name="Picture 13" descr="_fit_05-dispat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1232" y="1965960"/>
            <a:ext cx="2103120" cy="356616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571232" y="1965960"/>
            <a:ext cx="2103120" cy="356616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71232" y="561441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5C6B80"/>
                </a:solidFill>
                <a:latin typeface="Segoe UI"/>
              </a:rPr>
              <a:t>Dispatch</a:t>
            </a:r>
          </a:p>
        </p:txBody>
      </p:sp>
      <p:pic>
        <p:nvPicPr>
          <p:cNvPr id="17" name="Picture 16" descr="_fit_12-activ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5520" y="1965960"/>
            <a:ext cx="2103120" cy="356616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9875520" y="1965960"/>
            <a:ext cx="2103120" cy="356616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0" y="561441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5C6B80"/>
                </a:solidFill>
                <a:latin typeface="Segoe UI"/>
              </a:rPr>
              <a:t>Activity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9618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5C6B80"/>
                </a:solidFill>
                <a:latin typeface="Segoe UI"/>
              </a:rPr>
              <a:t>Captured by scripts/capture-screens.mjs against the live API — regenerable in ninety seconds, so they cannot drift from the product.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38251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 spc="200">
                <a:solidFill>
                  <a:srgbClr val="5C6B80"/>
                </a:solidFill>
                <a:latin typeface="Segoe UI"/>
              </a:rPr>
              <a:t>ROADASSIST BHARAT · SWE4004 CLOUD COMPUTING AND APPLICATIONS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5C6B80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57199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60">
                <a:solidFill>
                  <a:srgbClr val="22D3EE"/>
                </a:solidFill>
                <a:latin typeface="Segoe UI"/>
              </a:rPr>
              <a:t>THE OTHER TWO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4F7FB"/>
                </a:solidFill>
                <a:latin typeface="Segoe UI Semibold"/>
              </a:rPr>
              <a:t>Mechanic console and authority dashboard</a:t>
            </a:r>
          </a:p>
        </p:txBody>
      </p:sp>
      <p:pic>
        <p:nvPicPr>
          <p:cNvPr id="5" name="Picture 4" descr="_fit_13-mechanic-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65960"/>
            <a:ext cx="5120640" cy="3291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" y="1965960"/>
            <a:ext cx="5120640" cy="329184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5340096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5C6B80"/>
                </a:solidFill>
                <a:latin typeface="Segoe UI"/>
              </a:rPr>
              <a:t>Mechanic console · dispatch inbox, live badge, job lifecycle</a:t>
            </a:r>
          </a:p>
        </p:txBody>
      </p:sp>
      <p:pic>
        <p:nvPicPr>
          <p:cNvPr id="8" name="Picture 7" descr="_fit_14-author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965960"/>
            <a:ext cx="5120640" cy="3291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63640" y="1965960"/>
            <a:ext cx="5120640" cy="329184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5340096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5C6B80"/>
                </a:solidFill>
                <a:latin typeface="Segoe UI"/>
              </a:rPr>
              <a:t>RAKSHA authority · live map, road health, detection triage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48640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 i="0">
                <a:solidFill>
                  <a:srgbClr val="93A1B5"/>
                </a:solidFill>
                <a:latin typeface="Segoe UI"/>
              </a:rPr>
              <a:t>Mechanic: availability · incoming request · accept · decline · en route · arrived · in service · complete — every transition persisted and pushed to the customer.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38251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 spc="200">
                <a:solidFill>
                  <a:srgbClr val="5C6B80"/>
                </a:solidFill>
                <a:latin typeface="Segoe UI"/>
              </a:rPr>
              <a:t>ROADASSIST BHARAT · SWE4004 CLOUD COMPUTING AND APPLICATIONS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5C6B80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57199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60">
                <a:solidFill>
                  <a:srgbClr val="22D3EE"/>
                </a:solidFill>
                <a:latin typeface="Segoe UI"/>
              </a:rPr>
              <a:t>EMERGENCY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4F7FB"/>
                </a:solidFill>
                <a:latin typeface="Segoe UI Semibold"/>
              </a:rPr>
              <a:t>Three states, three honest answers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3383280" cy="301752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1" y="219456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 spc="140">
                <a:solidFill>
                  <a:srgbClr val="34D399"/>
                </a:solidFill>
                <a:latin typeface="Segoe UI Semibold"/>
              </a:rPr>
              <a:t>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269748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— Everything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320040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— SOS reaches dispatch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370332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— Live tracking + 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420624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— Cloud diagnosis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65960"/>
            <a:ext cx="3383280" cy="301752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9050">
            <a:solidFill>
              <a:srgbClr val="F5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45152" y="219456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 spc="140">
                <a:solidFill>
                  <a:srgbClr val="F5B14C"/>
                </a:solidFill>
                <a:latin typeface="Segoe UI Semibold"/>
              </a:rPr>
              <a:t>LIMITED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69748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— Requests still attempted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320040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— Anything that fails is STORED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370332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— Slow or flaky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420624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— User is told it is weak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965960"/>
            <a:ext cx="3383280" cy="301752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9050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57031" y="219456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 spc="140">
                <a:solidFill>
                  <a:srgbClr val="FF4D5E"/>
                </a:solidFill>
                <a:latin typeface="Segoe UI Semibold"/>
              </a:rPr>
              <a:t>OFF-GRID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269748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— SOS stored on device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320040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— GPS still 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370332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— Local diagnosis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420624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— Cached maps · no live anything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6636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93A1B5"/>
                </a:solidFill>
                <a:latin typeface="Segoe UI"/>
              </a:rPr>
              <a:t>The indicator names the state in WORDS as well as colour — status is never carried by tint alone.</a:t>
            </a:r>
          </a:p>
          <a:p>
            <a:pPr algn="ctr">
              <a:lnSpc>
                <a:spcPct val="140000"/>
              </a:lnSpc>
            </a:pPr>
            <a:r>
              <a:rPr sz="1150" b="0" i="0">
                <a:solidFill>
                  <a:srgbClr val="93A1B5"/>
                </a:solidFill>
                <a:latin typeface="Segoe UI"/>
              </a:rPr>
              <a:t>Under every state the primary action stays the same and stays one tap away: SOS.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38251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 spc="200">
                <a:solidFill>
                  <a:srgbClr val="5C6B80"/>
                </a:solidFill>
                <a:latin typeface="Segoe UI"/>
              </a:rPr>
              <a:t>ROADASSIST BHARAT · SWE4004 CLOUD COMPUTING AND APPLICATIONS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5C6B80"/>
                </a:solidFill>
                <a:latin typeface="Consolas"/>
              </a:rP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57199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60">
                <a:solidFill>
                  <a:srgbClr val="22D3EE"/>
                </a:solidFill>
                <a:latin typeface="Segoe UI"/>
              </a:rPr>
              <a:t>PAYMENT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4F7FB"/>
                </a:solidFill>
                <a:latin typeface="Segoe UI Semibold"/>
              </a:rPr>
              <a:t>The client never decides that money arrived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148840"/>
            <a:ext cx="1463040" cy="109728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E7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1">
                <a:solidFill>
                  <a:srgbClr val="F4F7FB"/>
                </a:solidFill>
                <a:latin typeface="Segoe UI Semibold"/>
              </a:rPr>
              <a:t>INVOICE</a:t>
            </a:r>
          </a:p>
          <a:p>
            <a:pPr algn="ctr">
              <a:lnSpc>
                <a:spcPct val="110000"/>
              </a:lnSpc>
            </a:pPr>
            <a:r>
              <a:rPr sz="750">
                <a:solidFill>
                  <a:srgbClr val="93A1B5"/>
                </a:solidFill>
                <a:latin typeface="Segoe UI"/>
              </a:rPr>
              <a:t>server-computed
total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39696" y="2697480"/>
            <a:ext cx="73152" cy="0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231136" y="2148840"/>
            <a:ext cx="1463040" cy="109728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1">
                <a:solidFill>
                  <a:srgbClr val="F4F7FB"/>
                </a:solidFill>
                <a:latin typeface="Segoe UI Semibold"/>
              </a:rPr>
              <a:t>ORDER</a:t>
            </a:r>
          </a:p>
          <a:p>
            <a:pPr algn="ctr">
              <a:lnSpc>
                <a:spcPct val="110000"/>
              </a:lnSpc>
            </a:pPr>
            <a:r>
              <a:rPr sz="750">
                <a:solidFill>
                  <a:srgbClr val="93A1B5"/>
                </a:solidFill>
                <a:latin typeface="Segoe UI"/>
              </a:rPr>
              <a:t>created server-side
with that amount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12463" y="2697480"/>
            <a:ext cx="73152" cy="0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803904" y="2148840"/>
            <a:ext cx="1463040" cy="109728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1">
                <a:solidFill>
                  <a:srgbClr val="F4F7FB"/>
                </a:solidFill>
                <a:latin typeface="Segoe UI Semibold"/>
              </a:rPr>
              <a:t>CHECKOUT</a:t>
            </a:r>
          </a:p>
          <a:p>
            <a:pPr algn="ctr">
              <a:lnSpc>
                <a:spcPct val="110000"/>
              </a:lnSpc>
            </a:pPr>
            <a:r>
              <a:rPr sz="750">
                <a:solidFill>
                  <a:srgbClr val="93A1B5"/>
                </a:solidFill>
                <a:latin typeface="Segoe UI"/>
              </a:rPr>
              <a:t>gateway UI,
key id only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285231" y="2697480"/>
            <a:ext cx="73152" cy="0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76672" y="2148840"/>
            <a:ext cx="1463040" cy="109728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F5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1">
                <a:solidFill>
                  <a:srgbClr val="F4F7FB"/>
                </a:solidFill>
                <a:latin typeface="Segoe UI Semibold"/>
              </a:rPr>
              <a:t>WEBHOOK</a:t>
            </a:r>
          </a:p>
          <a:p>
            <a:pPr algn="ctr">
              <a:lnSpc>
                <a:spcPct val="110000"/>
              </a:lnSpc>
            </a:pPr>
            <a:r>
              <a:rPr sz="750">
                <a:solidFill>
                  <a:srgbClr val="93A1B5"/>
                </a:solidFill>
                <a:latin typeface="Segoe UI"/>
              </a:rPr>
              <a:t>at-least-once
delivery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0" y="2697480"/>
            <a:ext cx="73152" cy="0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949440" y="2148840"/>
            <a:ext cx="1463040" cy="109728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1">
                <a:solidFill>
                  <a:srgbClr val="F4F7FB"/>
                </a:solidFill>
                <a:latin typeface="Segoe UI Semibold"/>
              </a:rPr>
              <a:t>SIGNATURE</a:t>
            </a:r>
          </a:p>
          <a:p>
            <a:pPr algn="ctr">
              <a:lnSpc>
                <a:spcPct val="110000"/>
              </a:lnSpc>
            </a:pPr>
            <a:r>
              <a:rPr sz="750">
                <a:solidFill>
                  <a:srgbClr val="93A1B5"/>
                </a:solidFill>
                <a:latin typeface="Segoe UI"/>
              </a:rPr>
              <a:t>HMAC-SHA256
recomputed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30767" y="2697480"/>
            <a:ext cx="73153" cy="0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22208" y="2148840"/>
            <a:ext cx="1463040" cy="109728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1">
                <a:solidFill>
                  <a:srgbClr val="F4F7FB"/>
                </a:solidFill>
                <a:latin typeface="Segoe UI Semibold"/>
              </a:rPr>
              <a:t>SETTLEMENT</a:t>
            </a:r>
          </a:p>
          <a:p>
            <a:pPr algn="ctr">
              <a:lnSpc>
                <a:spcPct val="110000"/>
              </a:lnSpc>
            </a:pPr>
            <a:r>
              <a:rPr sz="750">
                <a:solidFill>
                  <a:srgbClr val="93A1B5"/>
                </a:solidFill>
                <a:latin typeface="Segoe UI"/>
              </a:rPr>
              <a:t>conditional on
PENDING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003536" y="2697480"/>
            <a:ext cx="73152" cy="0"/>
          </a:xfrm>
          <a:prstGeom prst="line">
            <a:avLst/>
          </a:prstGeom>
          <a:ln w="17780">
            <a:solidFill>
              <a:srgbClr val="22D3E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094976" y="2148840"/>
            <a:ext cx="1463040" cy="109728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1">
                <a:solidFill>
                  <a:srgbClr val="F4F7FB"/>
                </a:solidFill>
                <a:latin typeface="Segoe UI Semibold"/>
              </a:rPr>
              <a:t>RECEIPT</a:t>
            </a:r>
          </a:p>
          <a:p>
            <a:pPr algn="ctr">
              <a:lnSpc>
                <a:spcPct val="110000"/>
              </a:lnSpc>
            </a:pPr>
            <a:r>
              <a:rPr sz="750">
                <a:solidFill>
                  <a:srgbClr val="93A1B5"/>
                </a:solidFill>
                <a:latin typeface="Segoe UI"/>
              </a:rPr>
              <a:t>booking → PAID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94760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140">
                <a:solidFill>
                  <a:srgbClr val="22D3EE"/>
                </a:solidFill>
                <a:latin typeface="Segoe UI"/>
              </a:rPr>
              <a:t>AMOUNT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79" y="3767328"/>
            <a:ext cx="8641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Never taken from the request — it is the invoice total, and the webhook refuses a mismatch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51960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140">
                <a:solidFill>
                  <a:srgbClr val="22D3EE"/>
                </a:solidFill>
                <a:latin typeface="Segoe UI"/>
              </a:rPr>
              <a:t>TWO PATHS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79" y="4224528"/>
            <a:ext cx="8641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Browser callback AND webhook. The webhook is the one that matters: a customer can pay and close the tab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709160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140">
                <a:solidFill>
                  <a:srgbClr val="22D3EE"/>
                </a:solidFill>
                <a:latin typeface="Segoe UI"/>
              </a:rPr>
              <a:t>IDEMPOTENT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79" y="4681728"/>
            <a:ext cx="8641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Delivery is at-least-once, so a replayed webhook settles nothing twice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166360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140">
                <a:solidFill>
                  <a:srgbClr val="22D3EE"/>
                </a:solidFill>
                <a:latin typeface="Segoe UI"/>
              </a:rPr>
              <a:t>REFUSES TO BOOT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79" y="5138928"/>
            <a:ext cx="8641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Production will not start on a real gateway with no webhook secret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23560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140">
                <a:solidFill>
                  <a:srgbClr val="22D3EE"/>
                </a:solidFill>
                <a:latin typeface="Segoe UI"/>
              </a:rPr>
              <a:t>CHECKED, NOT COUNTED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79" y="5596128"/>
            <a:ext cx="8641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22 checks against a local stub of Razorpay's API, no account: forged signature, replay, wrong amount — outside the 760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38251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 spc="200">
                <a:solidFill>
                  <a:srgbClr val="5C6B80"/>
                </a:solidFill>
                <a:latin typeface="Segoe UI"/>
              </a:rPr>
              <a:t>ROADASSIST BHARAT · SWE4004 CLOUD COMPUTING AND APPLICATIONS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5C6B80"/>
                </a:solidFill>
                <a:latin typeface="Consolas"/>
              </a:rP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57199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60">
                <a:solidFill>
                  <a:srgbClr val="22D3EE"/>
                </a:solidFill>
                <a:latin typeface="Segoe UI"/>
              </a:rPr>
              <a:t>SEVEN LAYERS, AND 74 ATTACKS THAT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4F7FB"/>
                </a:solidFill>
                <a:latin typeface="Segoe UI Semibold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16736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93A1B5"/>
                </a:solidFill>
                <a:latin typeface="Segoe UI"/>
              </a:rPr>
              <a:t>The suite passes when the platform refuses — “we tried and could not get in” is a stronger statement than “the code looks right”.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2514600" cy="105156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1">
                <a:solidFill>
                  <a:srgbClr val="F4F7FB"/>
                </a:solidFill>
                <a:latin typeface="Segoe UI Semibold"/>
              </a:rPr>
              <a:t>AUTHENTICATION</a:t>
            </a:r>
          </a:p>
          <a:p>
            <a:pPr algn="ctr">
              <a:lnSpc>
                <a:spcPct val="110000"/>
              </a:lnSpc>
            </a:pPr>
            <a:r>
              <a:rPr sz="800">
                <a:solidFill>
                  <a:srgbClr val="93A1B5"/>
                </a:solidFill>
                <a:latin typeface="Segoe UI"/>
              </a:rPr>
              <a:t>OTP → JWT, rotating refresh
with reuse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057400"/>
            <a:ext cx="2514600" cy="105156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1">
                <a:solidFill>
                  <a:srgbClr val="F4F7FB"/>
                </a:solidFill>
                <a:latin typeface="Segoe UI Semibold"/>
              </a:rPr>
              <a:t>RBAC</a:t>
            </a:r>
          </a:p>
          <a:p>
            <a:pPr algn="ctr">
              <a:lnSpc>
                <a:spcPct val="110000"/>
              </a:lnSpc>
            </a:pPr>
            <a:r>
              <a:rPr sz="800">
                <a:solidFill>
                  <a:srgbClr val="93A1B5"/>
                </a:solidFill>
                <a:latin typeface="Segoe UI"/>
              </a:rPr>
              <a:t>role gates on every
operator surface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057400"/>
            <a:ext cx="2514600" cy="105156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1">
                <a:solidFill>
                  <a:srgbClr val="F4F7FB"/>
                </a:solidFill>
                <a:latin typeface="Segoe UI Semibold"/>
              </a:rPr>
              <a:t>RESOURCE OWNERSHIP</a:t>
            </a:r>
          </a:p>
          <a:p>
            <a:pPr algn="ctr">
              <a:lnSpc>
                <a:spcPct val="110000"/>
              </a:lnSpc>
            </a:pPr>
            <a:r>
              <a:rPr sz="800">
                <a:solidFill>
                  <a:srgbClr val="93A1B5"/>
                </a:solidFill>
                <a:latin typeface="Segoe UI"/>
              </a:rPr>
              <a:t>checked at the resource,
not just the route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2057400"/>
            <a:ext cx="2514600" cy="105156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1">
                <a:solidFill>
                  <a:srgbClr val="F4F7FB"/>
                </a:solidFill>
                <a:latin typeface="Segoe UI Semibold"/>
              </a:rPr>
              <a:t>RATE LIMITING</a:t>
            </a:r>
          </a:p>
          <a:p>
            <a:pPr algn="ctr">
              <a:lnSpc>
                <a:spcPct val="110000"/>
              </a:lnSpc>
            </a:pPr>
            <a:r>
              <a:rPr sz="800">
                <a:solidFill>
                  <a:srgbClr val="93A1B5"/>
                </a:solidFill>
                <a:latin typeface="Segoe UI"/>
              </a:rPr>
              <a:t>per principal — and never
on SOS escalation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91840"/>
            <a:ext cx="2514600" cy="105156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1">
                <a:solidFill>
                  <a:srgbClr val="F4F7FB"/>
                </a:solidFill>
                <a:latin typeface="Segoe UI Semibold"/>
              </a:rPr>
              <a:t>INPUT VALIDATION</a:t>
            </a:r>
          </a:p>
          <a:p>
            <a:pPr algn="ctr">
              <a:lnSpc>
                <a:spcPct val="110000"/>
              </a:lnSpc>
            </a:pPr>
            <a:r>
              <a:rPr sz="800">
                <a:solidFill>
                  <a:srgbClr val="93A1B5"/>
                </a:solidFill>
                <a:latin typeface="Segoe UI"/>
              </a:rPr>
              <a:t>zod at every boundary,
parameterised 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3291840"/>
            <a:ext cx="2514600" cy="105156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1">
                <a:solidFill>
                  <a:srgbClr val="F4F7FB"/>
                </a:solidFill>
                <a:latin typeface="Segoe UI Semibold"/>
              </a:rPr>
              <a:t>PAYMENT VERIFICATION</a:t>
            </a:r>
          </a:p>
          <a:p>
            <a:pPr algn="ctr">
              <a:lnSpc>
                <a:spcPct val="110000"/>
              </a:lnSpc>
            </a:pPr>
            <a:r>
              <a:rPr sz="800">
                <a:solidFill>
                  <a:srgbClr val="93A1B5"/>
                </a:solidFill>
                <a:latin typeface="Segoe UI"/>
              </a:rPr>
              <a:t>server-side amount,
signed webhook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291840"/>
            <a:ext cx="2514600" cy="105156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950" b="1">
                <a:solidFill>
                  <a:srgbClr val="F4F7FB"/>
                </a:solidFill>
                <a:latin typeface="Segoe UI Semibold"/>
              </a:rPr>
              <a:t>AUDIT LOG</a:t>
            </a:r>
          </a:p>
          <a:p>
            <a:pPr algn="ctr">
              <a:lnSpc>
                <a:spcPct val="110000"/>
              </a:lnSpc>
            </a:pPr>
            <a:r>
              <a:rPr sz="800">
                <a:solidFill>
                  <a:srgbClr val="93A1B5"/>
                </a:solidFill>
                <a:latin typeface="Segoe UI"/>
              </a:rPr>
              <a:t>hash-chained, append-only,
verified live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3291840"/>
            <a:ext cx="2514600" cy="105156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98280" y="347472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34D399"/>
                </a:solidFill>
                <a:latin typeface="Segoe UI Semibold"/>
              </a:rPr>
              <a:t>74 / 74</a:t>
            </a:r>
          </a:p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34D399"/>
                </a:solidFill>
                <a:latin typeface="Segoe UI Semibold"/>
              </a:rPr>
              <a:t>attacks refused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09160"/>
            <a:ext cx="1060704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93A1B5"/>
                </a:solidFill>
                <a:latin typeface="Segoe UI"/>
              </a:rPr>
              <a:t>Sensitive data: medical break-glass needs a role, a LIVE incident and a written reason, and writes a tamper-evident row.</a:t>
            </a:r>
          </a:p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93A1B5"/>
                </a:solidFill>
                <a:latin typeface="Segoe UI"/>
              </a:rPr>
              <a:t>Logs redact credentials, OTP codes, phone numbers, medical fields and coordinates — and that redaction is unit-tested.</a:t>
            </a:r>
          </a:p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93A1B5"/>
                </a:solidFill>
                <a:latin typeface="Segoe UI"/>
              </a:rPr>
              <a:t>Three real vulnerabilities were found by this suite during the audit and fixed: missing request ids on 401s, a 500 on malformed JSON, an unsigned SMS intake that did not say so.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8251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 spc="200">
                <a:solidFill>
                  <a:srgbClr val="5C6B80"/>
                </a:solidFill>
                <a:latin typeface="Segoe UI"/>
              </a:rPr>
              <a:t>ROADASSIST BHARAT · SWE4004 CLOUD COMPUTING AND APPLICATIONS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5C6B80"/>
                </a:solidFill>
                <a:latin typeface="Consolas"/>
              </a:rPr>
              <a:t>17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57199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60">
                <a:solidFill>
                  <a:srgbClr val="22D3EE"/>
                </a:solidFill>
                <a:latin typeface="Segoe UI"/>
              </a:rPr>
              <a:t>DATABASE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4F7FB"/>
                </a:solidFill>
                <a:latin typeface="Segoe UI Semibold"/>
              </a:rPr>
              <a:t>PostgreSQL 16 + PostGIS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16736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93A1B5"/>
                </a:solidFill>
                <a:latin typeface="Segoe UI"/>
              </a:rPr>
              <a:t>Chosen for one query, and kept for four more reasons.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1645920" cy="91440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157984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1" i="0">
                <a:solidFill>
                  <a:srgbClr val="22D3EE"/>
                </a:solidFill>
                <a:latin typeface="Segoe UI Semibold"/>
              </a:rPr>
              <a:t>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8775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93A1B5"/>
                </a:solidFill>
                <a:latin typeface="Segoe UI"/>
              </a:rPr>
              <a:t>tables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2011680"/>
            <a:ext cx="1645920" cy="91440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60320" y="2157984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1" i="0">
                <a:solidFill>
                  <a:srgbClr val="22D3EE"/>
                </a:solidFill>
                <a:latin typeface="Segoe UI Semibold"/>
              </a:rPr>
              <a:t>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58775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93A1B5"/>
                </a:solidFill>
                <a:latin typeface="Segoe UI"/>
              </a:rPr>
              <a:t>foreign keys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011680"/>
            <a:ext cx="1645920" cy="91440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43400" y="2157984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1" i="0">
                <a:solidFill>
                  <a:srgbClr val="22D3EE"/>
                </a:solidFill>
                <a:latin typeface="Segoe UI Semibold"/>
              </a:rPr>
              <a:t>138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58775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93A1B5"/>
                </a:solidFill>
                <a:latin typeface="Segoe UI"/>
              </a:rPr>
              <a:t>indexes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79" y="2011680"/>
            <a:ext cx="1645920" cy="91440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79" y="2157984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1" i="0">
                <a:solidFill>
                  <a:srgbClr val="22D3EE"/>
                </a:solidFill>
                <a:latin typeface="Segoe UI Semibold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9" y="258775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93A1B5"/>
                </a:solidFill>
                <a:latin typeface="Segoe UI"/>
              </a:rPr>
              <a:t>GiST spatial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2011680"/>
            <a:ext cx="1645920" cy="91440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09560" y="2157984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1" i="0">
                <a:solidFill>
                  <a:srgbClr val="22D3EE"/>
                </a:solidFill>
                <a:latin typeface="Segoe UI Semibold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258775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93A1B5"/>
                </a:solidFill>
                <a:latin typeface="Segoe UI"/>
              </a:rPr>
              <a:t>check constraints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2011680"/>
            <a:ext cx="1645920" cy="91440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92640" y="2157984"/>
            <a:ext cx="1645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1" i="0">
                <a:solidFill>
                  <a:srgbClr val="22D3EE"/>
                </a:solidFill>
                <a:latin typeface="Segoe UI Semibold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58775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93A1B5"/>
                </a:solidFill>
                <a:latin typeface="Segoe UI"/>
              </a:rPr>
              <a:t>migrations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246120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140">
                <a:solidFill>
                  <a:srgbClr val="22D3EE"/>
                </a:solidFill>
                <a:latin typeface="Segoe UI"/>
              </a:rPr>
              <a:t>WHY POSTGIS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79" y="3218688"/>
            <a:ext cx="8641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“nearest available mechanic to this point” is ONE indexed query with ST_DWithin doing true metres-on-a-sphere. Without it: fetch every mechanic and compute haversine in app code.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758183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140">
                <a:solidFill>
                  <a:srgbClr val="22D3EE"/>
                </a:solidFill>
                <a:latin typeface="Segoe UI"/>
              </a:rPr>
              <a:t>WHY RELATIONAL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79" y="3730751"/>
            <a:ext cx="8641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SELECT … FOR UPDATE is what stops two mechanics taking one job. Transactions are the feature, not a formality.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27024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140">
                <a:solidFill>
                  <a:srgbClr val="22D3EE"/>
                </a:solidFill>
                <a:latin typeface="Segoe UI"/>
              </a:rPr>
              <a:t>CONSTRAINTS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79" y="4242816"/>
            <a:ext cx="8641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client_incident_id UNIQUE is the entire duplicate-emergency defence. Money is integer paise; ratings are CHECK 1–5.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782312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140">
                <a:solidFill>
                  <a:srgbClr val="22D3EE"/>
                </a:solidFill>
                <a:latin typeface="Segoe UI"/>
              </a:rPr>
              <a:t>AUDITABILITY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79" y="4754880"/>
            <a:ext cx="8641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audit_log is hash-chained and Postgres RULES block UPDATE and DELETE — an admin cannot quietly edit it.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294376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140">
                <a:solidFill>
                  <a:srgbClr val="22D3EE"/>
                </a:solidFill>
                <a:latin typeface="Segoe UI"/>
              </a:rPr>
              <a:t>VERIFIED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79" y="5266944"/>
            <a:ext cx="8641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Migrations run from an EMPTY database in this audit, then the full suite. Backup + restore rehearsed: chain intact across 639 entries.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38251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 spc="200">
                <a:solidFill>
                  <a:srgbClr val="5C6B80"/>
                </a:solidFill>
                <a:latin typeface="Segoe UI"/>
              </a:rPr>
              <a:t>ROADASSIST BHARAT · SWE4004 CLOUD COMPUTING AND APPLICATIONS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5C6B80"/>
                </a:solidFill>
                <a:latin typeface="Consolas"/>
              </a:rPr>
              <a:t>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57199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60">
                <a:solidFill>
                  <a:srgbClr val="22D3EE"/>
                </a:solidFill>
                <a:latin typeface="Segoe UI"/>
              </a:rPr>
              <a:t>MODULE 1 · CLOUD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4F7FB"/>
                </a:solidFill>
                <a:latin typeface="Segoe UI Semibold"/>
              </a:rPr>
              <a:t>Where we sit in the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16736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93A1B5"/>
                </a:solidFill>
                <a:latin typeface="Segoe UI"/>
              </a:rPr>
              <a:t>We are a consumer of IaaS and PaaS, and a provider of SaaS to three user classes.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03120"/>
            <a:ext cx="3383280" cy="123444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4F7FB"/>
                </a:solidFill>
                <a:latin typeface="Segoe UI Semibold"/>
              </a:rPr>
              <a:t>SaaS</a:t>
            </a:r>
          </a:p>
          <a:p>
            <a:pPr algn="ctr">
              <a:lnSpc>
                <a:spcPct val="110000"/>
              </a:lnSpc>
            </a:pPr>
            <a:r>
              <a:rPr sz="900">
                <a:solidFill>
                  <a:srgbClr val="93A1B5"/>
                </a:solidFill>
                <a:latin typeface="Segoe UI"/>
              </a:rPr>
              <a:t>We PROVIDE this: citizen app,
mechanic console, authority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47672" y="3401568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00" b="1">
                <a:solidFill>
                  <a:srgbClr val="34D399"/>
                </a:solidFill>
                <a:latin typeface="Segoe UI"/>
              </a:rPr>
              <a:t>IMPLEMENTED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03120"/>
            <a:ext cx="3383280" cy="123444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E7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4F7FB"/>
                </a:solidFill>
                <a:latin typeface="Segoe UI Semibold"/>
              </a:rPr>
              <a:t>PaaS</a:t>
            </a:r>
          </a:p>
          <a:p>
            <a:pPr algn="ctr">
              <a:lnSpc>
                <a:spcPct val="110000"/>
              </a:lnSpc>
            </a:pPr>
            <a:r>
              <a:rPr sz="900">
                <a:solidFill>
                  <a:srgbClr val="93A1B5"/>
                </a:solidFill>
                <a:latin typeface="Segoe UI"/>
              </a:rPr>
              <a:t>We CONSUME managed Postgres (Neon)
+ a container platform (Render)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59552" y="3401568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00" b="1">
                <a:solidFill>
                  <a:srgbClr val="34D399"/>
                </a:solidFill>
                <a:latin typeface="Segoe UI"/>
              </a:rPr>
              <a:t>IMPLEMENTED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2103120"/>
            <a:ext cx="3383280" cy="123444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F5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>
                <a:solidFill>
                  <a:srgbClr val="F4F7FB"/>
                </a:solidFill>
                <a:latin typeface="Segoe UI Semibold"/>
              </a:rPr>
              <a:t>IaaS</a:t>
            </a:r>
          </a:p>
          <a:p>
            <a:pPr algn="ctr">
              <a:lnSpc>
                <a:spcPct val="110000"/>
              </a:lnSpc>
            </a:pPr>
            <a:r>
              <a:rPr sz="900">
                <a:solidFill>
                  <a:srgbClr val="93A1B5"/>
                </a:solidFill>
                <a:latin typeface="Segoe UI"/>
              </a:rPr>
              <a:t>Compute, network, storage.
Compose is the local stand-in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1432" y="3401568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F5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00" b="1">
                <a:solidFill>
                  <a:srgbClr val="F5B14C"/>
                </a:solidFill>
                <a:latin typeface="Segoe UI"/>
              </a:rPr>
              <a:t>PARTIAL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977639"/>
            <a:ext cx="5166360" cy="173736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160520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 spc="160">
                <a:solidFill>
                  <a:srgbClr val="22D3EE"/>
                </a:solidFill>
                <a:latin typeface="Segoe UI"/>
              </a:rPr>
              <a:t>CHARACTERISTICS WE ACTUALLY EXHIBIT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26280"/>
            <a:ext cx="470916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Broad network access — one API serves a browser, an installed PWA, an Android WebView and a feature phone over SMS.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Resource pooling — dispatch pools providers and allocates on demand.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977639"/>
            <a:ext cx="5120640" cy="173736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F5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416052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 spc="160">
                <a:solidFill>
                  <a:srgbClr val="F5B14C"/>
                </a:solidFill>
                <a:latin typeface="Segoe UI"/>
              </a:rPr>
              <a:t>DEPLOYMENT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526280"/>
            <a:ext cx="466344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Public cloud. Demo: Render + Neon in Singapore — the free tiers offer no India region. Production target: an Indian region, because “No PII leaves India” — logs, backups and crash reports included.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8251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 spc="200">
                <a:solidFill>
                  <a:srgbClr val="5C6B80"/>
                </a:solidFill>
                <a:latin typeface="Segoe UI"/>
              </a:rPr>
              <a:t>ROADASSIST BHARAT · SWE4004 CLOUD COMPUTING AND APPLICATIONS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5C6B80"/>
                </a:solidFill>
                <a:latin typeface="Consolas"/>
              </a:rPr>
              <a:t>19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57199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60">
                <a:solidFill>
                  <a:srgbClr val="22D3EE"/>
                </a:solidFill>
                <a:latin typeface="Segoe UI"/>
              </a:rPr>
              <a:t>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4F7FB"/>
                </a:solidFill>
                <a:latin typeface="Segoe UI Semibold"/>
              </a:rPr>
              <a:t>Enabling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16736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93A1B5"/>
                </a:solidFill>
                <a:latin typeface="Segoe UI"/>
              </a:rPr>
              <a:t>Five topics. Four are genuinely built; one is partial and says so.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03120"/>
            <a:ext cx="10607040" cy="64008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22D3EE"/>
                </a:solidFill>
                <a:latin typeface="Segoe UI Semibold"/>
              </a:rPr>
              <a:t>Data centre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2176272"/>
            <a:ext cx="6949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4F7FB"/>
                </a:solidFill>
                <a:latin typeface="Segoe UI"/>
              </a:rPr>
              <a:t>Compose stack: PostGIS + Redis + Redpanda on a private network; DB port NOT published in production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49840" y="2304288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F5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00" b="1">
                <a:solidFill>
                  <a:srgbClr val="F5B14C"/>
                </a:solidFill>
                <a:latin typeface="Segoe UI"/>
              </a:rPr>
              <a:t>PARTIAL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852927"/>
            <a:ext cx="10607040" cy="64008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94436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22D3EE"/>
                </a:solidFill>
                <a:latin typeface="Segoe UI Semibold"/>
              </a:rPr>
              <a:t>Virtualization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926079"/>
            <a:ext cx="6949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4F7FB"/>
                </a:solidFill>
                <a:latin typeface="Segoe UI"/>
              </a:rPr>
              <a:t>Multi-stage container, non-root (uid 1000), tini as PID 1, healthcheck. Built and run — 321 MB.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49840" y="3054096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00" b="1">
                <a:solidFill>
                  <a:srgbClr val="34D399"/>
                </a:solidFill>
                <a:latin typeface="Segoe UI"/>
              </a:rPr>
              <a:t>IMPLEMENTED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602735"/>
            <a:ext cx="10607040" cy="64008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694175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22D3EE"/>
                </a:solidFill>
                <a:latin typeface="Segoe UI Semibold"/>
              </a:rPr>
              <a:t>Web technology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675887"/>
            <a:ext cx="6949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4F7FB"/>
                </a:solidFill>
                <a:latin typeface="Segoe UI"/>
              </a:rPr>
              <a:t>REST over HTTPS with a uniform envelope, server-sent events for real-time, PWA with a service worker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49840" y="3803903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00" b="1">
                <a:solidFill>
                  <a:srgbClr val="34D399"/>
                </a:solidFill>
                <a:latin typeface="Segoe UI"/>
              </a:rPr>
              <a:t>IMPLEMENTED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352544"/>
            <a:ext cx="10607040" cy="64008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443983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22D3EE"/>
                </a:solidFill>
                <a:latin typeface="Segoe UI Semibold"/>
              </a:rPr>
              <a:t>Multitenancy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4425696"/>
            <a:ext cx="6949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4F7FB"/>
                </a:solidFill>
                <a:latin typeface="Segoe UI"/>
              </a:rPr>
              <a:t>Row-scoped shared schema. 12 cross-tenant attacks fired; all 12 refused.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49840" y="4553712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00" b="1">
                <a:solidFill>
                  <a:srgbClr val="34D399"/>
                </a:solidFill>
                <a:latin typeface="Segoe UI"/>
              </a:rPr>
              <a:t>IMPLEMENTED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102352"/>
            <a:ext cx="10607040" cy="64008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519379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22D3EE"/>
                </a:solidFill>
                <a:latin typeface="Segoe UI Semibold"/>
              </a:rPr>
              <a:t>Service technology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5175504"/>
            <a:ext cx="6949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4F7FB"/>
                </a:solidFill>
                <a:latin typeface="Segoe UI"/>
              </a:rPr>
              <a:t>Versioned /v1, 68 routes (65 under /v1), zod validation, stable error codes, idempotency keys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49840" y="5303520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00" b="1">
                <a:solidFill>
                  <a:srgbClr val="34D399"/>
                </a:solidFill>
                <a:latin typeface="Segoe UI"/>
              </a:rPr>
              <a:t>IMPLEMENTED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38251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 spc="200">
                <a:solidFill>
                  <a:srgbClr val="5C6B80"/>
                </a:solidFill>
                <a:latin typeface="Segoe UI"/>
              </a:rPr>
              <a:t>ROADASSIST BHARAT · SWE4004 CLOUD COMPUTING AND APPLICATIONS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5C6B80"/>
                </a:solidFill>
                <a:latin typeface="Consolas"/>
              </a:rPr>
              <a:t>20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57199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60">
                <a:solidFill>
                  <a:srgbClr val="22D3EE"/>
                </a:solidFill>
                <a:latin typeface="Segoe UI"/>
              </a:rPr>
              <a:t>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4F7FB"/>
                </a:solidFill>
                <a:latin typeface="Segoe UI Semibold"/>
              </a:rPr>
              <a:t>Infrastructure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11680"/>
            <a:ext cx="10607040" cy="566928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08483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22D3EE"/>
                </a:solidFill>
                <a:latin typeface="Segoe UI Semibold"/>
              </a:rPr>
              <a:t>Virtual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2066544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F4F7FB"/>
                </a:solidFill>
                <a:latin typeface="Segoe UI"/>
              </a:rPr>
              <a:t>Container image; runs anywhere Docker runs. Full test suite passes AGAINST the image.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49840" y="2176272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00" b="1">
                <a:solidFill>
                  <a:srgbClr val="34D399"/>
                </a:solidFill>
                <a:latin typeface="Segoe UI"/>
              </a:rPr>
              <a:t>IMPLEMENTED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70048"/>
            <a:ext cx="10607040" cy="566928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22D3EE"/>
                </a:solidFill>
                <a:latin typeface="Segoe UI Semibold"/>
              </a:rPr>
              <a:t>Cloud storage device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724912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F4F7FB"/>
                </a:solidFill>
                <a:latin typeface="Segoe UI"/>
              </a:rPr>
              <a:t>Postgres volume, upload volume, and client-side IndexedDB with AES-GCM-256 at rest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49840" y="2834640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00" b="1">
                <a:solidFill>
                  <a:srgbClr val="34D399"/>
                </a:solidFill>
                <a:latin typeface="Segoe UI"/>
              </a:rPr>
              <a:t>IMPLEMENTED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328416"/>
            <a:ext cx="10607040" cy="566928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40156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22D3EE"/>
                </a:solidFill>
                <a:latin typeface="Segoe UI Semibold"/>
              </a:rPr>
              <a:t>Cloud usage monitor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383280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F4F7FB"/>
                </a:solidFill>
                <a:latin typeface="Segoe UI"/>
              </a:rPr>
              <a:t>Structured JSON logs, per-request correlation id, operation duration/result, /v1/ops/overview with live counts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49840" y="3493008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F5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00" b="1">
                <a:solidFill>
                  <a:srgbClr val="F5B14C"/>
                </a:solidFill>
                <a:latin typeface="Segoe UI"/>
              </a:rPr>
              <a:t>PARTIAL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86784"/>
            <a:ext cx="10607040" cy="566928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059936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22D3EE"/>
                </a:solidFill>
                <a:latin typeface="Segoe UI Semibold"/>
              </a:rPr>
              <a:t>Ready-made environment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4041648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F4F7FB"/>
                </a:solidFill>
                <a:latin typeface="Segoe UI"/>
              </a:rPr>
              <a:t>compose → migrate → seed → start. Reference-only seed for production verified: 0 demo rows.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49840" y="4151376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00" b="1">
                <a:solidFill>
                  <a:srgbClr val="34D399"/>
                </a:solidFill>
                <a:latin typeface="Segoe UI"/>
              </a:rPr>
              <a:t>IMPLEMENTED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645152"/>
            <a:ext cx="10607040" cy="566928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471830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22D3EE"/>
                </a:solidFill>
                <a:latin typeface="Segoe UI Semibold"/>
              </a:rPr>
              <a:t>Network perimeter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4700016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F4F7FB"/>
                </a:solidFill>
                <a:latin typeface="Segoe UI"/>
              </a:rPr>
              <a:t>DB has no published port; API on loopback behind a proxy; CORS allowlist enforced in production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49840" y="4809744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F5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00" b="1">
                <a:solidFill>
                  <a:srgbClr val="F5B14C"/>
                </a:solidFill>
                <a:latin typeface="Segoe UI"/>
              </a:rPr>
              <a:t>PARTIAL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303520"/>
            <a:ext cx="10607040" cy="566928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537667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22D3EE"/>
                </a:solidFill>
                <a:latin typeface="Segoe UI Semibold"/>
              </a:rPr>
              <a:t>Resource replication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5358383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F4F7FB"/>
                </a:solidFill>
                <a:latin typeface="Segoe UI"/>
              </a:rPr>
              <a:t>Stateless API is the precondition and is met. Nothing is replicated.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49840" y="5468112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2E7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00" b="1">
                <a:solidFill>
                  <a:srgbClr val="2E7DFF"/>
                </a:solidFill>
                <a:latin typeface="Segoe UI"/>
              </a:rPr>
              <a:t>TARGET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38251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 spc="200">
                <a:solidFill>
                  <a:srgbClr val="5C6B80"/>
                </a:solidFill>
                <a:latin typeface="Segoe UI"/>
              </a:rPr>
              <a:t>ROADASSIST BHARAT · SWE4004 CLOUD COMPUTING AND APPLICATIONS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5C6B80"/>
                </a:solidFill>
                <a:latin typeface="Consolas"/>
              </a:rPr>
              <a:t>21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57199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60">
                <a:solidFill>
                  <a:srgbClr val="22D3EE"/>
                </a:solidFill>
                <a:latin typeface="Segoe UI"/>
              </a:rPr>
              <a:t>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4F7FB"/>
                </a:solidFill>
                <a:latin typeface="Segoe UI Semibold"/>
              </a:rPr>
              <a:t>The eight fundamental architectures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16736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93A1B5"/>
                </a:solidFill>
                <a:latin typeface="Segoe UI"/>
              </a:rPr>
              <a:t>Two are built. Six are design. I will not show you an animation and call it an autoscaler.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5120640" cy="566928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2112264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22D3EE"/>
                </a:solidFill>
                <a:latin typeface="Segoe UI Semibold"/>
              </a:rPr>
              <a:t>Workload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35000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3A1B5"/>
                </a:solidFill>
                <a:latin typeface="Segoe UI"/>
              </a:rPr>
              <a:t>The dispatch engine distributes jobs across a provider pool by computed score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79" y="2212848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00" b="1">
                <a:solidFill>
                  <a:srgbClr val="34D399"/>
                </a:solidFill>
                <a:latin typeface="Segoe UI"/>
              </a:rPr>
              <a:t>IMPLEMENTED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715768"/>
            <a:ext cx="5120640" cy="566928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8408" y="277063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22D3EE"/>
                </a:solidFill>
                <a:latin typeface="Segoe UI Semibold"/>
              </a:rPr>
              <a:t>Resource pooling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008375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3A1B5"/>
                </a:solidFill>
                <a:latin typeface="Segoe UI"/>
              </a:rPr>
              <a:t>Providers are a pool; state is derived and busy members excluded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79" y="2871215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00" b="1">
                <a:solidFill>
                  <a:srgbClr val="34D399"/>
                </a:solidFill>
                <a:latin typeface="Segoe UI"/>
              </a:rPr>
              <a:t>IMPLEMENTED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374136"/>
            <a:ext cx="5120640" cy="566928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" y="342900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22D3EE"/>
                </a:solidFill>
                <a:latin typeface="Segoe UI Semibold"/>
              </a:rPr>
              <a:t>Dynamic scalability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3666744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3A1B5"/>
                </a:solidFill>
                <a:latin typeface="Segoe UI"/>
              </a:rPr>
              <a:t>HPA on queue depth. BUILT: the readiness gate — /health returns 503 when the DB is down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79" y="3529584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2E7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00" b="1">
                <a:solidFill>
                  <a:srgbClr val="2E7DFF"/>
                </a:solidFill>
                <a:latin typeface="Segoe UI"/>
              </a:rPr>
              <a:t>TARGET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032504"/>
            <a:ext cx="5120640" cy="566928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408" y="4087368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22D3EE"/>
                </a:solidFill>
                <a:latin typeface="Segoe UI Semibold"/>
              </a:rPr>
              <a:t>Elastic resource capacity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432511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3A1B5"/>
                </a:solidFill>
                <a:latin typeface="Segoe UI"/>
              </a:rPr>
              <a:t>Cluster autoscaler under the pods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79" y="4187952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2E7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00" b="1">
                <a:solidFill>
                  <a:srgbClr val="2E7DFF"/>
                </a:solidFill>
                <a:latin typeface="Segoe UI"/>
              </a:rPr>
              <a:t>TARGET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057400"/>
            <a:ext cx="5120640" cy="566928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3368" y="2112264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22D3EE"/>
                </a:solidFill>
                <a:latin typeface="Segoe UI Semibold"/>
              </a:rPr>
              <a:t>Service load balancing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235000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3A1B5"/>
                </a:solidFill>
                <a:latin typeface="Segoe UI"/>
              </a:rPr>
              <a:t>LB with health-checked rotation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49840" y="2212848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2E7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00" b="1">
                <a:solidFill>
                  <a:srgbClr val="2E7DFF"/>
                </a:solidFill>
                <a:latin typeface="Segoe UI"/>
              </a:rPr>
              <a:t>TARGET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2715768"/>
            <a:ext cx="5120640" cy="566928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73368" y="277063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22D3EE"/>
                </a:solidFill>
                <a:latin typeface="Segoe UI Semibold"/>
              </a:rPr>
              <a:t>Cloud bursting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3008375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3A1B5"/>
                </a:solidFill>
                <a:latin typeface="Segoe UI"/>
              </a:rPr>
              <a:t>Modelled evening scenario — labelled as modelled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49840" y="2871215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2E7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00" b="1">
                <a:solidFill>
                  <a:srgbClr val="2E7DFF"/>
                </a:solidFill>
                <a:latin typeface="Segoe UI"/>
              </a:rPr>
              <a:t>TARGET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374136"/>
            <a:ext cx="5120640" cy="566928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73368" y="342900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22D3EE"/>
                </a:solidFill>
                <a:latin typeface="Segoe UI Semibold"/>
              </a:rPr>
              <a:t>Elastic disk provisioning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3666744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3A1B5"/>
                </a:solidFill>
                <a:latin typeface="Segoe UI"/>
              </a:rPr>
              <a:t>Storage allocated as data arrives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49840" y="3529584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2E7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00" b="1">
                <a:solidFill>
                  <a:srgbClr val="2E7DFF"/>
                </a:solidFill>
                <a:latin typeface="Segoe UI"/>
              </a:rPr>
              <a:t>TARGET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4032504"/>
            <a:ext cx="5120640" cy="566928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73368" y="4087368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22D3EE"/>
                </a:solidFill>
                <a:latin typeface="Segoe UI Semibold"/>
              </a:rPr>
              <a:t>Redundant storage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432511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3A1B5"/>
                </a:solidFill>
                <a:latin typeface="Segoe UI"/>
              </a:rPr>
              <a:t>Replica with failover. Backup procedure documented and rehearsed.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49840" y="4187952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2E7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00" b="1">
                <a:solidFill>
                  <a:srgbClr val="2E7DFF"/>
                </a:solidFill>
                <a:latin typeface="Segoe UI"/>
              </a:rPr>
              <a:t>TARGET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846320"/>
            <a:ext cx="10607040" cy="86868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9050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05840" y="5029200"/>
            <a:ext cx="10149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Three things block replication today, and each is documented where it is defined: the SSE registry, the rate limiter and the offer sweeper are in-process.</a:t>
            </a:r>
          </a:p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The fix for each is already designed — Redis, and the outbox → Redpanda bus already in the architecture.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638251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 spc="200">
                <a:solidFill>
                  <a:srgbClr val="5C6B80"/>
                </a:solidFill>
                <a:latin typeface="Segoe UI"/>
              </a:rPr>
              <a:t>ROADASSIST BHARAT · SWE4004 CLOUD COMPUTING AND APPLICATIONS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5C6B80"/>
                </a:solidFill>
                <a:latin typeface="Consolas"/>
              </a:rPr>
              <a:t>22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m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57199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60">
                <a:solidFill>
                  <a:srgbClr val="22D3EE"/>
                </a:solidFill>
                <a:latin typeface="Segoe UI"/>
              </a:rPr>
              <a:t>MODULE 4 · CLOUD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4F7FB"/>
                </a:solidFill>
                <a:latin typeface="Segoe UI Semibold"/>
              </a:rPr>
              <a:t>Static vs dynamic scheduling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5166360" cy="329184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E7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176272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2E7DFF"/>
                </a:solidFill>
                <a:latin typeface="Segoe UI Semibold"/>
              </a:rPr>
              <a:t>STATIC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93A1B5"/>
                </a:solidFill>
                <a:latin typeface="Segoe UI"/>
              </a:rPr>
              <a:t>Decided before run time, on a fixed schedule.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6324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— Offer sweeper — every 10 s (OFFER_SWEEP_SECONDS)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56616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— Client booking poll — 6 s, or 60 s while streaming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6908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— SSE heartbeat — every 25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— Retention purge — 24 h after a sync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965960"/>
            <a:ext cx="5120640" cy="329184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34D399"/>
                </a:solidFill>
                <a:latin typeface="Segoe UI Semibold"/>
              </a:rPr>
              <a:t>DYNAMIC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6032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93A1B5"/>
                </a:solidFill>
                <a:latin typeface="Segoe UI"/>
              </a:rPr>
              <a:t>Decided at run time, from live state.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06324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— Dispatch: pool queried at request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52044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— Score from live distance, rating, workload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977639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— Wave offered; timeout re-schedules to the next wave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43484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— A decline escalates immediately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89204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4F7FB"/>
                </a:solidFill>
                <a:latin typeface="Segoe UI"/>
              </a:rPr>
              <a:t>— Assignment settled under a row lock — exactly 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4068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4F7FB"/>
                </a:solidFill>
                <a:latin typeface="Segoe UI"/>
              </a:rPr>
              <a:t>RoadAssist's dispatch engine IS dynamic scheduling — it is the clearest Module 4 mechanism the project actually implements.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38251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 spc="200">
                <a:solidFill>
                  <a:srgbClr val="5C6B80"/>
                </a:solidFill>
                <a:latin typeface="Segoe UI"/>
              </a:rPr>
              <a:t>ROADASSIST BHARAT · SWE4004 CLOUD COMPUTING AND APPLICATIONS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5C6B80"/>
                </a:solidFill>
                <a:latin typeface="Consolas"/>
              </a:rPr>
              <a:t>23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57199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60">
                <a:solidFill>
                  <a:srgbClr val="22D3EE"/>
                </a:solidFill>
                <a:latin typeface="Segoe UI"/>
              </a:rPr>
              <a:t>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4F7FB"/>
                </a:solidFill>
                <a:latin typeface="Segoe UI Semibold"/>
              </a:rPr>
              <a:t>760 assertions, all executed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16736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93A1B5"/>
                </a:solidFill>
                <a:latin typeface="Segoe UI"/>
              </a:rPr>
              <a:t>Against a real PostgreSQL + PostGIS and a real Chrome. 22 Razorpay stub checks sit outside this total.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10607040" cy="45720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4F7FB"/>
                </a:solidFill>
                <a:latin typeface="Segoe UI Semibold"/>
              </a:rPr>
              <a:t>Unit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1488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1" i="0">
                <a:solidFill>
                  <a:srgbClr val="34D399"/>
                </a:solidFill>
                <a:latin typeface="Segoe UI Semibold"/>
              </a:rPr>
              <a:t>225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2157984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93A1B5"/>
                </a:solidFill>
                <a:latin typeface="Segoe UI"/>
              </a:rPr>
              <a:t>state machines, rules, redaction, SMS coordinates, i18n segment budget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606040"/>
            <a:ext cx="10607040" cy="45720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6974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4F7FB"/>
                </a:solidFill>
                <a:latin typeface="Segoe UI Semibold"/>
              </a:rPr>
              <a:t>End-to-end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69748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1" i="0">
                <a:solidFill>
                  <a:srgbClr val="34D399"/>
                </a:solidFill>
                <a:latin typeface="Segoe UI Semibold"/>
              </a:rPr>
              <a:t>194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706624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93A1B5"/>
                </a:solidFill>
                <a:latin typeface="Segoe UI"/>
              </a:rPr>
              <a:t>the whole API journey against real Postgres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154680"/>
            <a:ext cx="10607040" cy="45720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2461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4F7FB"/>
                </a:solidFill>
                <a:latin typeface="Segoe UI Semibold"/>
              </a:rPr>
              <a:t>Concurrency + real-time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2461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1" i="0">
                <a:solidFill>
                  <a:srgbClr val="34D399"/>
                </a:solidFill>
                <a:latin typeface="Segoe UI Semibold"/>
              </a:rPr>
              <a:t>77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255264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93A1B5"/>
                </a:solidFill>
                <a:latin typeface="Segoe UI"/>
              </a:rPr>
              <a:t>races a sequential suite structurally cannot make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703320"/>
            <a:ext cx="10607040" cy="45720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794759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4F7FB"/>
                </a:solidFill>
                <a:latin typeface="Segoe UI Semibold"/>
              </a:rPr>
              <a:t>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794759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1" i="0">
                <a:solidFill>
                  <a:srgbClr val="34D399"/>
                </a:solidFill>
                <a:latin typeface="Segoe UI Semibold"/>
              </a:rPr>
              <a:t>74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3803904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93A1B5"/>
                </a:solidFill>
                <a:latin typeface="Segoe UI"/>
              </a:rPr>
              <a:t>attacks that must FAIL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251960"/>
            <a:ext cx="10607040" cy="45720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3434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4F7FB"/>
                </a:solidFill>
                <a:latin typeface="Segoe UI Semibold"/>
              </a:rPr>
              <a:t>Gateway 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34340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1" i="0">
                <a:solidFill>
                  <a:srgbClr val="34D399"/>
                </a:solidFill>
                <a:latin typeface="Segoe UI Semibold"/>
              </a:rPr>
              <a:t>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4352544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93A1B5"/>
                </a:solidFill>
                <a:latin typeface="Segoe UI"/>
              </a:rPr>
              <a:t>webhook signatures, append-only rules, OTP ceilings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800600"/>
            <a:ext cx="10607040" cy="45720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48920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4F7FB"/>
                </a:solidFill>
                <a:latin typeface="Segoe UI Semibold"/>
              </a:rPr>
              <a:t>Browser / offline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48920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1" i="0">
                <a:solidFill>
                  <a:srgbClr val="34D399"/>
                </a:solidFill>
                <a:latin typeface="Segoe UI Semibold"/>
              </a:rPr>
              <a:t>163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4901184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93A1B5"/>
                </a:solidFill>
                <a:latin typeface="Segoe UI"/>
              </a:rPr>
              <a:t>what only a browser can prove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943600"/>
            <a:ext cx="10607040" cy="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34D399"/>
                </a:solidFill>
                <a:latin typeface="Segoe UI"/>
              </a:rPr>
              <a:t>760 passed · 0 failed · 0 skipped   •   coverage 95.68% lines on the pure domain modules   •   0 server errors across the sweep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38251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 spc="200">
                <a:solidFill>
                  <a:srgbClr val="5C6B80"/>
                </a:solidFill>
                <a:latin typeface="Segoe UI"/>
              </a:rPr>
              <a:t>ROADASSIST BHARAT · SWE4004 CLOUD COMPUTING AND APPLICATIONS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5C6B80"/>
                </a:solidFill>
                <a:latin typeface="Consolas"/>
              </a:rPr>
              <a:t>24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57199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60">
                <a:solidFill>
                  <a:srgbClr val="22D3EE"/>
                </a:solidFill>
                <a:latin typeface="Segoe UI"/>
              </a:rPr>
              <a:t>FAILURE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4F7FB"/>
                </a:solidFill>
                <a:latin typeface="Segoe UI Semibold"/>
              </a:rPr>
              <a:t>Every failure has an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16736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93A1B5"/>
                </a:solidFill>
                <a:latin typeface="Segoe UI"/>
              </a:rPr>
              <a:t>DETECT → DEGRADE → PRESERVE DATA → RECOVER. Twenty rows in the failure matrix; seven of them 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160">
                <a:solidFill>
                  <a:srgbClr val="22D3EE"/>
                </a:solidFill>
                <a:latin typeface="Segoe UI"/>
              </a:rPr>
              <a:t>FAILURE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0116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160">
                <a:solidFill>
                  <a:srgbClr val="22D3EE"/>
                </a:solidFill>
                <a:latin typeface="Segoe UI"/>
              </a:rPr>
              <a:t>DETECTED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2011680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160">
                <a:solidFill>
                  <a:srgbClr val="22D3EE"/>
                </a:solidFill>
                <a:latin typeface="Segoe UI"/>
              </a:rPr>
              <a:t>USER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20116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 spc="160">
                <a:solidFill>
                  <a:srgbClr val="22D3EE"/>
                </a:solidFill>
                <a:latin typeface="Segoe UI"/>
              </a:rPr>
              <a:t>RECOVERY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377440"/>
            <a:ext cx="10607040" cy="420624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F4F7FB"/>
                </a:solidFill>
                <a:latin typeface="Segoe UI"/>
              </a:rPr>
              <a:t>Network lost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4688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3A1B5"/>
                </a:solidFill>
                <a:latin typeface="Segoe UI"/>
              </a:rPr>
              <a:t>connectivity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246888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3A1B5"/>
                </a:solidFill>
                <a:latin typeface="Segoe UI"/>
              </a:rPr>
              <a:t>off-grid mode; SOS stored locally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246888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34D399"/>
                </a:solidFill>
                <a:latin typeface="Segoe UI"/>
              </a:rPr>
              <a:t>auto on reconnect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880360"/>
            <a:ext cx="10607040" cy="420624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297180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F4F7FB"/>
                </a:solidFill>
                <a:latin typeface="Segoe UI"/>
              </a:rPr>
              <a:t>Backend unreachable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97180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3A1B5"/>
                </a:solidFill>
                <a:latin typeface="Segoe UI"/>
              </a:rPr>
              <a:t>probe fails, radio 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297180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3A1B5"/>
                </a:solidFill>
                <a:latin typeface="Segoe UI"/>
              </a:rPr>
              <a:t>LIMITED, then OFF-GRID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97180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34D399"/>
                </a:solidFill>
                <a:latin typeface="Segoe UI"/>
              </a:rPr>
              <a:t>auto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383280"/>
            <a:ext cx="10607040" cy="420624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347472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F4F7FB"/>
                </a:solidFill>
                <a:latin typeface="Segoe UI"/>
              </a:rPr>
              <a:t>Database down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47472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3A1B5"/>
                </a:solidFill>
                <a:latin typeface="Segoe UI"/>
              </a:rPr>
              <a:t>/health → 503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347472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3A1B5"/>
                </a:solidFill>
                <a:latin typeface="Segoe UI"/>
              </a:rPr>
              <a:t>safe 500 with a request 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347472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34D399"/>
                </a:solidFill>
                <a:latin typeface="Segoe UI"/>
              </a:rPr>
              <a:t>auto, no restart — tested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886200"/>
            <a:ext cx="10607040" cy="420624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3977639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F4F7FB"/>
                </a:solidFill>
                <a:latin typeface="Segoe UI"/>
              </a:rPr>
              <a:t>GPS denied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977639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3A1B5"/>
                </a:solidFill>
                <a:latin typeface="Segoe UI"/>
              </a:rPr>
              <a:t>geolocation error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3560" y="3977639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3A1B5"/>
                </a:solidFill>
                <a:latin typeface="Segoe UI"/>
              </a:rPr>
              <a:t>“Unknown — denied”, never a fake fix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3977639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34D399"/>
                </a:solidFill>
                <a:latin typeface="Segoe UI"/>
              </a:rPr>
              <a:t>next fix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389120"/>
            <a:ext cx="10607040" cy="420624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5840" y="448056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F4F7FB"/>
                </a:solidFill>
                <a:latin typeface="Segoe UI"/>
              </a:rPr>
              <a:t>AI endpoint down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448056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3A1B5"/>
                </a:solidFill>
                <a:latin typeface="Segoe UI"/>
              </a:rPr>
              <a:t>timeout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23560" y="448056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3A1B5"/>
                </a:solidFill>
                <a:latin typeface="Segoe UI"/>
              </a:rPr>
              <a:t>rules engine — nothing visible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448056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34D399"/>
                </a:solidFill>
                <a:latin typeface="Segoe UI"/>
              </a:rPr>
              <a:t>auto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4892040"/>
            <a:ext cx="10607040" cy="420624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5840" y="4983479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F4F7FB"/>
                </a:solidFill>
                <a:latin typeface="Segoe UI"/>
              </a:rPr>
              <a:t>Payment fails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4983479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3A1B5"/>
                </a:solidFill>
                <a:latin typeface="Segoe UI"/>
              </a:rPr>
              <a:t>gateway error / bad signature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23560" y="4983479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3A1B5"/>
                </a:solidFill>
                <a:latin typeface="Segoe UI"/>
              </a:rPr>
              <a:t>invoice stays unpaid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4983479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34D399"/>
                </a:solidFill>
                <a:latin typeface="Segoe UI"/>
              </a:rPr>
              <a:t>customer retries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5394960"/>
            <a:ext cx="10607040" cy="420624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05840" y="548640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F4F7FB"/>
                </a:solidFill>
                <a:latin typeface="Segoe UI"/>
              </a:rPr>
              <a:t>Provider times out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548640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3A1B5"/>
                </a:solidFill>
                <a:latin typeface="Segoe UI"/>
              </a:rPr>
              <a:t>expires_at passes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0" y="548640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93A1B5"/>
                </a:solidFill>
                <a:latin typeface="Segoe UI"/>
              </a:rPr>
              <a:t>sweeper escalates to next wave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5486400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34D399"/>
                </a:solidFill>
                <a:latin typeface="Segoe UI"/>
              </a:rPr>
              <a:t>ladder continues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98932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C6B80"/>
                </a:solidFill>
                <a:latin typeface="Segoe UI"/>
              </a:rPr>
              <a:t>Each row names the suite that proves it. Database loss and backup/restore are now automated CI steps, not prose.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638251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 spc="200">
                <a:solidFill>
                  <a:srgbClr val="5C6B80"/>
                </a:solidFill>
                <a:latin typeface="Segoe UI"/>
              </a:rPr>
              <a:t>ROADASSIST BHARAT · SWE4004 CLOUD COMPUTING AND APPLICATIONS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5C6B80"/>
                </a:solidFill>
                <a:latin typeface="Consolas"/>
              </a:rPr>
              <a:t>25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57199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60">
                <a:solidFill>
                  <a:srgbClr val="22D3EE"/>
                </a:solidFill>
                <a:latin typeface="Segoe UI"/>
              </a:rPr>
              <a:t>IMPLEMENTATION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4F7FB"/>
                </a:solidFill>
                <a:latin typeface="Segoe UI Semibold"/>
              </a:rPr>
              <a:t>What is built, what is partial, what is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16736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93A1B5"/>
                </a:solidFill>
                <a:latin typeface="Segoe UI"/>
              </a:rPr>
              <a:t>Marked from the code, not from intent.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5120640" cy="512064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07568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4F7FB"/>
                </a:solidFill>
                <a:latin typeface="Segoe UI Semibold"/>
              </a:rPr>
              <a:t>AI diagnosis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95144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93A1B5"/>
                </a:solidFill>
                <a:latin typeface="Segoe UI"/>
              </a:rPr>
              <a:t>rules engine + trained YOLO11 for road damage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79" y="2148840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F5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00" b="1">
                <a:solidFill>
                  <a:srgbClr val="F5B14C"/>
                </a:solidFill>
                <a:latin typeface="Segoe UI"/>
              </a:rPr>
              <a:t>PARTIAL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615184"/>
            <a:ext cx="5120640" cy="512064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679192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4F7FB"/>
                </a:solidFill>
                <a:latin typeface="Segoe UI Semibold"/>
              </a:rPr>
              <a:t>SOS — 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98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93A1B5"/>
                </a:solidFill>
                <a:latin typeface="Segoe UI"/>
              </a:rPr>
              <a:t>e2e + concurrency suites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79" y="2752344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00" b="1">
                <a:solidFill>
                  <a:srgbClr val="34D399"/>
                </a:solidFill>
                <a:latin typeface="Segoe UI"/>
              </a:rPr>
              <a:t>IMPLEMENTED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218688"/>
            <a:ext cx="5120640" cy="512064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282696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4F7FB"/>
                </a:solidFill>
                <a:latin typeface="Segoe UI Semibold"/>
              </a:rPr>
              <a:t>SOS — offline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502152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93A1B5"/>
                </a:solidFill>
                <a:latin typeface="Segoe UI"/>
              </a:rPr>
              <a:t>browser suite drives the whole scenario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79" y="3355848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00" b="1">
                <a:solidFill>
                  <a:srgbClr val="34D399"/>
                </a:solidFill>
                <a:latin typeface="Segoe UI"/>
              </a:rPr>
              <a:t>IMPLEMENTED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822191"/>
            <a:ext cx="5120640" cy="512064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88620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4F7FB"/>
                </a:solidFill>
                <a:latin typeface="Segoe UI Semibold"/>
              </a:rPr>
              <a:t>Offline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105655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93A1B5"/>
                </a:solidFill>
                <a:latin typeface="Segoe UI"/>
              </a:rPr>
              <a:t>IndexedDB, AES-GCM-256, survives restart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79" y="3959352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00" b="1">
                <a:solidFill>
                  <a:srgbClr val="34D399"/>
                </a:solidFill>
                <a:latin typeface="Segoe UI"/>
              </a:rPr>
              <a:t>IMPLEMENTED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425696"/>
            <a:ext cx="5120640" cy="512064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489704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4F7FB"/>
                </a:solidFill>
                <a:latin typeface="Segoe UI Semibold"/>
              </a:rPr>
              <a:t>Store-and-forward sync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709159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93A1B5"/>
                </a:solidFill>
                <a:latin typeface="Segoe UI"/>
              </a:rPr>
              <a:t>idempotent; duplicate proven impossible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79" y="4562856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00" b="1">
                <a:solidFill>
                  <a:srgbClr val="34D399"/>
                </a:solidFill>
                <a:latin typeface="Segoe UI"/>
              </a:rPr>
              <a:t>IMPLEMENTED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029200"/>
            <a:ext cx="5120640" cy="512064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509320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4F7FB"/>
                </a:solidFill>
                <a:latin typeface="Segoe UI Semibold"/>
              </a:rPr>
              <a:t>Dispatch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312664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93A1B5"/>
                </a:solidFill>
                <a:latin typeface="Segoe UI"/>
              </a:rPr>
              <a:t>ladder, timeout, busy-exclusion, race-safe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79" y="5166360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00" b="1">
                <a:solidFill>
                  <a:srgbClr val="34D399"/>
                </a:solidFill>
                <a:latin typeface="Segoe UI"/>
              </a:rPr>
              <a:t>IMPLEMENTED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2011680"/>
            <a:ext cx="5120640" cy="512064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5080" y="207568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4F7FB"/>
                </a:solidFill>
                <a:latin typeface="Segoe UI Semibold"/>
              </a:rPr>
              <a:t>Real-time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2295144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93A1B5"/>
                </a:solidFill>
                <a:latin typeface="Segoe UI"/>
              </a:rPr>
              <a:t>SSE, measured 65 ms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49840" y="2148840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00" b="1">
                <a:solidFill>
                  <a:srgbClr val="34D399"/>
                </a:solidFill>
                <a:latin typeface="Segoe UI"/>
              </a:rPr>
              <a:t>IMPLEMENTED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2615184"/>
            <a:ext cx="5120640" cy="512064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55080" y="2679192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4F7FB"/>
                </a:solidFill>
                <a:latin typeface="Segoe UI Semibold"/>
              </a:rPr>
              <a:t>Payment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898648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93A1B5"/>
                </a:solidFill>
                <a:latin typeface="Segoe UI"/>
              </a:rPr>
              <a:t>mock on the demo — never a live account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49840" y="2752344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00" b="1">
                <a:solidFill>
                  <a:srgbClr val="34D399"/>
                </a:solidFill>
                <a:latin typeface="Segoe UI"/>
              </a:rPr>
              <a:t>IMPLEMENTED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72200" y="3218688"/>
            <a:ext cx="5120640" cy="512064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55080" y="3282696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4F7FB"/>
                </a:solidFill>
                <a:latin typeface="Segoe UI Semibold"/>
              </a:rPr>
              <a:t>Fleet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3502152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93A1B5"/>
                </a:solidFill>
                <a:latin typeface="Segoe UI"/>
              </a:rPr>
              <a:t>schema + roles exist; no dedicated UI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149840" y="3355848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F5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00" b="1">
                <a:solidFill>
                  <a:srgbClr val="F5B14C"/>
                </a:solidFill>
                <a:latin typeface="Segoe UI"/>
              </a:rPr>
              <a:t>PARTIAL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72200" y="3822191"/>
            <a:ext cx="5120640" cy="512064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55080" y="388620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4F7FB"/>
                </a:solidFill>
                <a:latin typeface="Segoe UI Semibold"/>
              </a:rPr>
              <a:t>Analytics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4105655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93A1B5"/>
                </a:solidFill>
                <a:latin typeface="Segoe UI"/>
              </a:rPr>
              <a:t>ops overview with live counts; no BI layer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149840" y="3959352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F5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00" b="1">
                <a:solidFill>
                  <a:srgbClr val="F5B14C"/>
                </a:solidFill>
                <a:latin typeface="Segoe UI"/>
              </a:rPr>
              <a:t>PARTIAL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72200" y="4425696"/>
            <a:ext cx="5120640" cy="512064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55080" y="4489704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4F7FB"/>
                </a:solidFill>
                <a:latin typeface="Segoe UI Semibold"/>
              </a:rPr>
              <a:t>Cloud autoscaling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4709159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93A1B5"/>
                </a:solidFill>
                <a:latin typeface="Segoe UI"/>
              </a:rPr>
              <a:t>designed; no cluster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149840" y="4562856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2E7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00" b="1">
                <a:solidFill>
                  <a:srgbClr val="2E7DFF"/>
                </a:solidFill>
                <a:latin typeface="Segoe UI"/>
              </a:rPr>
              <a:t>TARGET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72200" y="5029200"/>
            <a:ext cx="5120640" cy="512064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355080" y="509320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F4F7FB"/>
                </a:solidFill>
                <a:latin typeface="Segoe UI Semibold"/>
              </a:rPr>
              <a:t>Replication / load balancing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5080" y="5312664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93A1B5"/>
                </a:solidFill>
                <a:latin typeface="Segoe UI"/>
              </a:rPr>
              <a:t>stateless API is the precondition, and is met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149840" y="5166360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2E7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800" b="1">
                <a:solidFill>
                  <a:srgbClr val="2E7DFF"/>
                </a:solidFill>
                <a:latin typeface="Segoe UI"/>
              </a:rPr>
              <a:t>TARGET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80644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C6B80"/>
                </a:solidFill>
                <a:latin typeface="Segoe UI"/>
              </a:rPr>
              <a:t>GREEN = code exists, database persists it, UI consumes it, AND a test exercises it.  AMBER = some of that.  BLUE = architecture only.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638251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 spc="200">
                <a:solidFill>
                  <a:srgbClr val="5C6B80"/>
                </a:solidFill>
                <a:latin typeface="Segoe UI"/>
              </a:rPr>
              <a:t>ROADASSIST BHARAT · SWE4004 CLOUD COMPUTING AND APPLICATIONS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5C6B80"/>
                </a:solidFill>
                <a:latin typeface="Consolas"/>
              </a:rPr>
              <a:t>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57199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60">
                <a:solidFill>
                  <a:srgbClr val="22D3EE"/>
                </a:solidFill>
                <a:latin typeface="Segoe UI"/>
              </a:rPr>
              <a:t>STATED BEFORE YOU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4F7FB"/>
                </a:solidFill>
                <a:latin typeface="Segoe UI Semibold"/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16736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93A1B5"/>
                </a:solidFill>
                <a:latin typeface="Segoe UI"/>
              </a:rPr>
              <a:t>In order of importance. Every one of these is also written in the code or the docs.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329184" cy="274320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F5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1">
                <a:solidFill>
                  <a:srgbClr val="F5B14C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020824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4F7FB"/>
                </a:solidFill>
                <a:latin typeface="Segoe UI"/>
              </a:rPr>
              <a:t>The demo is one free-tier instance in Singapore (Render + Neon) — no India region, no cluster.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68880"/>
            <a:ext cx="329184" cy="274320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F5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1">
                <a:solidFill>
                  <a:srgbClr val="F5B14C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478024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4F7FB"/>
                </a:solidFill>
                <a:latin typeface="Segoe UI"/>
              </a:rPr>
              <a:t>Single instance only: SSE registry, rate limiter and offer sweeper are in-process.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26080"/>
            <a:ext cx="329184" cy="274320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F5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1">
                <a:solidFill>
                  <a:srgbClr val="F5B14C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935224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4F7FB"/>
                </a:solidFill>
                <a:latin typeface="Segoe UI"/>
              </a:rPr>
              <a:t>The ERSS 112 handoff is a stub, and the API response says so. Emergency isolation (ADR-0005) is a design, not a deployment.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383280"/>
            <a:ext cx="329184" cy="274320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F5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1">
                <a:solidFill>
                  <a:srgbClr val="F5B14C"/>
                </a:solidFill>
                <a:latin typeface="Segoe U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392424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4F7FB"/>
                </a:solidFill>
                <a:latin typeface="Segoe UI"/>
              </a:rPr>
              <a:t>Payment checks run only against a local stub of Razorpay's API, outside the 760 — never a real account.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40480"/>
            <a:ext cx="329184" cy="274320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F5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1">
                <a:solidFill>
                  <a:srgbClr val="F5B14C"/>
                </a:solidFill>
                <a:latin typeface="Segoe U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849624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4F7FB"/>
                </a:solidFill>
                <a:latin typeface="Segoe UI"/>
              </a:rPr>
              <a:t>The diagnosis “AI” is a deterministic rules engine. Labelled as such everywhere.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97680"/>
            <a:ext cx="329184" cy="274320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F5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1">
                <a:solidFill>
                  <a:srgbClr val="F5B14C"/>
                </a:solidFill>
                <a:latin typeface="Segoe U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306824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4F7FB"/>
                </a:solidFill>
                <a:latin typeface="Segoe UI"/>
              </a:rPr>
              <a:t>No load test, no external penetration test, no coverage on the HTTP layer (suites run out-of-process).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754880"/>
            <a:ext cx="329184" cy="274320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F5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1">
                <a:solidFill>
                  <a:srgbClr val="F5B14C"/>
                </a:solidFill>
                <a:latin typeface="Segoe UI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764024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4F7FB"/>
                </a:solidFill>
                <a:latin typeface="Segoe UI"/>
              </a:rPr>
              <a:t>Device encryption protects a storage dump, not script on the same origin — and the UI says exactly that.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212080"/>
            <a:ext cx="329184" cy="274320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F5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1">
                <a:solidFill>
                  <a:srgbClr val="F5B14C"/>
                </a:solidFill>
                <a:latin typeface="Segoe UI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221224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4F7FB"/>
                </a:solidFill>
                <a:latin typeface="Segoe UI"/>
              </a:rPr>
              <a:t>GPS cold start can take minutes and may never fix indoors. The app shows “Unknown” rather than a guess.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669280"/>
            <a:ext cx="329184" cy="274320"/>
          </a:xfrm>
          <a:prstGeom prst="roundRect">
            <a:avLst>
              <a:gd name="adj" fmla="val 50000"/>
            </a:avLst>
          </a:prstGeom>
          <a:solidFill>
            <a:srgbClr val="131D30"/>
          </a:solidFill>
          <a:ln w="11430">
            <a:solidFill>
              <a:srgbClr val="F5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/>
            <a:r>
              <a:rPr sz="900" b="1">
                <a:solidFill>
                  <a:srgbClr val="F5B14C"/>
                </a:solidFill>
                <a:latin typeface="Segoe UI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678424"/>
            <a:ext cx="10058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4F7FB"/>
                </a:solidFill>
                <a:latin typeface="Segoe UI"/>
              </a:rPr>
              <a:t>No historical volume yet for predictive maintenance — the dead-zone heuristic is labelled heuristic v1.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38251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 spc="200">
                <a:solidFill>
                  <a:srgbClr val="5C6B80"/>
                </a:solidFill>
                <a:latin typeface="Segoe UI"/>
              </a:rPr>
              <a:t>ROADASSIST BHARAT · SWE4004 CLOUD COMPUTING AND APPLICATIONS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5C6B80"/>
                </a:solidFill>
                <a:latin typeface="Consolas"/>
              </a:rPr>
              <a:t>27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57199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60">
                <a:solidFill>
                  <a:srgbClr val="22D3EE"/>
                </a:solidFill>
                <a:latin typeface="Segoe UI"/>
              </a:rPr>
              <a:t>FUTURE — LABELLED AS SUCH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4F7FB"/>
                </a:solidFill>
                <a:latin typeface="Segoe UI Semibold"/>
              </a:rPr>
              <a:t>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11680"/>
            <a:ext cx="3383280" cy="329184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1" y="224028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 spc="160">
                <a:solidFill>
                  <a:srgbClr val="34D399"/>
                </a:solidFill>
                <a:latin typeface="Segoe UI Semibold"/>
              </a:rPr>
              <a:t>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274320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4F7FB"/>
                </a:solidFill>
                <a:latin typeface="Segoe UI"/>
              </a:rPr>
              <a:t>— Redis-backed rate limiting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3255264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4F7FB"/>
                </a:solidFill>
                <a:latin typeface="Segoe UI"/>
              </a:rPr>
              <a:t>— Outbox → event bus for SSE fan-out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3767328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4F7FB"/>
                </a:solidFill>
                <a:latin typeface="Segoe UI"/>
              </a:rPr>
              <a:t>— WAL archiving (RPO under a day)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4279392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4F7FB"/>
                </a:solidFill>
                <a:latin typeface="Segoe UI"/>
              </a:rPr>
              <a:t>— Object storage for photos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11680"/>
            <a:ext cx="3383280" cy="329184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F5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45152" y="224028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 spc="160">
                <a:solidFill>
                  <a:srgbClr val="F5B14C"/>
                </a:solidFill>
                <a:latin typeface="Segoe UI Semibold"/>
              </a:rPr>
              <a:t>THEN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74320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4F7FB"/>
                </a:solidFill>
                <a:latin typeface="Segoe UI"/>
              </a:rPr>
              <a:t>— Multi-region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3255264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4F7FB"/>
                </a:solidFill>
                <a:latin typeface="Segoe UI"/>
              </a:rPr>
              <a:t>— Database read replicas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3767328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4F7FB"/>
                </a:solidFill>
                <a:latin typeface="Segoe UI"/>
              </a:rPr>
              <a:t>— External APM + error reporting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4279392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4F7FB"/>
                </a:solidFill>
                <a:latin typeface="Segoe UI"/>
              </a:rPr>
              <a:t>— Automated backup schedule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2011680"/>
            <a:ext cx="3383280" cy="329184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E7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57031" y="224028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 spc="160">
                <a:solidFill>
                  <a:srgbClr val="2E7DFF"/>
                </a:solidFill>
                <a:latin typeface="Segoe UI Semibold"/>
              </a:rPr>
              <a:t>LATER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2743200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4F7FB"/>
                </a:solidFill>
                <a:latin typeface="Segoe UI"/>
              </a:rPr>
              <a:t>— Predictive maintenance at volume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3255264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4F7FB"/>
                </a:solidFill>
                <a:latin typeface="Segoe UI"/>
              </a:rPr>
              <a:t>— Fleet management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3767328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4F7FB"/>
                </a:solidFill>
                <a:latin typeface="Segoe UI"/>
              </a:rPr>
              <a:t>— Satellite emergency communication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4279392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4F7FB"/>
                </a:solidFill>
                <a:latin typeface="Segoe UI"/>
              </a:rPr>
              <a:t>— Mesh networking between devices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4791456"/>
            <a:ext cx="287121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4F7FB"/>
                </a:solidFill>
                <a:latin typeface="Segoe UI"/>
              </a:rPr>
              <a:t>— Government emergency-network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48640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F5B14C"/>
                </a:solidFill>
                <a:latin typeface="Segoe UI"/>
              </a:rPr>
              <a:t>Satellite, mesh and government-network integration are FUTURE and are labelled that way everywhere in the product — not implemented, not claimed.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38251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 spc="200">
                <a:solidFill>
                  <a:srgbClr val="5C6B80"/>
                </a:solidFill>
                <a:latin typeface="Segoe UI"/>
              </a:rPr>
              <a:t>ROADASSIST BHARAT · SWE4004 CLOUD COMPUTING AND APPLICATIONS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5C6B80"/>
                </a:solidFill>
                <a:latin typeface="Consolas"/>
              </a:rPr>
              <a:t>28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57199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60">
                <a:solidFill>
                  <a:srgbClr val="22D3EE"/>
                </a:solidFill>
                <a:latin typeface="Segoe U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4F7FB"/>
                </a:solidFill>
                <a:latin typeface="Segoe UI Semibold"/>
              </a:rPr>
              <a:t>Where the money would come 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16736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93A1B5"/>
                </a:solidFill>
                <a:latin typeface="Segoe UI"/>
              </a:rPr>
              <a:t>Potential, not current. No commercial operation exists — this is a university project.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2514600" cy="137160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E7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F4F7FB"/>
                </a:solidFill>
                <a:latin typeface="Segoe UI Semibold"/>
              </a:rPr>
              <a:t>B2C</a:t>
            </a:r>
          </a:p>
          <a:p>
            <a:pPr algn="ctr">
              <a:lnSpc>
                <a:spcPct val="110000"/>
              </a:lnSpc>
            </a:pPr>
            <a:r>
              <a:rPr sz="900">
                <a:solidFill>
                  <a:srgbClr val="93A1B5"/>
                </a:solidFill>
                <a:latin typeface="Segoe UI"/>
              </a:rPr>
              <a:t>Subscription for individual drivers; pay-per-incident for non-members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148840"/>
            <a:ext cx="2514600" cy="137160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F4F7FB"/>
                </a:solidFill>
                <a:latin typeface="Segoe UI Semibold"/>
              </a:rPr>
              <a:t>B2B</a:t>
            </a:r>
          </a:p>
          <a:p>
            <a:pPr algn="ctr">
              <a:lnSpc>
                <a:spcPct val="110000"/>
              </a:lnSpc>
            </a:pPr>
            <a:r>
              <a:rPr sz="900">
                <a:solidFill>
                  <a:srgbClr val="93A1B5"/>
                </a:solidFill>
                <a:latin typeface="Segoe UI"/>
              </a:rPr>
              <a:t>Fleet operators — uptime is their cost centre; per-vehicle per-month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148840"/>
            <a:ext cx="2514600" cy="137160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F5B1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F4F7FB"/>
                </a:solidFill>
                <a:latin typeface="Segoe UI Semibold"/>
              </a:rPr>
              <a:t>B2B2C</a:t>
            </a:r>
          </a:p>
          <a:p>
            <a:pPr algn="ctr">
              <a:lnSpc>
                <a:spcPct val="110000"/>
              </a:lnSpc>
            </a:pPr>
            <a:r>
              <a:rPr sz="900">
                <a:solidFill>
                  <a:srgbClr val="93A1B5"/>
                </a:solidFill>
                <a:latin typeface="Segoe UI"/>
              </a:rPr>
              <a:t>Insurers and OEMs bundling roadside cover into an existing policy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2148840"/>
            <a:ext cx="2514600" cy="137160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F4F7FB"/>
                </a:solidFill>
                <a:latin typeface="Segoe UI Semibold"/>
              </a:rPr>
              <a:t>B2G</a:t>
            </a:r>
          </a:p>
          <a:p>
            <a:pPr algn="ctr">
              <a:lnSpc>
                <a:spcPct val="110000"/>
              </a:lnSpc>
            </a:pPr>
            <a:r>
              <a:rPr sz="900">
                <a:solidFill>
                  <a:srgbClr val="93A1B5"/>
                </a:solidFill>
                <a:latin typeface="Segoe UI"/>
              </a:rPr>
              <a:t>Highway authorities — RAKSHA road-health data and incident analytics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40480"/>
            <a:ext cx="10607040" cy="96012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041648"/>
            <a:ext cx="10149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F4F7FB"/>
                </a:solidFill>
                <a:latin typeface="Segoe UI"/>
              </a:rPr>
              <a:t>The unit economics that make it plausible: the platform runs on ZERO paid third-party accounts by default.</a:t>
            </a:r>
          </a:p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F4F7FB"/>
                </a:solidFill>
                <a:latin typeface="Segoe UI"/>
              </a:rPr>
              <a:t>Maps are keyless OpenStreetMap, AI is a local rules engine, and every vendor sits behind an adapter with a working local implementation.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02920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F5B14C"/>
                </a:solidFill>
                <a:latin typeface="Segoe UI"/>
              </a:rPr>
              <a:t>Current status: no revenue, no customers, no commercial deployment. Stated so the model is read as a plan, not a claim.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38251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 spc="200">
                <a:solidFill>
                  <a:srgbClr val="5C6B80"/>
                </a:solidFill>
                <a:latin typeface="Segoe UI"/>
              </a:rPr>
              <a:t>ROADASSIST BHARAT · SWE4004 CLOUD COMPUTING AND APPLICATIONS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5C6B80"/>
                </a:solidFill>
                <a:latin typeface="Consolas"/>
              </a:rPr>
              <a:t>29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d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57199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60">
                <a:solidFill>
                  <a:srgbClr val="22D3EE"/>
                </a:solidFill>
                <a:latin typeface="Segoe UI"/>
              </a:rPr>
              <a:t>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4F7FB"/>
                </a:solidFill>
                <a:latin typeface="Segoe UI Semibold"/>
              </a:rPr>
              <a:t>What a competitor would have to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16736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93A1B5"/>
                </a:solidFill>
                <a:latin typeface="Segoe UI"/>
              </a:rPr>
              <a:t>Not “we are better than X” — we have not benchmarked anyone. This is what is genuinely hard here.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03120"/>
            <a:ext cx="10607040" cy="676656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21284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22D3EE"/>
                </a:solidFill>
                <a:latin typeface="Segoe UI Semibold"/>
              </a:rPr>
              <a:t>Network resilience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194560"/>
            <a:ext cx="7406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4F7FB"/>
                </a:solidFill>
                <a:latin typeface="Segoe UI"/>
              </a:rPr>
              <a:t>An emergency workflow that runs entirely on the device, with an encrypted journal and idempotent forward-sync. This is the moat.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880360"/>
            <a:ext cx="10607040" cy="676656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99008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22D3EE"/>
                </a:solidFill>
                <a:latin typeface="Segoe UI Semibold"/>
              </a:rPr>
              <a:t>Honest degradation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971800"/>
            <a:ext cx="7406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4F7FB"/>
                </a:solidFill>
                <a:latin typeface="Segoe UI"/>
              </a:rPr>
              <a:t>The product never claims something reached the cloud when it did not. That is a design discipline, not a feature you can add later.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657600"/>
            <a:ext cx="10607040" cy="676656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76732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22D3EE"/>
                </a:solidFill>
                <a:latin typeface="Segoe UI Semibold"/>
              </a:rPr>
              <a:t>Race-safe dispatch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749039"/>
            <a:ext cx="7406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4F7FB"/>
                </a:solidFill>
                <a:latin typeface="Segoe UI"/>
              </a:rPr>
              <a:t>Row-locked assignment, wave ladder, timeout escalation, derived provider state — proven with ten simultaneous accepts.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434840"/>
            <a:ext cx="10607040" cy="676656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454456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22D3EE"/>
                </a:solidFill>
                <a:latin typeface="Segoe UI Semibold"/>
              </a:rPr>
              <a:t>Explainable diagnosis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4526279"/>
            <a:ext cx="7406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4F7FB"/>
                </a:solidFill>
                <a:latin typeface="Segoe UI"/>
              </a:rPr>
              <a:t>The same rule table on device and cloud, with a CI test that fails the build if they diverge.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212079"/>
            <a:ext cx="10607040" cy="676656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2700">
            <a:solidFill>
              <a:srgbClr val="1E2C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5321807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22D3EE"/>
                </a:solidFill>
                <a:latin typeface="Segoe UI Semibold"/>
              </a:rPr>
              <a:t>Auditability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5303519"/>
            <a:ext cx="7406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4F7FB"/>
                </a:solidFill>
                <a:latin typeface="Segoe UI"/>
              </a:rPr>
              <a:t>Hash-chained append-only log, verified live in the operations view.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38251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 spc="200">
                <a:solidFill>
                  <a:srgbClr val="5C6B80"/>
                </a:solidFill>
                <a:latin typeface="Segoe UI"/>
              </a:rPr>
              <a:t>ROADASSIST BHARAT · SWE4004 CLOUD COMPUTING AND APPLICATIONS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5C6B80"/>
                </a:solidFill>
                <a:latin typeface="Consolas"/>
              </a:rPr>
              <a:t>30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457199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60">
                <a:solidFill>
                  <a:srgbClr val="22D3EE"/>
                </a:solidFill>
                <a:latin typeface="Segoe UI"/>
              </a:rPr>
              <a:t>THE PART THAT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4F7FB"/>
                </a:solidFill>
                <a:latin typeface="Segoe UI Semibold"/>
              </a:rPr>
              <a:t>Live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 spc="180">
                <a:solidFill>
                  <a:srgbClr val="34D399"/>
                </a:solidFill>
                <a:latin typeface="Segoe UI"/>
              </a:rPr>
              <a:t>PART ONE · THE FULL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4F7FB"/>
                </a:solidFill>
                <a:latin typeface="Segoe UI"/>
              </a:rPr>
              <a:t>1.  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4F7FB"/>
                </a:solidFill>
                <a:latin typeface="Segoe UI"/>
              </a:rPr>
              <a:t>2.  Vehicle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4F7FB"/>
                </a:solidFill>
                <a:latin typeface="Segoe UI"/>
              </a:rPr>
              <a:t>3.  Breakdown + AI diagnosis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4F7FB"/>
                </a:solidFill>
                <a:latin typeface="Segoe UI"/>
              </a:rPr>
              <a:t>4.  Request assistance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4F7FB"/>
                </a:solidFill>
                <a:latin typeface="Segoe UI"/>
              </a:rPr>
              <a:t>5.  Dispatch — ranked offers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4F7FB"/>
                </a:solidFill>
                <a:latin typeface="Segoe UI"/>
              </a:rPr>
              <a:t>6.  Mechanic accepts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4F7FB"/>
                </a:solidFill>
                <a:latin typeface="Segoe UI"/>
              </a:rPr>
              <a:t>7.  Live status, no refresh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377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4F7FB"/>
                </a:solidFill>
                <a:latin typeface="Segoe UI"/>
              </a:rPr>
              <a:t>8.  Service → invoice → payment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4F7FB"/>
                </a:solidFill>
                <a:latin typeface="Segoe UI"/>
              </a:rPr>
              <a:t>9. 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96596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 spc="180">
                <a:solidFill>
                  <a:srgbClr val="FF4D5E"/>
                </a:solidFill>
                <a:latin typeface="Segoe UI"/>
              </a:rPr>
              <a:t>PART TWO · THE ONE NOBODY ELSE HAS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7744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4F7FB"/>
                </a:solidFill>
                <a:latin typeface="Segoe UI"/>
              </a:rPr>
              <a:t>1.  Network OFF — the UI changes immediately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74320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4F7FB"/>
                </a:solidFill>
                <a:latin typeface="Segoe UI"/>
              </a:rPr>
              <a:t>2.  Local diagnosis, labelled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1089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4F7FB"/>
                </a:solidFill>
                <a:latin typeface="Segoe UI"/>
              </a:rPr>
              <a:t>3.  Hold SOS → off-grid incident, real GPS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47472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4F7FB"/>
                </a:solidFill>
                <a:latin typeface="Segoe UI"/>
              </a:rPr>
              <a:t>4.  “Nothing has been transmitted”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84048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5B14C"/>
                </a:solidFill>
                <a:latin typeface="Segoe UI"/>
              </a:rPr>
              <a:t>5.  CLOSE THE TAB. REOPEN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20624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5B14C"/>
                </a:solidFill>
                <a:latin typeface="Segoe UI"/>
              </a:rPr>
              <a:t>6.  The incident is still there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57200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4F7FB"/>
                </a:solidFill>
                <a:latin typeface="Segoe UI"/>
              </a:rPr>
              <a:t>7.  Network ON → automatic sync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9377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4F7FB"/>
                </a:solidFill>
                <a:latin typeface="Segoe UI"/>
              </a:rPr>
              <a:t>8.  “SOS synchronized”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30352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5B14C"/>
                </a:solidFill>
                <a:latin typeface="Segoe UI"/>
              </a:rPr>
              <a:t>9.  Replay the reference → duplicate refused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623560"/>
            <a:ext cx="10607040" cy="68580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9050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5779008"/>
            <a:ext cx="10149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 i="0">
                <a:solidFill>
                  <a:srgbClr val="F4F7FB"/>
                </a:solidFill>
                <a:latin typeface="Segoe UI Semibold"/>
              </a:rPr>
              <a:t>If any step fails, the failure IS the demonstration — nothing here fakes a success.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38251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 spc="200">
                <a:solidFill>
                  <a:srgbClr val="5C6B80"/>
                </a:solidFill>
                <a:latin typeface="Segoe UI"/>
              </a:rPr>
              <a:t>ROADASSIST BHARAT · SWE4004 CLOUD COMPUTING AND APPLICATIONS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38251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 i="0">
                <a:solidFill>
                  <a:srgbClr val="5C6B80"/>
                </a:solidFill>
                <a:latin typeface="Consolas"/>
              </a:rPr>
              <a:t>31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155448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600" b="1" i="0">
                <a:solidFill>
                  <a:srgbClr val="F4F7FB"/>
                </a:solidFill>
                <a:latin typeface="Segoe UI Semibold"/>
              </a:rPr>
              <a:t>RoadAssist Bharat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6888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93A1B5"/>
                </a:solidFill>
                <a:latin typeface="Segoe UI"/>
              </a:rPr>
              <a:t>From breakdown to resolution — even when connectivity fails.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291840"/>
            <a:ext cx="1664208" cy="100584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4F7FB"/>
                </a:solidFill>
                <a:latin typeface="Segoe UI Semibold"/>
              </a:rPr>
              <a:t>AI</a:t>
            </a:r>
          </a:p>
          <a:p>
            <a:pPr algn="ctr">
              <a:lnSpc>
                <a:spcPct val="110000"/>
              </a:lnSpc>
            </a:pPr>
            <a:r>
              <a:rPr sz="800">
                <a:solidFill>
                  <a:srgbClr val="93A1B5"/>
                </a:solidFill>
                <a:latin typeface="Segoe UI"/>
              </a:rPr>
              <a:t>explainable
rules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9464" y="3291840"/>
            <a:ext cx="1664208" cy="100584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4F7FB"/>
                </a:solidFill>
                <a:latin typeface="Segoe UI Semibold"/>
              </a:rPr>
              <a:t>CLOUD</a:t>
            </a:r>
          </a:p>
          <a:p>
            <a:pPr algn="ctr">
              <a:lnSpc>
                <a:spcPct val="110000"/>
              </a:lnSpc>
            </a:pPr>
            <a:r>
              <a:rPr sz="800">
                <a:solidFill>
                  <a:srgbClr val="93A1B5"/>
                </a:solidFill>
                <a:latin typeface="Segoe UI"/>
              </a:rPr>
              <a:t>consumed and
provided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3291840"/>
            <a:ext cx="1664208" cy="100584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4F7FB"/>
                </a:solidFill>
                <a:latin typeface="Segoe UI Semibold"/>
              </a:rPr>
              <a:t>OFFLINE</a:t>
            </a:r>
          </a:p>
          <a:p>
            <a:pPr algn="ctr">
              <a:lnSpc>
                <a:spcPct val="110000"/>
              </a:lnSpc>
            </a:pPr>
            <a:r>
              <a:rPr sz="800">
                <a:solidFill>
                  <a:srgbClr val="93A1B5"/>
                </a:solidFill>
                <a:latin typeface="Segoe UI"/>
              </a:rPr>
              <a:t>the whole emergency
path on-device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3912" y="3291840"/>
            <a:ext cx="1664208" cy="100584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4F7FB"/>
                </a:solidFill>
                <a:latin typeface="Segoe UI Semibold"/>
              </a:rPr>
              <a:t>REAL-TIME</a:t>
            </a:r>
          </a:p>
          <a:p>
            <a:pPr algn="ctr">
              <a:lnSpc>
                <a:spcPct val="110000"/>
              </a:lnSpc>
            </a:pPr>
            <a:r>
              <a:rPr sz="800">
                <a:solidFill>
                  <a:srgbClr val="93A1B5"/>
                </a:solidFill>
                <a:latin typeface="Segoe UI"/>
              </a:rPr>
              <a:t>65 ms, and never
the only path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46136" y="3291840"/>
            <a:ext cx="1664208" cy="100584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4F7FB"/>
                </a:solidFill>
                <a:latin typeface="Segoe UI Semibold"/>
              </a:rPr>
              <a:t>SECURITY</a:t>
            </a:r>
          </a:p>
          <a:p>
            <a:pPr algn="ctr">
              <a:lnSpc>
                <a:spcPct val="110000"/>
              </a:lnSpc>
            </a:pPr>
            <a:r>
              <a:rPr sz="800">
                <a:solidFill>
                  <a:srgbClr val="93A1B5"/>
                </a:solidFill>
                <a:latin typeface="Segoe UI"/>
              </a:rPr>
              <a:t>74 attacks,
all refused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38360" y="3291840"/>
            <a:ext cx="1664208" cy="100584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1">
                <a:solidFill>
                  <a:srgbClr val="F4F7FB"/>
                </a:solidFill>
                <a:latin typeface="Segoe UI Semibold"/>
              </a:rPr>
              <a:t>DISPATCH</a:t>
            </a:r>
          </a:p>
          <a:p>
            <a:pPr algn="ctr">
              <a:lnSpc>
                <a:spcPct val="110000"/>
              </a:lnSpc>
            </a:pPr>
            <a:r>
              <a:rPr sz="800">
                <a:solidFill>
                  <a:srgbClr val="93A1B5"/>
                </a:solidFill>
                <a:latin typeface="Segoe UI"/>
              </a:rPr>
              <a:t>dynamic, race-safe
scheduling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617720"/>
            <a:ext cx="10607040" cy="914400"/>
          </a:xfrm>
          <a:prstGeom prst="roundRect">
            <a:avLst>
              <a:gd name="adj" fmla="val 3500"/>
            </a:avLst>
          </a:prstGeom>
          <a:solidFill>
            <a:srgbClr val="0C1322"/>
          </a:solidFill>
          <a:ln w="22225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828032"/>
            <a:ext cx="10149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 i="0">
                <a:solidFill>
                  <a:srgbClr val="F4F7FB"/>
                </a:solidFill>
                <a:latin typeface="Segoe UI Semibold"/>
              </a:rPr>
              <a:t>“RoadAssist doesn't stop when the network stops.”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76072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5C6B80"/>
                </a:solidFill>
                <a:latin typeface="Segoe UI"/>
              </a:rPr>
              <a:t>760 assertions · 6 suites · 0 failures  •  56 tables · 68 routes · 11 ADRs  •  every claim on these slides is testable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 spc="200">
                <a:solidFill>
                  <a:srgbClr val="5C6B80"/>
                </a:solidFill>
                <a:latin typeface="Segoe UI"/>
              </a:rPr>
              <a:t>ROADASSIST BHARAT · SWE4004 CLOUD COMPUTING AND APPLICATIONS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4639</Words>
  <Application>Microsoft Office PowerPoint</Application>
  <PresentationFormat>Widescreen</PresentationFormat>
  <Paragraphs>731</Paragraphs>
  <Slides>32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Consolas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SAATHWIK'S A15</cp:lastModifiedBy>
  <cp:revision>2</cp:revision>
  <dcterms:created xsi:type="dcterms:W3CDTF">2013-01-27T09:14:16Z</dcterms:created>
  <dcterms:modified xsi:type="dcterms:W3CDTF">2026-09-27T07:33:05Z</dcterms:modified>
  <cp:category/>
</cp:coreProperties>
</file>