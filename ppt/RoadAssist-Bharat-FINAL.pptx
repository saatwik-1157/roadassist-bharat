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328544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Opening. Say the positioning line and the promise, then move on — the</a:t>
            </a:r>
          </a:p>
          <a:p>
            <a:r>
              <a:t>evidence is in the next thirty slides.</a:t>
            </a:r>
          </a:p>
          <a:p>
            <a:endParaRPr/>
          </a:p>
          <a:p>
            <a:r>
              <a:t>The three adjectives are ordered deliberately: AI is the least novel, cloud is</a:t>
            </a:r>
          </a:p>
          <a:p>
            <a:r>
              <a:t>expected, network-resilient is the one nobody else in this cohort will have.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One scenario, no statistics. The audience has all been on a highway</a:t>
            </a:r>
          </a:p>
          <a:p>
            <a:r>
              <a:t>with one bar. The right-hand column is the engineering restatement.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sentence at the bottom is the one that separates a demo from a</a:t>
            </a:r>
          </a:p>
          <a:p>
            <a:r>
              <a:t>product, and it is literally true — the whole journey is driven through the 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Five of these six exist in some form in competing products. The</a:t>
            </a:r>
          </a:p>
          <a:p>
            <a:r>
              <a:t>sixth is the differentiator and the rest of the deck defends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Note what is NOT here: no Kubernetes, no load balancer, no message</a:t>
            </a:r>
          </a:p>
          <a:p>
            <a:r>
              <a:t>broker. They are in the target architecture on slide 25, and I keep the two</a:t>
            </a:r>
          </a:p>
          <a:p>
            <a:r>
              <a:t>diagrams apart on purpose.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Open the live page here if the network allows: it turns by itself, and the</a:t>
            </a:r>
          </a:p>
          <a:p>
            <a:r>
              <a:t>numbers in the side panel are read from the running platform while you talk.</a:t>
            </a:r>
          </a:p>
          <a:p>
            <a:r>
              <a:t>Press play on "SOS with no signal" to walk the offline path layer by layer.</a:t>
            </a:r>
          </a:p>
          <a:p>
            <a:r>
              <a:t>If the network does not allow it, this picture is the same model, rendered in Blender.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Strongest architecture slide. The point: the right column is not a</a:t>
            </a:r>
          </a:p>
          <a:p>
            <a:r>
              <a:t>degraded version of the left, it is a different system that runs on the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If asked 'did you contact emergency services' — no, and the product</a:t>
            </a:r>
          </a:p>
          <a:p>
            <a:r>
              <a:t>says so in those words. That honesty is the feature.</a:t>
            </a:r>
          </a:p>
          <a:p>
            <a:endParaRPr/>
          </a:p>
          <a:p>
            <a:r>
              <a:t>A voice call often connects where data cannot, so the off-grid screen puts a</a:t>
            </a:r>
          </a:p>
          <a:p>
            <a:r>
              <a:t>Call 112 button first, then 1033 (NHAI's national-highway helpline), 108/102</a:t>
            </a:r>
          </a:p>
          <a:p>
            <a:r>
              <a:t>(state ambulance, varies by state), 100 and 101. Text my location fills in the</a:t>
            </a:r>
          </a:p>
          <a:p>
            <a:r>
              <a:t>SOS reference, position and time; the user chooses who gets it. With no GPS fix</a:t>
            </a:r>
          </a:p>
          <a:p>
            <a:r>
              <a:t>the SOS is raised without a position and says "Location unknown", never a</a:t>
            </a:r>
          </a:p>
          <a:p>
            <a:r>
              <a:t>made-up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Do not call the diagnosis engine AI without qualifying it. The</a:t>
            </a:r>
          </a:p>
          <a:p>
            <a:r>
              <a:t>qualification is the credible 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question a stranded driver actually has is "where is the nearest hospital, and</a:t>
            </a:r>
          </a:p>
          <a:p>
            <a:r>
              <a:t>how long will the mechanic take by road". All of it is open data; the design problem is</a:t>
            </a:r>
          </a:p>
          <a:p>
            <a:r>
              <a:t>privacy, because every one of these hosts is outside India.</a:t>
            </a:r>
          </a:p>
          <a:p>
            <a:endParaRPr/>
          </a:p>
          <a:p>
            <a:r>
              <a:t>So the server makes every call, never the browser; positions are rounded to about 110 m</a:t>
            </a:r>
          </a:p>
          <a:p>
            <a:r>
              <a:t>(about 1 km for a nearby search) before they leave; answers are cached and paced to the</a:t>
            </a:r>
          </a:p>
          <a:p>
            <a:r>
              <a:t>providers' terms; and it is off in development, test and CI. ADR-0012 states the tension</a:t>
            </a:r>
          </a:p>
          <a:p>
            <a:r>
              <a:t>with "no PII leaves India" rather than hiding it: acceptable for a demo that already runs</a:t>
            </a:r>
          </a:p>
          <a:p>
            <a:r>
              <a:t>in Singapore, not for production, where self-hosted Nominatim and OSRM in an Indian</a:t>
            </a:r>
          </a:p>
          <a:p>
            <a:r>
              <a:t>region is the answer.</a:t>
            </a:r>
          </a:p>
          <a:p>
            <a:endParaRPr/>
          </a:p>
          <a:p>
            <a:r>
              <a:t>If challenged on testing: the live providers are not covered by any automated suite,</a:t>
            </a:r>
          </a:p>
          <a:p>
            <a:r>
              <a:t>because the routes are off where tests run. Unit tests cover coarsening, the region</a:t>
            </a:r>
          </a:p>
          <a:p>
            <a:r>
              <a:t>check, the cache, the pacer and the parsers; the e2e journey covers auth, the region</a:t>
            </a:r>
          </a:p>
          <a:p>
            <a:r>
              <a:t>refusal and the disabled answer. The figures in the amber strip are one sample lookup.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Before this, each live detection named an RDD2022 frame the server never had, so</a:t>
            </a:r>
          </a:p>
          <a:p>
            <a:r>
              <a:t>every photo request returned 404 and the tile stayed blank.</a:t>
            </a:r>
          </a:p>
          <a:p>
            <a:endParaRPr/>
          </a:p>
          <a:p>
            <a:r>
              <a:t>The honest way to show a frame is to show the model's own output, not a picture with boxes</a:t>
            </a:r>
          </a:p>
          <a:p>
            <a:r>
              <a:t>drawn by hand. render_frames.py runs the same checkpoint the detections came from and keeps</a:t>
            </a:r>
          </a:p>
          <a:p>
            <a:r>
              <a:t>only boxes that match a listed detection by class and confidence. 65 of 65 matched; a wrong</a:t>
            </a:r>
          </a:p>
          <a:p>
            <a:r>
              <a:t>checkpoint would fail the run instead of publishing.</a:t>
            </a:r>
          </a:p>
          <a:p>
            <a:endParaRPr/>
          </a:p>
          <a:p>
            <a:r>
              <a:t>Positions are simulated, and the viewer says so. A false positive can now be dismissed by</a:t>
            </a:r>
          </a:p>
          <a:p>
            <a:r>
              <a:t>an authority with a reason, audited; it can close an incident, never dispatch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Run it from Android Studio 2026.1: device Medium_Phone, then Run 'app'.</a:t>
            </a:r>
          </a:p>
          <a:p>
            <a:r>
              <a:t>The emergency card is the fix from the recheck: before it, an app restarted</a:t>
            </a:r>
          </a:p>
          <a:p>
            <a:r>
              <a:t>mid-emergency had no way to see the emergency, or to say "I'm safe".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September hardening pass was a checklist review. What changed, in the order</a:t>
            </a:r>
          </a:p>
          <a:p>
            <a:r>
              <a:t>worth saying:</a:t>
            </a:r>
          </a:p>
          <a:p>
            <a:endParaRPr/>
          </a:p>
          <a:p>
            <a:r>
              <a:t>Sign-in on the hosted demo echoes the code, so before the fix any number, including a</a:t>
            </a:r>
          </a:p>
          <a:p>
            <a:r>
              <a:t>privileged one, could be signed into. Now only the published demo numbers, never a</a:t>
            </a:r>
          </a:p>
          <a:p>
            <a:r>
              <a:t>privileged role.</a:t>
            </a:r>
          </a:p>
          <a:p>
            <a:endParaRPr/>
          </a:p>
          <a:p>
            <a:r>
              <a:t>The web refresh token left localStorage for an HttpOnly cookie. Refresh reads the</a:t>
            </a:r>
          </a:p>
          <a:p>
            <a:r>
              <a:t>cookie only with a custom header, which a cross-site form cannot send: that is the CSRF</a:t>
            </a:r>
          </a:p>
          <a:p>
            <a:r>
              <a:t>guard. The CSP no longer allows inline scripts; each one is allowed by a SHA-256 hash</a:t>
            </a:r>
          </a:p>
          <a:p>
            <a:r>
              <a:t>computed at boot, and a test fails if a served page has an inline script it does not</a:t>
            </a:r>
          </a:p>
          <a:p>
            <a:r>
              <a:t>cover. Sign-out now happens on the server and revokes the whole family.</a:t>
            </a:r>
          </a:p>
          <a:p>
            <a:endParaRPr/>
          </a:p>
          <a:p>
            <a:r>
              <a:t>The unsigned SMS webhook refuses real numbers, and behind Cloudflare the client address</a:t>
            </a:r>
          </a:p>
          <a:p>
            <a:r>
              <a:t>comes from CF-Connecting-IP rather than X-Forwarded-For, which the caller writes.</a:t>
            </a:r>
          </a:p>
          <a:p>
            <a:endParaRPr/>
          </a:p>
          <a:p>
            <a:r>
              <a:t>If challenged: 106 self-written attacks is not an external penetration test, and the</a:t>
            </a:r>
          </a:p>
          <a:p>
            <a:r>
              <a:t>slide says 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Six bugs, each found, then proved by a test that failed on the old code before the</a:t>
            </a:r>
          </a:p>
          <a:p>
            <a:r>
              <a:t>fix went in. That is the standard for "fixed" on this project.</a:t>
            </a:r>
          </a:p>
          <a:p>
            <a:endParaRPr/>
          </a:p>
          <a:p>
            <a:r>
              <a:t>Dispatch: two dispatches of one booking could both send a wave if the second arrived after</a:t>
            </a:r>
          </a:p>
          <a:p>
            <a:r>
              <a:t>the first's claim but before its offers existed. The concurrency suite (6d) caught it</a:t>
            </a:r>
          </a:p>
          <a:p>
            <a:r>
              <a:t>intermittently as 200, 200, 409. A per-booking try-lock now covers the claim and the wave.</a:t>
            </a:r>
          </a:p>
          <a:p>
            <a:endParaRPr/>
          </a:p>
          <a:p>
            <a:r>
              <a:t>SMS SOS: the most serious in spirit. The record said contacts were alerted and nobody was</a:t>
            </a:r>
          </a:p>
          <a:p>
            <a:r>
              <a:t>texted. It now goes through the confirm path's guards and records how many were sent.</a:t>
            </a:r>
          </a:p>
          <a:p>
            <a:endParaRPr/>
          </a:p>
          <a:p>
            <a:r>
              <a:t>Audit: the verifier re-hashed only the first 2,000 rows (operations view) or 5,000 (audit</a:t>
            </a:r>
          </a:p>
          <a:p>
            <a:r>
              <a:t>endpoint) and still answered "intact". It now verifies the whole chain from a checkpoint</a:t>
            </a:r>
          </a:p>
          <a:p>
            <a:r>
              <a:t>and names the range it checked.</a:t>
            </a:r>
          </a:p>
          <a:p>
            <a:endParaRPr/>
          </a:p>
          <a:p>
            <a:r>
              <a:t>Sign-out race: 8 of 8 racing refreshes kept a working session on the old code. Sign-out</a:t>
            </a:r>
          </a:p>
          <a:p>
            <a:r>
              <a:t>and rotation now serialise on the family's lock.</a:t>
            </a:r>
          </a:p>
          <a:p>
            <a:endParaRPr/>
          </a:p>
          <a:p>
            <a:r>
              <a:t>Break-glass: the response claimed the subject had been notified even when the SMS failed.</a:t>
            </a:r>
          </a:p>
          <a:p>
            <a:r>
              <a:t>It now reports what actually happened.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Read two or three, not all nine. The point is that the list exists and</a:t>
            </a:r>
          </a:p>
          <a:p>
            <a:r>
              <a:t>is specific.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Close on the promise, then stop talking. If there is time, offer to run</a:t>
            </a:r>
          </a:p>
          <a:p>
            <a:r>
              <a:t>the security suite or the concurrency suite live — they take under a minute and</a:t>
            </a:r>
          </a:p>
          <a:p>
            <a:r>
              <a:t>they are the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he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1417320"/>
            <a:ext cx="106070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 spc="300">
                <a:solidFill>
                  <a:srgbClr val="22D3EE"/>
                </a:solidFill>
                <a:latin typeface="Segoe UI"/>
              </a:rPr>
              <a:t>SWE4004 · CLOUD COMPUTING AND APPLICATIONS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74519"/>
            <a:ext cx="1060704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5400" b="1" i="0">
                <a:solidFill>
                  <a:srgbClr val="F4F7FB"/>
                </a:solidFill>
                <a:latin typeface="Segoe UI Semibold"/>
              </a:rPr>
              <a:t>RoadAssist Bharat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97180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0" i="0">
                <a:solidFill>
                  <a:srgbClr val="93A1B5"/>
                </a:solidFill>
                <a:latin typeface="Segoe UI"/>
              </a:rPr>
              <a:t>AI-Powered  ·  Cloud-Connected  ·  Network-Resilient</a:t>
            </a:r>
          </a:p>
          <a:p>
            <a:pPr algn="l">
              <a:lnSpc>
                <a:spcPct val="135000"/>
              </a:lnSpc>
            </a:pPr>
            <a:r>
              <a:rPr sz="1900" b="0" i="0">
                <a:solidFill>
                  <a:srgbClr val="93A1B5"/>
                </a:solidFill>
                <a:latin typeface="Segoe UI"/>
              </a:rPr>
              <a:t>Emergency Mobility Platform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3977639"/>
            <a:ext cx="475488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4114800"/>
            <a:ext cx="4389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F4F7FB"/>
                </a:solidFill>
                <a:latin typeface="Segoe UI Semibold"/>
              </a:rPr>
              <a:t>“RoadAssist doesn't stop when the network stops.”</a:t>
            </a:r>
          </a:p>
        </p:txBody>
      </p:sp>
      <p:pic>
        <p:nvPicPr>
          <p:cNvPr id="8" name="Picture 7" descr="_fit_final_her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520" y="1234440"/>
            <a:ext cx="4937760" cy="25146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446520" y="1234440"/>
            <a:ext cx="4937760" cy="251460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46520" y="3950208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TEAM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3922776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V. Saatwik Sairaam · P. Sai Nirisha Chowdary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4279392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21040" y="4251960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T. V. S. Jignesh · G. Parthavi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4608576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FACULTY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4581144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Dr. Nagendra Panini Challa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49377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INSTITUTION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4910328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VIT-AP University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A breakdown is not a software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…until you realise the app you would use to fix it needs the network you do not have.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1000" b="1">
                <a:solidFill>
                  <a:srgbClr val="F5B14C"/>
                </a:solidFill>
                <a:latin typeface="Segoe UI"/>
              </a:rPr>
              <a:t>21:40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6035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4F7FB"/>
                </a:solidFill>
                <a:latin typeface="Segoe UI"/>
              </a:rPr>
              <a:t>A Swift stops on NH-48. Two hundred kilometres from home, one bar of signal.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807208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1000" b="1">
                <a:solidFill>
                  <a:srgbClr val="F5B14C"/>
                </a:solidFill>
                <a:latin typeface="Segoe UI"/>
              </a:rPr>
              <a:t>21:41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788920"/>
            <a:ext cx="6035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4F7FB"/>
                </a:solidFill>
                <a:latin typeface="Segoe UI"/>
              </a:rPr>
              <a:t>The driver opens a roadside-assistance app. It shows a spinner.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465576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1000" b="1">
                <a:solidFill>
                  <a:srgbClr val="FF4D5E"/>
                </a:solidFill>
                <a:latin typeface="Segoe UI"/>
              </a:rPr>
              <a:t>21:44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3447288"/>
            <a:ext cx="6035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4F7FB"/>
                </a:solidFill>
                <a:latin typeface="Segoe UI"/>
              </a:rPr>
              <a:t>Still a spinner. There is no way to tell whether anything was sent.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123944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1000" b="1">
                <a:solidFill>
                  <a:srgbClr val="FF4D5E"/>
                </a:solidFill>
                <a:latin typeface="Segoe UI"/>
              </a:rPr>
              <a:t>21:52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4105656"/>
            <a:ext cx="6035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4F7FB"/>
                </a:solidFill>
                <a:latin typeface="Segoe UI"/>
              </a:rPr>
              <a:t>They give up and start calling numbers from a sticker on the windscreen.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2057400"/>
            <a:ext cx="3291840" cy="27889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66760" y="2286000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200">
                <a:solidFill>
                  <a:srgbClr val="22D3EE"/>
                </a:solidFill>
                <a:latin typeface="Segoe UI"/>
              </a:rPr>
              <a:t>WHAT ACTUALLY FAILS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2697480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— Coverage is worst exactly where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breakdowns are most dangerous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264408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— No way to know if a request was sent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831336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— No centralised incident record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4398264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— Response time is unmeasured,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so it cannot be improved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CORE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One platform, from incident to resolution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DRIVER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reports a fault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304288" y="3154680"/>
            <a:ext cx="146303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468880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ROADASSIST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one platform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114800" y="3154680"/>
            <a:ext cx="146304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279392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AI + INCIDENT
INTELLIGENCE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cause · severity
· capability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925312" y="3154680"/>
            <a:ext cx="146304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089904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DISPATCH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rank · offer
· escalate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735824" y="3154680"/>
            <a:ext cx="146304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900416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MECHANIC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accepts, drives,
fixes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546336" y="3154680"/>
            <a:ext cx="146304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710928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RESOLUTION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invoice · payment
· review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343400"/>
            <a:ext cx="10607040" cy="7315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05840" y="4526280"/>
            <a:ext cx="10149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F4F7FB"/>
                </a:solidFill>
                <a:latin typeface="Segoe UI Semibold"/>
              </a:rPr>
              <a:t>Every step is real application state. No manual database editing anywhere in the normal workflow.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WHY ROADASSIST IS DIFFERENT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Six things, and one that matters most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574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AI-ASSISTED
DIAGNOSIS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Rules engine, explainable,
same table on device and cloud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0574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DYNAMIC
DISPATCH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Ranked, wave-based,
busy providers excluded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0574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REAL-TIME
TRACKING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Server-sent events,
measured at 65 ms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4290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SECURE
PAYMENTS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Server-side amount,
signature-verified webhook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34290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INCIDENT
INTELLIGENCE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Severity, capability,
tamper-evident audit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34290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OFFLINE-FIRST
EMERGENCY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SOS with no network,
stored and forwarded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956048"/>
            <a:ext cx="10607040" cy="84124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05840" y="5138928"/>
            <a:ext cx="10149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4F7FB"/>
                </a:solidFill>
                <a:latin typeface="Segoe UI Semibold"/>
              </a:rPr>
              <a:t>“RoadAssist doesn't stop when the network stops.”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WHAT ACTUALLY RUNS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One container, one PostGIS database — live on Render + Neon in Singapore. Everything external is behind an adapter.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874519"/>
            <a:ext cx="310896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CUSTOMER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PWA · Android WebView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468880" y="2551176"/>
            <a:ext cx="0" cy="265176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343400" y="1874519"/>
            <a:ext cx="310896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MECHANIC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console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897880" y="2551176"/>
            <a:ext cx="0" cy="265176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772400" y="1874519"/>
            <a:ext cx="310896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AUTHORITY / FLEET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RAKSHA dashboard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326880" y="2551176"/>
            <a:ext cx="0" cy="265176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14400" y="2834640"/>
            <a:ext cx="1051560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50" b="1">
                <a:solidFill>
                  <a:srgbClr val="F4F7FB"/>
                </a:solidFill>
                <a:latin typeface="Segoe UI Semibold"/>
              </a:rPr>
              <a:t>WEB / PWA  ·  service worker, IndexedDB, connectivity manager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172200" y="3419856"/>
            <a:ext cx="0" cy="23774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14400" y="3694176"/>
            <a:ext cx="1051560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50" b="1">
                <a:solidFill>
                  <a:srgbClr val="F4F7FB"/>
                </a:solidFill>
                <a:latin typeface="Segoe UI Semibold"/>
              </a:rPr>
              <a:t>FASTIFY API  ·  74 routes, 71 under /v1  ·  zod validation  ·  SSE stream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172200" y="4279392"/>
            <a:ext cx="0" cy="23774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14400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AUTH + RBAC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OTP · JWT · rotation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35808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DISPATCH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PostGIS KNN · ladder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57216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EMERGENCY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SOS state machine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78623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OFFLINE SYNC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journal · conflicts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00032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PAYMENTS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order · webhook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172200" y="5276088"/>
            <a:ext cx="0" cy="219456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3291840" y="5532120"/>
            <a:ext cx="576072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50" b="1">
                <a:solidFill>
                  <a:srgbClr val="F4F7FB"/>
                </a:solidFill>
                <a:latin typeface="Segoe UI Semibold"/>
              </a:rPr>
              <a:t>PostgreSQL 16 + PostGIS  ·  58 tables  ·  63 FKs  ·  5 GiST indexes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NEW · MODELLED IN BLENDER · DRAWN WITH THREE.JS · FED BY THE RUNNING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Every layer, live in 3D</a:t>
            </a:r>
          </a:p>
        </p:txBody>
      </p:sp>
      <p:pic>
        <p:nvPicPr>
          <p:cNvPr id="5" name="Picture 4" descr="_fit_layers_rend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874519"/>
            <a:ext cx="6035040" cy="37719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77240" y="1874519"/>
            <a:ext cx="6035040" cy="377190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132320" y="1874519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2286000"/>
            <a:ext cx="42976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Modelled in Blender 5.2 by a script: 7 layers, 31 parts, each a model of what it stands for; Draco-compressed to 595 KB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2834640"/>
            <a:ext cx="42976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Drawn in the browser with three.js: bloom, reflections, turn it any way, zoom, arrow keys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3383280"/>
            <a:ext cx="42976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Live every 8 s: API round trip, database latency, detections and corridor health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3931920"/>
            <a:ext cx="42976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Three journeys, step by step: a booking, an SOS with no signal, RAKSHA finding a pothole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4480560"/>
            <a:ext cx="42976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Embedded on the project site, the app home and the showcase; opens inside the Android app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5029200"/>
            <a:ext cx="42976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Honest labels: the moving packets are illustration; detection positions are simulated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806440"/>
            <a:ext cx="6035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"/>
              </a:rPr>
              <a:t>app.roadassistbharat.online/layers.html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NETWORK-RESILIENT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Two paths, and the second one is the product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28800"/>
            <a:ext cx="5029200" cy="37947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201168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40">
                <a:solidFill>
                  <a:srgbClr val="34D399"/>
                </a:solidFill>
                <a:latin typeface="Segoe UI"/>
              </a:rPr>
              <a:t>ONLINE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34440" y="2395728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USER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291840" y="2926080"/>
            <a:ext cx="0" cy="256032"/>
          </a:xfrm>
          <a:prstGeom prst="line">
            <a:avLst/>
          </a:prstGeom>
          <a:ln w="17780">
            <a:solidFill>
              <a:srgbClr val="34D39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1234440" y="3182112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ROADASSIST CLIENT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291840" y="3712464"/>
            <a:ext cx="0" cy="256032"/>
          </a:xfrm>
          <a:prstGeom prst="line">
            <a:avLst/>
          </a:prstGeom>
          <a:ln w="17780">
            <a:solidFill>
              <a:srgbClr val="34D39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1234440" y="3968496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CLOUD API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291840" y="4498848"/>
            <a:ext cx="0" cy="256032"/>
          </a:xfrm>
          <a:prstGeom prst="line">
            <a:avLst/>
          </a:prstGeom>
          <a:ln w="17780">
            <a:solidFill>
              <a:srgbClr val="34D39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1234440" y="4754880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AI · DISPATCH · DATABASE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1828800"/>
            <a:ext cx="5029200" cy="37947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83680" y="201168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40">
                <a:solidFill>
                  <a:srgbClr val="FF4D5E"/>
                </a:solidFill>
                <a:latin typeface="Segoe UI"/>
              </a:rPr>
              <a:t>OFF-GRID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12280" y="2395728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CONNECTIVITY MANAGER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869680" y="2926080"/>
            <a:ext cx="0" cy="256032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812280" y="3182112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LOCAL EMERGENCY ENGINE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869680" y="3712464"/>
            <a:ext cx="0" cy="256032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812280" y="3968496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ENCRYPTED SYNC JOURNAL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869680" y="4498848"/>
            <a:ext cx="0" cy="256032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812280" y="4754880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NETWORK RETURNS → CLOUD SYNC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806440"/>
            <a:ext cx="10607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93A1B5"/>
                </a:solidFill>
                <a:latin typeface="Segoe UI"/>
              </a:rPr>
              <a:t>The connectivity manager decides which path runs — ONLINE, LIMITED or OFF-GRID — from measured evidence, never from navigator.onLine alone.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07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EMERGENCY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Off-grid 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No internet does not mean the emergency workflow disappears. It means it runs here instead.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57400"/>
            <a:ext cx="1828800" cy="5486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SOS HELD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670048" y="2331720"/>
            <a:ext cx="25603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944368" y="2057400"/>
            <a:ext cx="2103120" cy="5486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CONNECTIVITY
CHECK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5065776" y="1874519"/>
            <a:ext cx="329184" cy="338329"/>
          </a:xfrm>
          <a:prstGeom prst="line">
            <a:avLst/>
          </a:prstGeom>
          <a:ln w="17780">
            <a:solidFill>
              <a:srgbClr val="34D39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065776" y="2450592"/>
            <a:ext cx="329184" cy="612648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440680" y="1627632"/>
            <a:ext cx="2377440" cy="5029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ONLINE → SERVER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40680" y="2834640"/>
            <a:ext cx="2377440" cy="5029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NO → LOCAL SOS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40680" y="352044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GPS IF AVAILABLE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629400" y="3922776"/>
            <a:ext cx="0" cy="10058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440680" y="402336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ENCRYPTED LOCAL STORAGE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629400" y="4425696"/>
            <a:ext cx="0" cy="10058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440680" y="452628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SYNC JOURNAL (op id + digest)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629400" y="4928616"/>
            <a:ext cx="0" cy="10058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440680" y="502920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NETWORK RESTORED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629400" y="5431536"/>
            <a:ext cx="0" cy="10058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440680" y="553212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SERVER SYNC — idempotent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0" y="1627632"/>
            <a:ext cx="3154680" cy="40233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458200" y="182880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F4D5E"/>
                </a:solidFill>
                <a:latin typeface="Segoe UI"/>
              </a:rPr>
              <a:t>WHAT THE USER IS TOLD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58200" y="2212848"/>
            <a:ext cx="2743200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OFF-GRID SOS CREATED</a:t>
            </a:r>
          </a:p>
          <a:p>
            <a:pPr algn="l">
              <a:lnSpc>
                <a:spcPct val="135000"/>
              </a:lnSpc>
            </a:pPr>
            <a:endParaRPr sz="100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No network connection detected.</a:t>
            </a:r>
          </a:p>
          <a:p>
            <a:pPr algn="l">
              <a:lnSpc>
                <a:spcPct val="135000"/>
              </a:lnSpc>
            </a:pPr>
            <a:endParaRPr sz="100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Your emergency information is stored securely on this device and will be synchronized automatically when connectivity returns.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458200" y="4069080"/>
            <a:ext cx="2743200" cy="1463040"/>
          </a:xfrm>
          <a:prstGeom prst="roundRect">
            <a:avLst>
              <a:gd name="adj" fmla="val 3500"/>
            </a:avLst>
          </a:prstGeom>
          <a:solidFill>
            <a:srgbClr val="131D30"/>
          </a:solidFill>
          <a:ln w="1270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641080" y="4187952"/>
            <a:ext cx="237744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F5B14C"/>
                </a:solidFill>
                <a:latin typeface="Segoe UI"/>
              </a:rPr>
              <a:t>“Nothing has been transmitted.”</a:t>
            </a:r>
          </a:p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F5B14C"/>
                </a:solidFill>
                <a:latin typeface="Segoe UI"/>
              </a:rPr>
              <a:t>We never claim emergency services were contacted; the ERSS 112 handoff is a stub. One tap dials 112, 1033 (NHAI) or 108. Text my location opens the SMS app; the user presses Send.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08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AI DIAGNOSIS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Diagnosis: rules first, model optional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SYMPTOMS
+ OBD CODES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free text and
scanned codes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07208" y="2633472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953512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VALIDATION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zod schema,
length + type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983479" y="2633472"/>
            <a:ext cx="128017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129783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RULES ENGINE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9 rules, keyword
+ DTC scoring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159752" y="2633472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7306055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REMOTE MODEL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optional, only if
configured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336024" y="2633472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482328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RESULT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cause · confidence
severity · action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429000"/>
            <a:ext cx="5166360" cy="2286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3611880"/>
            <a:ext cx="4709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5B14C"/>
                </a:solidFill>
                <a:latin typeface="Segoe UI"/>
              </a:rPr>
              <a:t>THE SAFETY ASYMMETRY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977639"/>
            <a:ext cx="470916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A model may make a drivability verdict STRICTER. It can never make one laxer.</a:t>
            </a:r>
          </a:p>
          <a:p>
            <a:pPr algn="l">
              <a:lnSpc>
                <a:spcPct val="140000"/>
              </a:lnSpc>
            </a:pPr>
            <a:endParaRPr sz="110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rules result is always computed. A remote answer is used only if it clears AI_MIN_CONFIDENCE and does not contradict the rules on safety.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3429000"/>
            <a:ext cx="5120640" cy="2286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92240" y="3611880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F4D5E"/>
                </a:solidFill>
                <a:latin typeface="Segoe UI"/>
              </a:rPr>
              <a:t>STATED PLAINLY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977639"/>
            <a:ext cx="466344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This is a deterministic rules engine, not machine learning. The UI labels it “rules-1.0.0”, and “LOCAL OFFLINE DIAGNOSIS” on the device.</a:t>
            </a:r>
          </a:p>
          <a:p>
            <a:pPr algn="l">
              <a:lnSpc>
                <a:spcPct val="140000"/>
              </a:lnSpc>
            </a:pPr>
            <a:endParaRPr sz="110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Trained models DO exist — YOLO11 for road damage: best run YOLO11s, mAP50 0.472; RAKSHA's demo detections come from a YOLO11n, mAP50 0.443. Both measured.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EXPLAINABLE, NOT OPAQUE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Incident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Every field below is derived from a rule you can read, not from a weighting nobody can inspect.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INCIDENT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raised by user
or by signal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807208" y="2715768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953512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CLASSIFICATION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breakdown · accident
medical · unsafe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983479" y="2715768"/>
            <a:ext cx="128017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129783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SEVERITY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1–5, from the
rule that matched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59752" y="2715768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306055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REQUIRED
CAPABILITY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service type
pre-selected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336024" y="2715768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482328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DISPATCH
PRIORITY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CRITICAL for accident
and medical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EXPLAINABLE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479" y="37673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“Battery discharged or terminals loose” — because these keywords matched, at this confidence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361688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AUDITABLE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79" y="4334256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Every prediction writes a model_predictions row: capability, version, confidence, latency, input HASH (never the text)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928616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HONEST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97479" y="4901184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Below 55% confidence the UI says so: “At 42% this is a suggestion, not a finding”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495544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NEVER FABRICATED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79" y="5468112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No ETA unless a provider is travelling. No location unless GPS returned one.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SMART DISPATCH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Dispatch is dynamic scheduling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Work assigned at run time from a pool, by a score computed from live state, with timeout-driven re-scheduling.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AVAILABLE
PROVIDERS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PostGIS ST_DWithin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139696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231136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FILTER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off duty · already
committed · already asked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712463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803904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DISTANCE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KNN, true metres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285231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376672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SCORE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proximity 60%
rating 34%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0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949440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EXPLORATION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+6% under 20 jobs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430767" y="2651760"/>
            <a:ext cx="73153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522208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OFFER WAVE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N best, live push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0003536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10094976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ASSIGN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row-locked,
exactly one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3520440"/>
            <a:ext cx="5166360" cy="2194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05840" y="3703320"/>
            <a:ext cx="4709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F4D5E"/>
                </a:solidFill>
                <a:latin typeface="Segoe UI"/>
              </a:rPr>
              <a:t>THE BUG THIS AUDIT FOUND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069080"/>
            <a:ext cx="470916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Dispatch filtered on is_available alone — a duty toggle meaning “I am working today”, not “I am free now”. A mechanic already driving to one breakdown kept receiving offers for the next.</a:t>
            </a:r>
          </a:p>
          <a:p>
            <a:pPr algn="l">
              <a:lnSpc>
                <a:spcPct val="135000"/>
              </a:lnSpc>
            </a:pPr>
            <a:endParaRPr sz="105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Fixed: provider state is DERIVED from live data.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3520440"/>
            <a:ext cx="5120640" cy="2194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92240" y="3703320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22D3EE"/>
                </a:solidFill>
                <a:latin typeface="Segoe UI"/>
              </a:rPr>
              <a:t>PROVIDER STATES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06908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5C6B80"/>
                </a:solidFill>
                <a:latin typeface="Segoe UI"/>
              </a:rPr>
              <a:t>OFFLINE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0" y="406908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off duty — never offered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4453128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34D399"/>
                </a:solidFill>
                <a:latin typeface="Segoe UI"/>
              </a:rPr>
              <a:t>AVAILABLE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0" y="4453128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free — offerable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4837176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5B14C"/>
                </a:solidFill>
                <a:latin typeface="Segoe UI"/>
              </a:rPr>
              <a:t>OFFERED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9680" y="4837176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holding an offer — still offerable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5221224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F4D5E"/>
                </a:solidFill>
                <a:latin typeface="Segoe UI"/>
              </a:rPr>
              <a:t>BUSY / EN_ROUTE / ON_JOB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9680" y="5221224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committed — never offered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INCIDENT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Two guarded state machines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A client sends a command; only the transition table decides whether it is legal. Every change writes a timestamped event row.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 spc="160">
                <a:solidFill>
                  <a:srgbClr val="22D3EE"/>
                </a:solidFill>
                <a:latin typeface="Segoe UI"/>
              </a:rPr>
              <a:t>BOOKING — 13 states, 15 commands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331720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REQUESTED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65960" y="2660904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822960" y="2761487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MATCHING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965960" y="3090672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822960" y="3191256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ASSIGNED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965960" y="3520440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22960" y="3621024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EN_ROUTE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65960" y="3950208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22960" y="4050791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ON_SITE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965960" y="4379976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22960" y="4480559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IN_PROGRESS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965960" y="4809744"/>
            <a:ext cx="0" cy="91439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22960" y="4910327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COMPLETED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965960" y="5239512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822960" y="5340096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PAID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94760" y="196596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 spc="160">
                <a:solidFill>
                  <a:srgbClr val="FF4D5E"/>
                </a:solidFill>
                <a:latin typeface="Segoe UI"/>
              </a:rPr>
              <a:t>EMERGENCY — ADR-0005 in code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794760" y="2331720"/>
            <a:ext cx="329184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SOS_CREATED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DETECTED / AWAITING_CONFIRMATION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440680" y="2990088"/>
            <a:ext cx="0" cy="182880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3794760" y="3200400"/>
            <a:ext cx="329184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SOS_RECEIVED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CONFIRMED — a human stands behind it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440680" y="3858768"/>
            <a:ext cx="0" cy="182880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3794760" y="4069079"/>
            <a:ext cx="329184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RESPONDING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contacts alerted, responder searched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440680" y="4727448"/>
            <a:ext cx="0" cy="182880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3794760" y="4937759"/>
            <a:ext cx="329184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RESOLVED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closed — terminal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635240" y="2286000"/>
            <a:ext cx="3749039" cy="3383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863840" y="2487168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60">
                <a:solidFill>
                  <a:srgbClr val="F5B14C"/>
                </a:solidFill>
                <a:latin typeface="Segoe UI"/>
              </a:rPr>
              <a:t>THE RULE THAT IS ENFORCED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2852928"/>
            <a:ext cx="3291840" cy="2560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A model raises a SIGNAL. A human confirms an INCIDENT.</a:t>
            </a:r>
          </a:p>
          <a:p>
            <a:pPr algn="l">
              <a:lnSpc>
                <a:spcPct val="140000"/>
              </a:lnSpc>
            </a:pPr>
            <a:endParaRPr sz="105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“escalate” is reachable only from CONFIRMED. There is no path from a model-detected crash to a dispatched responder that does not pass through a person.</a:t>
            </a:r>
          </a:p>
          <a:p>
            <a:pPr algn="l">
              <a:lnSpc>
                <a:spcPct val="140000"/>
              </a:lnSpc>
            </a:pPr>
            <a:endParaRPr sz="105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That is one line in a transition table, and it is unit-tested.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LIVE UPDATES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Real-time, but never the source of truth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Server-sent events over one long-lived GET. Persist first, publish second — always.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" y="2103120"/>
            <a:ext cx="2468880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MECHANIC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taps “En route”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493008" y="2606040"/>
            <a:ext cx="219455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749039" y="2103120"/>
            <a:ext cx="2468880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BACKEND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guarded UPDATE
commits first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236208" y="2606040"/>
            <a:ext cx="21945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492240" y="2103120"/>
            <a:ext cx="2468880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SSE PUBLISH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to customer
and mechanic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979408" y="2606040"/>
            <a:ext cx="219455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235440" y="2103120"/>
            <a:ext cx="2468880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CUSTOMER UI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refetches the
authoritative state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429000"/>
            <a:ext cx="5166360" cy="2286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05840" y="3611880"/>
            <a:ext cx="4709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34D399"/>
                </a:solidFill>
                <a:latin typeface="Segoe UI"/>
              </a:rPr>
              <a:t>MEASURED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0233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DELIVERY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0360" y="3995928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65 ms, against a 6-second poll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44805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POLL WHILE LIVE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4453128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60 s customer · 45 s mechanic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49377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RECONNECT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80360" y="4910328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jittered backoff, automatic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3429000"/>
            <a:ext cx="5120640" cy="2286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92240" y="3611880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5B14C"/>
                </a:solidFill>
                <a:latin typeface="Segoe UI"/>
              </a:rPr>
              <a:t>WHEN THE STREAM DROPS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977639"/>
            <a:ext cx="466344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The badge flips Live → Polling and the poll returns to its old cadence.</a:t>
            </a:r>
          </a:p>
          <a:p>
            <a:pPr algn="l">
              <a:lnSpc>
                <a:spcPct val="135000"/>
              </a:lnSpc>
            </a:pPr>
            <a:endParaRPr sz="105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Delivery is at-most-once and in-process. That is acceptable ONLY because the stream is never the only path — booking state is server-authoritative and the client refetches on reconnect.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REAL SCREENSHOTS · CAPTURED FROM THE RUNNING 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Customer application</a:t>
            </a:r>
          </a:p>
        </p:txBody>
      </p:sp>
      <p:pic>
        <p:nvPicPr>
          <p:cNvPr id="5" name="Picture 4" descr="_fit_02-h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965960"/>
            <a:ext cx="2103120" cy="35661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8368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8368" y="5614416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Home · SOS + readiness</a:t>
            </a:r>
          </a:p>
        </p:txBody>
      </p:sp>
      <p:pic>
        <p:nvPicPr>
          <p:cNvPr id="8" name="Picture 7" descr="_fit_03-vehic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62656" y="1965960"/>
            <a:ext cx="2103120" cy="35661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2962656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962656" y="5614416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Vehicle</a:t>
            </a:r>
          </a:p>
        </p:txBody>
      </p:sp>
      <p:pic>
        <p:nvPicPr>
          <p:cNvPr id="11" name="Picture 10" descr="_fit_04-ai-diagnosi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66944" y="1965960"/>
            <a:ext cx="2103120" cy="356616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266944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266944" y="5614416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Diagnosis</a:t>
            </a:r>
          </a:p>
        </p:txBody>
      </p:sp>
      <p:pic>
        <p:nvPicPr>
          <p:cNvPr id="14" name="Picture 13" descr="_fit_05-dispatc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71232" y="1965960"/>
            <a:ext cx="2103120" cy="356616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7571232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571232" y="5614416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Dispatch</a:t>
            </a:r>
          </a:p>
        </p:txBody>
      </p:sp>
      <p:pic>
        <p:nvPicPr>
          <p:cNvPr id="17" name="Picture 16" descr="_fit_12-activit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75520" y="1965960"/>
            <a:ext cx="2103120" cy="3566160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9875520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875520" y="5614416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Activity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961888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5C6B80"/>
                </a:solidFill>
                <a:latin typeface="Segoe UI"/>
              </a:rPr>
              <a:t>Captured by scripts/capture-screens.mjs against the live API — regenerable in ninety seconds, so they cannot drift from the product.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OTHER TWO SURFACES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Mechanic console and authority dashboard</a:t>
            </a:r>
          </a:p>
        </p:txBody>
      </p:sp>
      <p:pic>
        <p:nvPicPr>
          <p:cNvPr id="5" name="Picture 4" descr="_fit_13-mechanic-log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965960"/>
            <a:ext cx="5120640" cy="32918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77240" y="1965960"/>
            <a:ext cx="5120640" cy="329184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5340096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Mechanic console · dispatch inbox, live badge, job lifecycle</a:t>
            </a:r>
          </a:p>
        </p:txBody>
      </p:sp>
      <p:pic>
        <p:nvPicPr>
          <p:cNvPr id="8" name="Picture 7" descr="_fit_14-authori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1965960"/>
            <a:ext cx="5120640" cy="32918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63640" y="1965960"/>
            <a:ext cx="5120640" cy="329184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63640" y="5340096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RAKSHA authority · live map, road health, detection triage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486400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00" b="0" i="0">
                <a:solidFill>
                  <a:srgbClr val="93A1B5"/>
                </a:solidFill>
                <a:latin typeface="Segoe UI"/>
              </a:rPr>
              <a:t>Mechanic: availability · incoming request · accept · decline · en route · arrived · in service · complete — every transition persisted and pushed to the customer.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OPENSTREETMAP · OSRM · OPEN-METEO · USGS · ADR-0012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Location services from open data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082735" y="493775"/>
            <a:ext cx="2331720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pic>
        <p:nvPicPr>
          <p:cNvPr id="6" name="Picture 5" descr="_fit_android_ne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874519"/>
            <a:ext cx="3657600" cy="270662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1874519"/>
            <a:ext cx="3657600" cy="2706624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464515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Android · the Near you card on the emulator, real OpenStreetMap data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1874519"/>
            <a:ext cx="3291840" cy="290779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846320" y="2011680"/>
            <a:ext cx="29260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22D3EE"/>
                </a:solidFill>
                <a:latin typeface="Segoe UI"/>
              </a:rPr>
              <a:t>WHAT IT ANSWERS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2304288"/>
            <a:ext cx="29260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 spc="120">
                <a:solidFill>
                  <a:srgbClr val="93A1B5"/>
                </a:solidFill>
                <a:latin typeface="Segoe UI"/>
              </a:rPr>
              <a:t>NEAR YOU · WEB AND ANDROID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2523744"/>
            <a:ext cx="2971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Nearest address; the nearest hospital, police, fuel, EV charger and repair shop. Call only where the map has a number, and call 112 under every result.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3172968"/>
            <a:ext cx="29260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 spc="120">
                <a:solidFill>
                  <a:srgbClr val="93A1B5"/>
                </a:solidFill>
                <a:latin typeface="Segoe UI"/>
              </a:rPr>
              <a:t>TRACKING CARD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3392424"/>
            <a:ext cx="2971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Road distance and time beside the straight-line figure, labelled as no live traffic.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3840480"/>
            <a:ext cx="29260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 spc="120">
                <a:solidFill>
                  <a:srgbClr val="93A1B5"/>
                </a:solidFill>
                <a:latin typeface="Segoe UI"/>
              </a:rPr>
              <a:t>RAKSHA CORRIDOR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4059936"/>
            <a:ext cx="2971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Lowest visibility, US AQI at both ends (smog flagged above 150), magnitude 4+ earthquakes in the last 7 days.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1874519"/>
            <a:ext cx="3291840" cy="290779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75320" y="2011680"/>
            <a:ext cx="29260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34D399"/>
                </a:solidFill>
                <a:latin typeface="Segoe UI"/>
              </a:rPr>
              <a:t>PRIVACY, BY DESIGN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2331720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4F7FB"/>
                </a:solidFill>
                <a:latin typeface="Segoe UI"/>
              </a:rPr>
              <a:t>— Server-side only: the page calls this platform, so no visitor's IP reaches a provider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2807208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4F7FB"/>
                </a:solidFill>
                <a:latin typeface="Segoe UI"/>
              </a:rPr>
              <a:t>— Coarsened first: about 110 m for an address or route, about 1 km for a search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3282696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4F7FB"/>
                </a:solidFill>
                <a:latin typeface="Segoe UI"/>
              </a:rPr>
              <a:t>— Cached (10 min to 24 h) and paced to about one request a second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20" y="3758183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4F7FB"/>
                </a:solidFill>
                <a:latin typeface="Segoe UI"/>
              </a:rPr>
              <a:t>— Off in development, test and CI: no test run calls a donated service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4233672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4F7FB"/>
                </a:solidFill>
                <a:latin typeface="Segoe UI"/>
              </a:rPr>
              <a:t>— Five hosts declared, all outside India: a stated exception to “no PII leaves India”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663440" y="4956048"/>
            <a:ext cx="6720840" cy="74980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828032" y="5029200"/>
            <a:ext cx="6400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 spc="120">
                <a:solidFill>
                  <a:srgbClr val="F5B14C"/>
                </a:solidFill>
                <a:latin typeface="Segoe UI"/>
              </a:rPr>
              <a:t>SAMPLE LOOKUP AT THE NH-48 DEMO POINT · MEASURED IN TESTING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828032" y="5321808"/>
            <a:ext cx="2194560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2D3EE"/>
                </a:solidFill>
                <a:latin typeface="Segoe UI"/>
              </a:rPr>
              <a:t>Sector 12, Gurgaon, Haryana 122001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077456" y="5321808"/>
            <a:ext cx="1389888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2D3EE"/>
                </a:solidFill>
                <a:latin typeface="Segoe UI"/>
              </a:rPr>
              <a:t>Aarvy Hospital · 290 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522208" y="5321808"/>
            <a:ext cx="1344168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2D3EE"/>
                </a:solidFill>
                <a:latin typeface="Segoe UI"/>
              </a:rPr>
              <a:t>Road 28.4 km · 33 min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21240" y="5321808"/>
            <a:ext cx="1389888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US AQI 195 · Unhealthy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585216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Community map data: a place can be missing or closed, and the card says to call before relying on it. Dispatch still ranks by PostGIS distance; the road time decides nothing.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RDD2022 INDIA · YOLO11 · EVERY BOX IS THE MODEL'S OWN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RAKSHA: the frame the model saw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082735" y="493775"/>
            <a:ext cx="2331720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pic>
        <p:nvPicPr>
          <p:cNvPr id="6" name="Picture 5" descr="_fit_raksha_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874519"/>
            <a:ext cx="2103120" cy="21031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1874519"/>
            <a:ext cx="2103120" cy="210312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19" y="4041648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 i="0">
                <a:solidFill>
                  <a:srgbClr val="5C6B80"/>
                </a:solidFill>
                <a:latin typeface="Segoe UI"/>
              </a:rPr>
              <a:t>India_000914 · 3 road damage, 1 pothole</a:t>
            </a:r>
          </a:p>
        </p:txBody>
      </p:sp>
      <p:pic>
        <p:nvPicPr>
          <p:cNvPr id="9" name="Picture 8" descr="_fit_raksha_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35808" y="1874519"/>
            <a:ext cx="2103120" cy="21031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3035808" y="1874519"/>
            <a:ext cx="2103120" cy="210312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990088" y="4041648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 i="0">
                <a:solidFill>
                  <a:srgbClr val="5C6B80"/>
                </a:solidFill>
                <a:latin typeface="Segoe UI"/>
              </a:rPr>
              <a:t>India_000053 · road damage 0.89, pothole 0.41</a:t>
            </a:r>
          </a:p>
        </p:txBody>
      </p:sp>
      <p:pic>
        <p:nvPicPr>
          <p:cNvPr id="12" name="Picture 11" descr="_fit_raksha_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94376" y="1874519"/>
            <a:ext cx="2103120" cy="210312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294376" y="1874519"/>
            <a:ext cx="2103120" cy="210312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248656" y="4041648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 i="0">
                <a:solidFill>
                  <a:srgbClr val="5C6B80"/>
                </a:solidFill>
                <a:latin typeface="Segoe UI"/>
              </a:rPr>
              <a:t>India_000970 · road damage 0.92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434840"/>
            <a:ext cx="6620256" cy="17373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60120" y="4572000"/>
            <a:ext cx="62179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22D3EE"/>
                </a:solidFill>
                <a:latin typeface="Segoe UI"/>
              </a:rPr>
              <a:t>HOW THE FRAMES WERE MADE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864608"/>
            <a:ext cx="196596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 i="0">
                <a:solidFill>
                  <a:srgbClr val="34D399"/>
                </a:solidFill>
                <a:latin typeface="Segoe UI Semibold"/>
              </a:rPr>
              <a:t>46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5266944"/>
            <a:ext cx="19659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93A1B5"/>
                </a:solidFill>
                <a:latin typeface="Segoe UI"/>
              </a:rPr>
              <a:t>RDD2022 India frames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44952" y="4864608"/>
            <a:ext cx="196596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 i="0">
                <a:solidFill>
                  <a:srgbClr val="34D399"/>
                </a:solidFill>
                <a:latin typeface="Segoe UI Semibold"/>
              </a:rPr>
              <a:t>65 / 65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44952" y="5266944"/>
            <a:ext cx="19659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93A1B5"/>
                </a:solidFill>
                <a:latin typeface="Segoe UI"/>
              </a:rPr>
              <a:t>live detections matched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9783" y="4864608"/>
            <a:ext cx="196596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 i="0">
                <a:solidFill>
                  <a:srgbClr val="F4F7FB"/>
                </a:solidFill>
                <a:latin typeface="Segoe UI Semibold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9783" y="5266944"/>
            <a:ext cx="19659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93A1B5"/>
                </a:solidFill>
                <a:latin typeface="Segoe UI"/>
              </a:rPr>
              <a:t>unmatched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5559552"/>
            <a:ext cx="62636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F4F7FB"/>
                </a:solidFill>
                <a:latin typeface="Segoe UI"/>
              </a:rPr>
              <a:t>render_frames.py re-runs the SAME weights (runs/runs/full) on the images behind the live detections and keeps only boxes whose class and confidence match a listed one. An unmatched detection fails the run.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35240" y="1874519"/>
            <a:ext cx="3749039" cy="42976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863840" y="2029968"/>
            <a:ext cx="32918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34D399"/>
                </a:solidFill>
                <a:latin typeface="Segoe UI"/>
              </a:rPr>
              <a:t>ON THE DASHBOARD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237744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 spc="120">
                <a:solidFill>
                  <a:srgbClr val="93A1B5"/>
                </a:solidFill>
                <a:latin typeface="Segoe UI"/>
              </a:rPr>
              <a:t>HAZARD PHOTOS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0" y="2596896"/>
            <a:ext cx="33375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A gallery of the frames and citizen photos, and a photo tile on each detection.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0" y="329184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 spc="120">
                <a:solidFill>
                  <a:srgbClr val="93A1B5"/>
                </a:solidFill>
                <a:latin typeface="Segoe UI"/>
              </a:rPr>
              <a:t>THE VIEWER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0" y="3511296"/>
            <a:ext cx="33375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Full screen, with the dataset credit (Arya et al., CC BY-SA 4.0) and “location SIMULATED”: RDD2022 images carry no GPS.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0" y="420624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 spc="120">
                <a:solidFill>
                  <a:srgbClr val="93A1B5"/>
                </a:solidFill>
                <a:latin typeface="Segoe UI"/>
              </a:rPr>
              <a:t>MAP POPUPS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63840" y="4425696"/>
            <a:ext cx="33375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Each detection's popup shows its frame and opens the same viewer.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512064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 spc="120">
                <a:solidFill>
                  <a:srgbClr val="93A1B5"/>
                </a:solidFill>
                <a:latin typeface="Segoe UI"/>
              </a:rPr>
              <a:t>DISMISS AS FALSE POSITIVE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63840" y="5340096"/>
            <a:ext cx="33375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Admin or officer only, with a written reason, recorded in the audit chain. It is the state machine's cancel: it closes, never dispatches (ADR-0011).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17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KOTLIN + JETPACK COMPOSE · 137 TESTS · CAPTURED FROM ANDROID STUDIO'S EMULATOR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The Android app, on the emulator</a:t>
            </a:r>
          </a:p>
        </p:txBody>
      </p:sp>
      <p:pic>
        <p:nvPicPr>
          <p:cNvPr id="5" name="Picture 4" descr="_fit_android_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1828800"/>
            <a:ext cx="2011680" cy="36118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68680" y="1828800"/>
            <a:ext cx="2011680" cy="361188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5504688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Home · the new Layers in 3D card</a:t>
            </a:r>
          </a:p>
        </p:txBody>
      </p:sp>
      <p:pic>
        <p:nvPicPr>
          <p:cNvPr id="8" name="Picture 7" descr="_fit_android_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66160" y="1828800"/>
            <a:ext cx="2011680" cy="361188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3566160" y="1828800"/>
            <a:ext cx="2011680" cy="361188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383280" y="5504688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Layers in 3D · live, in a WebView</a:t>
            </a:r>
          </a:p>
        </p:txBody>
      </p:sp>
      <p:pic>
        <p:nvPicPr>
          <p:cNvPr id="11" name="Picture 10" descr="_fit_android_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63640" y="1828800"/>
            <a:ext cx="2011680" cy="36118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263640" y="1828800"/>
            <a:ext cx="2011680" cy="361188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080760" y="5504688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A journey playing · step 5 of 8</a:t>
            </a:r>
          </a:p>
        </p:txBody>
      </p:sp>
      <p:pic>
        <p:nvPicPr>
          <p:cNvPr id="14" name="Picture 13" descr="_fit_android_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61120" y="1828800"/>
            <a:ext cx="2011680" cy="361188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8961120" y="1828800"/>
            <a:ext cx="2011680" cy="361188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778240" y="5504688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An open emergency, found after a restart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897880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163 Android unit tests · 0 lint errors · 8 languages · the emergency card is shown against a local test server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18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EMERGENCY EXPERIENCE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Three states, three honest answers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965960"/>
            <a:ext cx="3383280" cy="30175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33271" y="219456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 spc="140">
                <a:solidFill>
                  <a:srgbClr val="34D399"/>
                </a:solidFill>
                <a:latin typeface="Segoe UI Semibold"/>
              </a:rPr>
              <a:t>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1" y="269748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Everything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1" y="32004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SOS reaches dispatch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1" y="370332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Live tracking + ETA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1" y="420624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Cloud diagnosis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965960"/>
            <a:ext cx="3383280" cy="30175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45152" y="219456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 spc="140">
                <a:solidFill>
                  <a:srgbClr val="F5B14C"/>
                </a:solidFill>
                <a:latin typeface="Segoe UI Semibold"/>
              </a:rPr>
              <a:t>LIMITED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5152" y="269748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Requests still attempted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32004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Anything that fails is STORED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370332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Slow or flaky path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420624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User is told it is weak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1000" y="1965960"/>
            <a:ext cx="3383280" cy="30175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57031" y="219456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 spc="140">
                <a:solidFill>
                  <a:srgbClr val="FF4D5E"/>
                </a:solidFill>
                <a:latin typeface="Segoe UI Semibold"/>
              </a:rPr>
              <a:t>OFF-GRID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269748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SOS stored on device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32004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GPS still works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370332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Local diagnosis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420624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Cached maps · no live anything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166360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50" b="0" i="0">
                <a:solidFill>
                  <a:srgbClr val="93A1B5"/>
                </a:solidFill>
                <a:latin typeface="Segoe UI"/>
              </a:rPr>
              <a:t>The indicator names the state in WORDS as well as colour — status is never carried by tint alone.</a:t>
            </a:r>
          </a:p>
          <a:p>
            <a:pPr algn="ctr">
              <a:lnSpc>
                <a:spcPct val="140000"/>
              </a:lnSpc>
            </a:pPr>
            <a:r>
              <a:rPr sz="1150" b="0" i="0">
                <a:solidFill>
                  <a:srgbClr val="93A1B5"/>
                </a:solidFill>
                <a:latin typeface="Segoe UI"/>
              </a:rPr>
              <a:t>Under every state the primary action stays the same and stays one tap away: SOS.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PAYMENT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The client never decides that money arrived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INVOICE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server-computed
total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139696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231136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ORDER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created server-side
with that amount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712463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803904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CHECKOUT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gateway UI,
key id only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285231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376672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WEBHOOK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at-least-once
delivery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0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949440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SIGNATURE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HMAC-SHA256
recomputed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430767" y="2697480"/>
            <a:ext cx="73153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522208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SETTLEMENT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conditional on
PENDING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003536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10094976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RECEIPT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booking → PAID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7947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AMOUNT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97479" y="37673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Never taken from the request — it is the invoice total, and the webhook refuses a mismatch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2519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TWO PATHS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79" y="42245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Browser callback AND webhook. The webhook is the one that matters: a customer can pay and close the tab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7091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IDEMPOTENT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79" y="46817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Delivery is at-least-once, so a replayed webhook settles nothing twice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1663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REFUSES TO BOOT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97479" y="51389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Production will not start on a real gateway with no webhook secret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235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CHECKED, NOT COUNTED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97479" y="55961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22 checks against a local stub of Razorpay's API, no account: forged signature, replay, wrong amount — outside the 1118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NINE LAYERS, AND 106 ATTACKS THAT FAIL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Refreshed by the September 2026 hardening pass. The suite passes when the platform refuses.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03120"/>
            <a:ext cx="2560320" cy="8961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AUTHENTICATION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OTP → 10-minute JWT; rotating
refresh, reuse burns the family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2103120"/>
            <a:ext cx="2560320" cy="8961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DEMO SIGN-IN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an echoed code works only for demo
numbers, never a privileged role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2103120"/>
            <a:ext cx="2560320" cy="8961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REFRESH COOKIE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web: HttpOnly cookie, CSRF-guarded
by a custom X-RA-Client header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127248"/>
            <a:ext cx="2560320" cy="8961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SERVER LOGOUT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revokes the whole session family;
a racing refresh loses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0" y="3127248"/>
            <a:ext cx="2560320" cy="8961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STRICT CSP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no 'unsafe-inline' scripts: SHA-256
hashes at boot, tested for gaps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3127248"/>
            <a:ext cx="2560320" cy="8961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RBAC + OWNERSHIP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role gates on operator surfaces,
checked at the resource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151376"/>
            <a:ext cx="2560320" cy="8961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RATE LIMITS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client IP from CF-Connecting-IP;
never on SOS escalation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0" y="4151376"/>
            <a:ext cx="2560320" cy="8961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WEBHOOKS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unsigned SMS intake refuses real
numbers; payments HMAC-signed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4151376"/>
            <a:ext cx="2560320" cy="8961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AUDIT LOG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hash-chained, append-only; whole
chain verified from a checkpoint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69680" y="2103120"/>
            <a:ext cx="2514600" cy="2944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006840" y="2377440"/>
            <a:ext cx="22402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1" i="0">
                <a:solidFill>
                  <a:srgbClr val="34D399"/>
                </a:solidFill>
                <a:latin typeface="Segoe UI Semibold"/>
              </a:rPr>
              <a:t>106 / 106</a:t>
            </a:r>
          </a:p>
          <a:p>
            <a:pPr algn="ctr">
              <a:lnSpc>
                <a:spcPct val="120000"/>
              </a:lnSpc>
            </a:pPr>
            <a:r>
              <a:rPr sz="1700" b="1" i="0">
                <a:solidFill>
                  <a:srgbClr val="34D399"/>
                </a:solidFill>
                <a:latin typeface="Segoe UI Semibold"/>
              </a:rPr>
              <a:t>attacks refused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3429000"/>
            <a:ext cx="214884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security-audit.mjs, run in CI.</a:t>
            </a:r>
          </a:p>
          <a:p>
            <a:pPr algn="ctr">
              <a:lnSpc>
                <a:spcPct val="130000"/>
              </a:lnSpc>
            </a:pPr>
            <a:endParaRPr sz="900" b="0" i="0">
              <a:solidFill>
                <a:srgbClr val="93A1B5"/>
              </a:solidFill>
              <a:latin typeface="Segoe UI"/>
            </a:endParaRPr>
          </a:p>
          <a:p>
            <a:pPr algn="ctr">
              <a:lnSpc>
                <a:spcPct val="130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Self-written attacks. No external penetration test has been done.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257800"/>
            <a:ext cx="1060704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00" b="0" i="0">
                <a:solidFill>
                  <a:srgbClr val="93A1B5"/>
                </a:solidFill>
                <a:latin typeface="Segoe UI"/>
              </a:rPr>
              <a:t>Every source file, the Git history and the live hosts were searched for secrets first: none found; /.env, /.git/config and source maps answer 404.</a:t>
            </a:r>
          </a:p>
          <a:p>
            <a:pPr algn="l">
              <a:lnSpc>
                <a:spcPct val="145000"/>
              </a:lnSpc>
            </a:pPr>
            <a:r>
              <a:rPr sz="1000" b="0" i="0">
                <a:solidFill>
                  <a:srgbClr val="93A1B5"/>
                </a:solidFill>
                <a:latin typeface="Segoe UI"/>
              </a:rPr>
              <a:t>Medical break-glass needs a role, a LIVE incident and a written reason, and writes a tamper-evident row. Logs redact codes, numbers and coordinates.</a:t>
            </a:r>
          </a:p>
          <a:p>
            <a:pPr algn="l">
              <a:lnSpc>
                <a:spcPct val="145000"/>
              </a:lnSpc>
            </a:pPr>
            <a:r>
              <a:rPr sz="1000" b="0" i="0">
                <a:solidFill>
                  <a:srgbClr val="93A1B5"/>
                </a:solidFill>
                <a:latin typeface="Segoe UI"/>
              </a:rPr>
              <a:t>Still open, and said so: the 10-minute access token sits in sessionStorage, and style-src keeps 'unsafe-inline'.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EACH NEW TEST FAILS ON THE OLD CODE AND PASSES ON THE NEW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Found in the recheck, and proved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WHAT WAS WRONG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66360" y="1874519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FF4D5E"/>
                </a:solidFill>
                <a:latin typeface="Segoe UI"/>
              </a:rPr>
              <a:t>BEFORE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1874519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34D399"/>
                </a:solidFill>
                <a:latin typeface="Segoe UI"/>
              </a:rPr>
              <a:t>AFTER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24028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2340864"/>
            <a:ext cx="4069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Two dispatches of one booking at the same instant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66360" y="2350008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FF4D5E"/>
                </a:solidFill>
                <a:latin typeface="Segoe UI"/>
              </a:rPr>
              <a:t>both sent a wave · 200, 200, 409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2350008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34D399"/>
                </a:solidFill>
                <a:latin typeface="Segoe UI"/>
              </a:rPr>
              <a:t>per-booking try-lock: one wins, the rest 409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734056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2834640"/>
            <a:ext cx="4069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An SMS SOS recorded a “contacts alerted” step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66360" y="2843784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FF4D5E"/>
                </a:solidFill>
                <a:latin typeface="Segoe UI"/>
              </a:rPr>
              <a:t>texted nobody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843784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34D399"/>
                </a:solidFill>
                <a:latin typeface="Segoe UI"/>
              </a:rPr>
              <a:t>texts through the confirm guards, count recorded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227832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14400" y="3328416"/>
            <a:ext cx="4069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The audit check re-verified only the oldest 2,000–5,000 rows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66360" y="333756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FF4D5E"/>
                </a:solidFill>
                <a:latin typeface="Segoe UI"/>
              </a:rPr>
              <a:t>still said “intact”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3337560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34D399"/>
                </a:solidFill>
                <a:latin typeface="Segoe UI"/>
              </a:rPr>
              <a:t>whole chain from a checkpoint, range stated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721608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4400" y="3822192"/>
            <a:ext cx="4069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A device's image reference, joined to the upload folder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66360" y="3831336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FF4D5E"/>
                </a:solidFill>
                <a:latin typeface="Segoe UI"/>
              </a:rPr>
              <a:t>could read and delete files outside 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831336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34D399"/>
                </a:solidFill>
                <a:latin typeface="Segoe UI"/>
              </a:rPr>
              <a:t>refused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4215384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14400" y="4315968"/>
            <a:ext cx="4069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Sign-out while a refresh was in flight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66360" y="4325112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FF4D5E"/>
                </a:solidFill>
                <a:latin typeface="Segoe UI"/>
              </a:rPr>
              <a:t>session survived · 8 of 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0" y="4325112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34D399"/>
                </a:solidFill>
                <a:latin typeface="Segoe UI"/>
              </a:rPr>
              <a:t>session ended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7240" y="470916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14400" y="4809744"/>
            <a:ext cx="4069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Break-glass response to the responder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66360" y="4818888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FF4D5E"/>
                </a:solidFill>
                <a:latin typeface="Segoe UI"/>
              </a:rPr>
              <a:t>always “the subject has been notified”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4818888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34D399"/>
                </a:solidFill>
                <a:latin typeface="Segoe UI"/>
              </a:rPr>
              <a:t>sent · opted out · failed · no number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5303520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93A1B5"/>
                </a:solidFill>
                <a:latin typeface="Segoe UI"/>
              </a:rPr>
              <a:t>Also fixed: STOP/START opt-out is actually stored and honoured, a cancelled booking withdraws its open offers, the five-contact cap no longer races past five, hazard photos no longer always answer 401 for citizens, and the Android Near you card no longer goes stale after a location-permission grant.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DATABASE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PostgreSQL 16 + PostGIS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Chosen for one query, and kept for four more reasons.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tables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6032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560320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63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foreign keys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43400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142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indexes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79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126479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79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GiST spatial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909560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9560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check constraints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9264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692640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migrations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324612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WHY POSTGIS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97479" y="321868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“nearest available mechanic to this point” is ONE indexed query with ST_DWithin doing true metres-on-a-sphere. Without it: fetch every mechanic and compute haversine in app code.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3758183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WHY RELATIONAL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97479" y="3730751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SELECT … FOR UPDATE is what stops two mechanics taking one job. Transactions are the feature, not a formality.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4270248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CONSTRAINTS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97479" y="4242816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client_incident_id UNIQUE is the entire duplicate-emergency defence. Money is integer paise; ratings are CHECK 1–5.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4782312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AUDITABILITY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97479" y="4754880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audit_log is hash-chained and Postgres RULES block UPDATE and DELETE — an admin cannot quietly edit it.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5294376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VERIFIED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97479" y="5266944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Migrations run from an EMPTY database in this audit, then the full suite. Backup + restore rehearsed: chain intact across 639 entries.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1 · CLOUD COMPUTING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Where we sit in the cloud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We are a consumer of IaaS and PaaS, and a provider of SaaS to three user classes.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03120"/>
            <a:ext cx="3383280" cy="12344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600" b="1">
                <a:solidFill>
                  <a:srgbClr val="F4F7FB"/>
                </a:solidFill>
                <a:latin typeface="Segoe UI Semibold"/>
              </a:rPr>
              <a:t>SaaS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We PROVIDE this: citizen app,
mechanic console, authority dashboard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47672" y="340156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103120"/>
            <a:ext cx="3383280" cy="12344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600" b="1">
                <a:solidFill>
                  <a:srgbClr val="F4F7FB"/>
                </a:solidFill>
                <a:latin typeface="Segoe UI Semibold"/>
              </a:rPr>
              <a:t>PaaS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We CONSUME managed Postgres (Neon)
+ a container platform (Render)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59552" y="340156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2103120"/>
            <a:ext cx="3383280" cy="12344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600" b="1">
                <a:solidFill>
                  <a:srgbClr val="F4F7FB"/>
                </a:solidFill>
                <a:latin typeface="Segoe UI Semibold"/>
              </a:rPr>
              <a:t>IaaS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Compute, network, storage.
Compose is the local stand-in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71432" y="340156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977639"/>
            <a:ext cx="5166360" cy="17373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4160520"/>
            <a:ext cx="4709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60">
                <a:solidFill>
                  <a:srgbClr val="22D3EE"/>
                </a:solidFill>
                <a:latin typeface="Segoe UI"/>
              </a:rPr>
              <a:t>CHARACTERISTICS WE ACTUALLY EXHIBIT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526280"/>
            <a:ext cx="470916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Broad network access — one API serves a browser, an installed PWA, an Android WebView and a feature phone over SMS.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Resource pooling — dispatch pools providers and allocates on demand.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977639"/>
            <a:ext cx="5120640" cy="17373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92240" y="4160520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60">
                <a:solidFill>
                  <a:srgbClr val="F5B14C"/>
                </a:solidFill>
                <a:latin typeface="Segoe UI"/>
              </a:rPr>
              <a:t>DEPLOYMENT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526280"/>
            <a:ext cx="466344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Public cloud. Demo: Render + Neon in Singapore — the free tiers offer no India region. Production target: an Indian region, because “No PII leaves India” — logs, backups and crash reports included.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Enabling technologies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Five topics. Four are genuinely built; one is partial and says so.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03120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2194560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Data centre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71800" y="2176272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Compose stack: PostGIS + Redis + Redpanda on a private network; DB port NOT published in production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149840" y="230428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852927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2944368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Virtualization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1800" y="2926079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Multi-stage container, non-root (uid 1000), tini as PID 1, healthcheck. Built and run — 321 MB.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149840" y="3054096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602735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3694175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Web technology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71800" y="3675887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REST over HTTPS with a uniform envelope, server-sent events for real-time, PWA with a service worker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149840" y="3803903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352544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05840" y="4443983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Multitenancy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71800" y="4425696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Row-scoped shared schema. 12 cross-tenant attacks fired; all 12 refused.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149840" y="4553712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5102352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05840" y="5193792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Service technology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71800" y="5175504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Versioned /v1, 74 routes (71 under /v1), zod validation, stable error codes, idempotency keys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49840" y="5303520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Infrastructure mechanisms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11680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2084832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Virtual server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2066544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Container image; runs anywhere Docker runs. Full test suite passes AGAINST the image.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149840" y="2176272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670048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2743200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Cloud storage device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2724912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Postgres volume, upload volume, and client-side IndexedDB with AES-GCM-256 at rest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149840" y="2834640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328416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05840" y="3401568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Cloud usage monitor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46120" y="3383280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Structured JSON logs, per-request correlation id, operation duration/result, /v1/ops/overview with live counts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149840" y="349300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86784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05840" y="4059936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Ready-made environment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46120" y="4041648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compose → migrate → seed → start. Reference-only seed for production verified: 0 demo rows.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149840" y="4151376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4645152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05840" y="4718304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Network perimeter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46120" y="4700016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DB has no published port; API on loopback behind a proxy; CORS allowlist enforced in production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49840" y="4809744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5303520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05840" y="5376672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Resource replication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46120" y="5358383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Stateless API is the precondition and is met. Nothing is replicated.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149840" y="5468112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The eight fundamental architectures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Two are built. Six are design. I will not show you an animation and call it an autoscaler.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57400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78408" y="2112264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Workload distribution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" y="2350008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The dispatch engine distributes jobs across a provider pool by computed score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79" y="221284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715768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78408" y="2770632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Resource pooling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3008375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Providers are a pool; state is derived and busy members excluded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79" y="2871215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374136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78408" y="3429000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Dynamic scalability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" y="3666744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HPA on queue depth. BUILT: the readiness gate — /health returns 503 when the DB is down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79" y="3529584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032504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78408" y="4087368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Elastic resource capacity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8408" y="4325112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Cluster autoscaler under the pods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54879" y="4187952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2057400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73368" y="2112264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Service load balancing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3368" y="2350008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LB with health-checked rotation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49840" y="221284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2715768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373368" y="2770632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Cloud bursting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3368" y="3008375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Modelled evening scenario — labelled as modelled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49840" y="2871215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374136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373368" y="3429000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Elastic disk provisioning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3368" y="3666744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Storage allocated as data arrives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149840" y="3529584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72200" y="4032504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373368" y="4087368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Redundant storage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73368" y="4325112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Replica with failover. Backup procedure documented and rehearsed.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149840" y="4187952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77240" y="4846320"/>
            <a:ext cx="10607040" cy="8686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005840" y="5029200"/>
            <a:ext cx="101498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Three things block replication today, and each is documented where it is defined: the SSE registry, the rate limiter and the offer sweeper are in-process.</a:t>
            </a:r>
          </a:p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The fix for each is already designed — Redis, and the outbox → Redpanda bus already in the architecture.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27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4 · CLOUD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Static vs dynamic scheduling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965960"/>
            <a:ext cx="516636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2176272"/>
            <a:ext cx="4709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2E7DFF"/>
                </a:solidFill>
                <a:latin typeface="Segoe UI Semibold"/>
              </a:rPr>
              <a:t>STATIC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60320"/>
            <a:ext cx="4709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93A1B5"/>
                </a:solidFill>
                <a:latin typeface="Segoe UI"/>
              </a:rPr>
              <a:t>Decided before run time, on a fixed schedule.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0632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Offer sweeper — every 10 s (OFFER_SWEEP_SECONDS)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5661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Client booking poll — 6 s, or 60 s while streaming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06908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SSE heartbeat — every 25 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57200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Retention purge — 24 h after a sync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965960"/>
            <a:ext cx="512064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634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34D399"/>
                </a:solidFill>
                <a:latin typeface="Segoe UI Semibold"/>
              </a:rPr>
              <a:t>DYNAMIC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60320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93A1B5"/>
                </a:solidFill>
                <a:latin typeface="Segoe UI"/>
              </a:rPr>
              <a:t>Decided at run time, from live state.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3063240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Dispatch: pool queried at request 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520440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Score from live distance, rating, workload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977639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Wave offered; timeout re-schedules to the next wave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434840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A decline escalates immediately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892040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Assignment settled under a row lock — exactly 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44068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4F7FB"/>
                </a:solidFill>
                <a:latin typeface="Segoe UI"/>
              </a:rPr>
              <a:t>RoadAssist's dispatch engine IS dynamic scheduling — it is the clearest Module 4 mechanism the project actually implements.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28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1118 assertions, all executed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Against a real PostgreSQL + PostGIS and a real Chrome. 22 Razorpay stub checks sit outside this total.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5740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Unit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214884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443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15798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state machines, rules, redaction, SMS coordinates, i18n segment budget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60604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269748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End-to-end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269748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246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270662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the whole API journey against real Postgres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15468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324612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Concurrency + real-time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324612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92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25526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races a sequential suite structurally cannot make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70332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05840" y="3794759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Security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3794759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106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380390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attacks that must FAIL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425196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05840" y="434340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Gateway security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0" y="434340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58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435254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webhook signatures, append-only rules, OTP ceilings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480060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05840" y="489204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Browser / offline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40480" y="489204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173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92040" y="490118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what only a browser can prove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5943600"/>
            <a:ext cx="10607040" cy="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77240" y="594360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34D399"/>
                </a:solidFill>
                <a:latin typeface="Segoe UI"/>
              </a:rPr>
              <a:t>1118 passed · 0 failed   •   0 server errors across the sweep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FAILURE HANDLING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Every failure has an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DETECT → DEGRADE → PRESERVE DATA → RECOVER. Twenty rows in the failure matrix; seven of them 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0116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FAILURE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20116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DETECTED BY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23560" y="2011680"/>
            <a:ext cx="32918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USER EXPERIENCE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98280" y="20116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RECOVERY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37744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Network lost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24688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connectivity manager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23560" y="2468880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off-grid mode; SOS stored locally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98280" y="24688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auto on reconnect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88036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05840" y="29718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Backend unreachable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0" y="29718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probe fails, radio up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23560" y="2971800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LIMITED, then OFF-GRID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98280" y="29718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auto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38328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05840" y="347472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Database down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347472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/health → 503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23560" y="3474720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safe 500 with a request id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98280" y="347472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auto, no restart — tested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388620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05840" y="397763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GPS denied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397763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geolocation error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23560" y="3977639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“Unknown — denied”, never a fake fix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98280" y="397763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next fix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438912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05840" y="448056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AI endpoint down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91840" y="448056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timeout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23560" y="4480560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rules engine — nothing visible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98280" y="448056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auto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7240" y="489204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005840" y="498347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Payment fails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91840" y="498347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gateway error / bad signature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23560" y="4983479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invoice stays unpaid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98280" y="498347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customer retries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77240" y="539496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005840" y="54864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Provider times out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91840" y="54864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expires_at passes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23560" y="5486400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sweeper escalates to next wave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98280" y="54864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ladder continues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" y="5989320"/>
            <a:ext cx="10607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5C6B80"/>
                </a:solidFill>
                <a:latin typeface="Segoe UI"/>
              </a:rPr>
              <a:t>Each row names the suite that proves it. Database loss and backup/restore are now automated CI steps, not prose.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IMPLEMENTATION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What is built, what is partial, what is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Marked from the code, not from intent.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938528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1984248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AI diagnosis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185416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rules engine + trained YOLO11 for road damage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79" y="2048256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468880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60120" y="2514600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SOS — online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15768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e2e + concurrency suites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79" y="257860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2999232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60120" y="3044952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SOS — offline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246120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browser suite drives the whole scenario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79" y="3108960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529584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60120" y="3575303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Offline storage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3776472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IndexedDB, AES-GCM-256, survives restart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54879" y="3639312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4059935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60120" y="4105655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Store-and-forward sync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4306823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idempotent; duplicate proven impossible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54879" y="4169663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4590288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60120" y="4636007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Dispatch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4837175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ladder, timeout, busy-exclusion, race-safe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754879" y="4700016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5120640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60120" y="5166359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Real-time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5367527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SSE, measured 65 ms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754879" y="523036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72200" y="1938528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355080" y="1984248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Payment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5080" y="2185416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mock on the demo — never a live account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149840" y="2048256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72200" y="2468880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355080" y="2514600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Location services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55080" y="2715768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server-side, coarsened, cached, off in tests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149840" y="257860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172200" y="2999232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355080" y="3044952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RAKSHA photo review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55080" y="3246120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model frames, viewer, false-positive dismiss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149840" y="3108960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172200" y="3529584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355080" y="3575303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Fleet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55080" y="3776472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schema + roles exist; no dedicated UI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0149840" y="3639312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172200" y="4059935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355080" y="4105655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Analytics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55080" y="4306823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ops overview with live counts; no BI layer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0149840" y="4169663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172200" y="4590288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6355080" y="4636007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Cloud autoscaling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55080" y="4837175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designed; no cluster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0149840" y="4700016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172200" y="5120640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6355080" y="5166359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Replication / load balancing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55080" y="5367527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stateless API is the precondition, and is met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0149840" y="523036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77240" y="5806440"/>
            <a:ext cx="10607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5C6B80"/>
                </a:solidFill>
                <a:latin typeface="Segoe UI"/>
              </a:rPr>
              <a:t>GREEN = code exists, database persists it, UI consumes it, AND a test exercises it.  AMBER = some of that.  BLUE = architecture only.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STATED BEFORE YOU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Limitations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In order of importance. Every one of these is also written in the code or the docs.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0208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demo is one free-tier Render + Neon instance in Singapore, no India region, no cluster; it sleeps after 15 min idle (keep-awake ping in progress).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4688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4780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Single instance only: SSE registry, rate limiter and offer sweeper are in-process.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9260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9352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Location lookups send positions, coarsened to about 110 m, to OpenStreetMap and OSRM servers in Germany/EU. Declared (ADR-0012).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3832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33924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ERSS 112 handoff is a stub, and the API response says so. Emergency isolation (ADR-0005) is a design, not a deployment.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8404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38496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Payment checks run only against a local stub of Razorpay's API, outside the 1118 — never a real account.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2976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3068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diagnosis “AI” is a deterministic rules engine. Labelled as such everywhere.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7548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47640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No load test, no external penetration test, no coverage on the HTTP layer (suites run out-of-process).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52120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5880" y="52212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Device encryption protects a storage dump, not script on the same origin — and the UI says exactly that.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56692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" y="56784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GPS cold start can take minutes and may never fix indoors. The app shows “Unknown” rather than a guess.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FUTURE — LABELLED AS SUCH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Roadmap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11680"/>
            <a:ext cx="338328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33271" y="2240280"/>
            <a:ext cx="2834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 spc="160">
                <a:solidFill>
                  <a:srgbClr val="34D399"/>
                </a:solidFill>
                <a:latin typeface="Segoe UI Semibold"/>
              </a:rPr>
              <a:t>NEXT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1" y="27432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Redis-backed rate limiting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1" y="3255264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Outbox → event bus for SSE fan-out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1" y="3767328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WAL archiving (RPO under a day)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1" y="4279392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Object storage for photos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2011680"/>
            <a:ext cx="338328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45152" y="2240280"/>
            <a:ext cx="2834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 spc="160">
                <a:solidFill>
                  <a:srgbClr val="F5B14C"/>
                </a:solidFill>
                <a:latin typeface="Segoe UI Semibold"/>
              </a:rPr>
              <a:t>THEN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5152" y="27432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Multi-region deployment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3255264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Database read replicas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3767328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External APM + error reporting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4279392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Automated backup schedule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5152" y="4791456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Self-hosted map services in an Indian region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01000" y="2011680"/>
            <a:ext cx="338328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57031" y="2240280"/>
            <a:ext cx="2834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 spc="160">
                <a:solidFill>
                  <a:srgbClr val="2E7DFF"/>
                </a:solidFill>
                <a:latin typeface="Segoe UI Semibold"/>
              </a:rPr>
              <a:t>LATER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27432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Predictive maintenance at volume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3255264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Fleet management UI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3767328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Satellite emergency communication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1" y="4279392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Mesh networking between devices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1" y="4791456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Government emergency-network integration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48640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F5B14C"/>
                </a:solidFill>
                <a:latin typeface="Segoe UI"/>
              </a:rPr>
              <a:t>Satellite, mesh and government-network integration are FUTURE and are labelled that way everywhere in the product — not implemented, not claimed.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Where the money would come from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Potential, not current. No commercial operation exists — this is a university project.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48840"/>
            <a:ext cx="2514600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700" b="1">
                <a:solidFill>
                  <a:srgbClr val="F4F7FB"/>
                </a:solidFill>
                <a:latin typeface="Segoe UI Semibold"/>
              </a:rPr>
              <a:t>B2C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Subscription for individual drivers; pay-per-incident for non-members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2148840"/>
            <a:ext cx="2514600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700" b="1">
                <a:solidFill>
                  <a:srgbClr val="F4F7FB"/>
                </a:solidFill>
                <a:latin typeface="Segoe UI Semibold"/>
              </a:rPr>
              <a:t>B2B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Fleet operators — uptime is their cost centre; per-vehicle per-month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2148840"/>
            <a:ext cx="2514600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700" b="1">
                <a:solidFill>
                  <a:srgbClr val="F4F7FB"/>
                </a:solidFill>
                <a:latin typeface="Segoe UI Semibold"/>
              </a:rPr>
              <a:t>B2B2C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Insurers and OEMs bundling roadside cover into an existing policy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69680" y="2148840"/>
            <a:ext cx="2514600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700" b="1">
                <a:solidFill>
                  <a:srgbClr val="F4F7FB"/>
                </a:solidFill>
                <a:latin typeface="Segoe UI Semibold"/>
              </a:rPr>
              <a:t>B2G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Highway authorities — RAKSHA road-health data and incident analytics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840480"/>
            <a:ext cx="10607040" cy="9601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4041648"/>
            <a:ext cx="101498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unit economics that make it plausible: the platform runs on ZERO paid third-party accounts by default.</a:t>
            </a:r>
          </a:p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Maps are keyless OpenStreetMap, AI is a local rules engine, and every vendor sits behind an adapter with a working local implementation.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02920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F5B14C"/>
                </a:solidFill>
                <a:latin typeface="Segoe UI"/>
              </a:rPr>
              <a:t>Current status: no revenue, no customers, no commercial deployment. Stated so the model is read as a plan, not a claim.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COMPETITIVE ADVANTAGE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What a competitor would have to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Not “we are better than X” — we have not benchmarked anyone. This is what is genuinely hard here.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03120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2212848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Network resilience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94760" y="2194560"/>
            <a:ext cx="7406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An emergency workflow that runs entirely on the device, with an encrypted journal and idempotent forward-sync. This is the moat.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880360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2990088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Honest degradation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94760" y="2971800"/>
            <a:ext cx="7406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The product never claims something reached the cloud when it did not. That is a design discipline, not a feature you can add later.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657600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3767328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Race-safe dispatch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4760" y="3749039"/>
            <a:ext cx="7406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Row-locked assignment, wave ladder, timeout escalation, derived provider state — proven with ten simultaneous accepts.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434840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05840" y="4544568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Explainable diagnosis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94760" y="4526279"/>
            <a:ext cx="7406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The same rule table on device and cloud, with a CI test that fails the build if they diverge.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5212079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05840" y="5321807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Auditability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4760" y="5303519"/>
            <a:ext cx="7406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Hash-chained append-only log, verified live in the operations view.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PART THAT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Live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 spc="180">
                <a:solidFill>
                  <a:srgbClr val="34D399"/>
                </a:solidFill>
                <a:latin typeface="Segoe UI"/>
              </a:rPr>
              <a:t>PART ONE · THE FULL JOURNEY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1.  Login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2.  Vehicle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0896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3.  Breakdown + AI diagnosis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47472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4.  Request assistance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84048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5.  Dispatch — ranked offers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20624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6.  Mechanic accepts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57200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7.  Live status, no refresh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93776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8.  Service → invoice → payment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30352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9. 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196596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 spc="180">
                <a:solidFill>
                  <a:srgbClr val="FF4D5E"/>
                </a:solidFill>
                <a:latin typeface="Segoe UI"/>
              </a:rPr>
              <a:t>PART TWO · THE ONE NOBODY ELSE HAS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37744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1.  Network OFF — the UI changes immediately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74320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2.  Local diagnosis, labelled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310896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3.  Hold SOS → off-grid incident, real GPS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347472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4.  “Nothing has been transmitted”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84048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5B14C"/>
                </a:solidFill>
                <a:latin typeface="Segoe UI"/>
              </a:rPr>
              <a:t>5.  CLOSE THE TAB. REOPEN IT.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20624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5B14C"/>
                </a:solidFill>
                <a:latin typeface="Segoe UI"/>
              </a:rPr>
              <a:t>6.  The incident is still there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457200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7.  Network ON → automatic sync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93776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8.  “SOS synchronized”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530352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5B14C"/>
                </a:solidFill>
                <a:latin typeface="Segoe UI"/>
              </a:rPr>
              <a:t>9.  Replay the reference → duplicate refused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5623560"/>
            <a:ext cx="1060704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05840" y="5779008"/>
            <a:ext cx="1014984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 i="0">
                <a:solidFill>
                  <a:srgbClr val="F4F7FB"/>
                </a:solidFill>
                <a:latin typeface="Segoe UI Semibold"/>
              </a:rPr>
              <a:t>If any step fails, the failure IS the demonstration — nothing here fakes a success.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he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1554480"/>
            <a:ext cx="106070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600" b="1" i="0">
                <a:solidFill>
                  <a:srgbClr val="F4F7FB"/>
                </a:solidFill>
                <a:latin typeface="Segoe UI Semibold"/>
              </a:rPr>
              <a:t>RoadAssist Bharat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468880"/>
            <a:ext cx="106070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 i="0">
                <a:solidFill>
                  <a:srgbClr val="93A1B5"/>
                </a:solidFill>
                <a:latin typeface="Segoe UI"/>
              </a:rPr>
              <a:t>From breakdown to resolution — even when connectivity fails.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AI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explainable
rules engine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CLOUD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consumed and
provided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61688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OFFLINE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the whole emergency
path on-device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53912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REAL-TIME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65 ms, and never
the only path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46136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SECURITY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106 attacks,
all refused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738360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DISPATCH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dynamic, race-safe
scheduling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617720"/>
            <a:ext cx="1060704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2222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05840" y="4828032"/>
            <a:ext cx="101498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 i="0">
                <a:solidFill>
                  <a:srgbClr val="F4F7FB"/>
                </a:solidFill>
                <a:latin typeface="Segoe UI Semibold"/>
              </a:rPr>
              <a:t>“RoadAssist doesn't stop when the network stops.”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760720"/>
            <a:ext cx="10607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5C6B80"/>
                </a:solidFill>
                <a:latin typeface="Segoe UI"/>
              </a:rPr>
              <a:t>1118 assertions · 6 suites · 0 failures  •  58 tables · 74 routes · 13 ADRs  •  every claim on these slides is testable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6661</Words>
  <Application>Microsoft Office PowerPoint</Application>
  <PresentationFormat>Widescreen</PresentationFormat>
  <Paragraphs>918</Paragraphs>
  <Slides>37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3" baseType="lpstr">
      <vt:lpstr>Arial</vt:lpstr>
      <vt:lpstr>Calibri</vt:lpstr>
      <vt:lpstr>Consolas</vt:lpstr>
      <vt:lpstr>Segoe UI</vt:lpstr>
      <vt:lpstr>Segoe UI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SAATHWIK'S A15</cp:lastModifiedBy>
  <cp:revision>2</cp:revision>
  <dcterms:created xsi:type="dcterms:W3CDTF">2013-01-27T09:14:16Z</dcterms:created>
  <dcterms:modified xsi:type="dcterms:W3CDTF">2026-10-01T04:12:23Z</dcterms:modified>
  <cp:category/>
</cp:coreProperties>
</file>