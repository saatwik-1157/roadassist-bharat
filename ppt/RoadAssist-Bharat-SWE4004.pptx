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62770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Opening frame. RoadAssist Bharat is a real, working roadside-assistance platform, and this deck uses it as the worked example for Cloud Computing Modules 1-4.</a:t>
            </a:r>
          </a:p>
          <a:p>
            <a:endParaRPr/>
          </a:p>
          <a:p>
            <a:r>
              <a:t>SAY</a:t>
            </a:r>
          </a:p>
          <a:p>
            <a:r>
              <a:t>"This is RoadAssist Bharat - an AI-assisted roadside assistance and emergency mobility platform for India. What I want to show today is not just the application, but how every layer of it maps onto the cloud computing concepts in Modules 1 through 4."</a:t>
            </a:r>
          </a:p>
          <a:p>
            <a:endParaRPr/>
          </a:p>
          <a:p>
            <a:r>
              <a:t>CONCEPT DEMONSTRATED</a:t>
            </a:r>
          </a:p>
          <a:p>
            <a:r>
              <a:t>Framing only. The four chips - AI, Cloud, Mobility, Safety - are the four threads running through the deck.</a:t>
            </a:r>
          </a:p>
          <a:p>
            <a:endParaRPr/>
          </a:p>
          <a:p>
            <a:r>
              <a:t>RELATION TO ROADASSIST</a:t>
            </a:r>
          </a:p>
          <a:p>
            <a:r>
              <a:t>The platform genuinely exists: TypeScript, Fastify, PostgreSQL with PostGIS, a Progressive Web App, 58 API routes, 61 database tables.</a:t>
            </a:r>
          </a:p>
          <a:p>
            <a:endParaRPr/>
          </a:p>
          <a:p>
            <a:r>
              <a:t>IF ASKED</a:t>
            </a:r>
          </a:p>
          <a:p>
            <a:r>
              <a:t>"Is this real or a mockup?" - It is real and running. I can show the live application, the test suite and the database at any point.</a:t>
            </a:r>
          </a:p>
          <a:p>
            <a:endParaRPr/>
          </a:p>
          <a:p>
            <a:r>
              <a:t>TRANSITION</a:t>
            </a:r>
          </a:p>
          <a:p>
            <a:r>
              <a:t>"Let me start with the problem it exists to solve."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six-stage chain from breakdown to danger. Deliberately no statistics - none are invented anywhere in this deck.</a:t>
            </a:r>
          </a:p>
          <a:p>
            <a:endParaRPr/>
          </a:p>
          <a:p>
            <a:r>
              <a:t>SAY</a:t>
            </a:r>
          </a:p>
          <a:p>
            <a:r>
              <a:t>"When a vehicle stops, the mechanical fault is only the first problem. The driver then cannot diagnose it, cannot describe where they are, cannot tell who is nearby, and has no visibility of help arriving. Each of those is an information problem, and information problems are what cloud platforms solve."</a:t>
            </a:r>
          </a:p>
          <a:p>
            <a:endParaRPr/>
          </a:p>
          <a:p>
            <a:r>
              <a:t>CONCEPT DEMONSTRATED</a:t>
            </a:r>
          </a:p>
          <a:p>
            <a:r>
              <a:t>Motivation for centralised, always-available services - the goals and benefits of cloud adoption, Module 1.</a:t>
            </a:r>
          </a:p>
          <a:p>
            <a:endParaRPr/>
          </a:p>
          <a:p>
            <a:r>
              <a:t>RELATION TO ROADASSIST</a:t>
            </a:r>
          </a:p>
          <a:p>
            <a:r>
              <a:t>Each stage maps to a built feature: AI diagnosis, GPS with PostGIS location, dispatch, live tracking, and the Raksha SOS system.</a:t>
            </a:r>
          </a:p>
          <a:p>
            <a:endParaRPr/>
          </a:p>
          <a:p>
            <a:r>
              <a:t>IF ASKED</a:t>
            </a:r>
          </a:p>
          <a:p>
            <a:r>
              <a:t>"Do you have data on breakdown frequency?" - I deliberately did not invent figures. The design is driven by the failure chain, not by claimed statistics.</a:t>
            </a:r>
          </a:p>
          <a:p>
            <a:endParaRPr/>
          </a:p>
          <a:p>
            <a:r>
              <a:t>TRANSITION</a:t>
            </a:r>
          </a:p>
          <a:p>
            <a:r>
              <a:t>"So the vision is a single platform that closes every one of those gaps."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ecosystem. Six actors, one central platform. No actor talks directly to another.</a:t>
            </a:r>
          </a:p>
          <a:p>
            <a:endParaRPr/>
          </a:p>
          <a:p>
            <a:r>
              <a:t>SAY</a:t>
            </a:r>
          </a:p>
          <a:p>
            <a:r>
              <a:t>"Six participants: the customer, AI diagnosis, the mechanic, the live map, the Raksha emergency system, and the road authority. None talk to each other directly. Everything goes through the central platform, and that is what makes the platform authoritative."</a:t>
            </a:r>
          </a:p>
          <a:p>
            <a:endParaRPr/>
          </a:p>
          <a:p>
            <a:r>
              <a:t>CONCEPT DEMONSTRATED</a:t>
            </a:r>
          </a:p>
          <a:p>
            <a:r>
              <a:t>Centralised, network-accessible shared services - the essential cloud characteristics, Module 1.</a:t>
            </a:r>
          </a:p>
          <a:p>
            <a:endParaRPr/>
          </a:p>
          <a:p>
            <a:r>
              <a:t>RELATION TO ROADASSIST</a:t>
            </a:r>
          </a:p>
          <a:p>
            <a:r>
              <a:t>Verified: 58 API routes, 61 tables, seven roles - citizen, mechanic, admin, gov_officer, fleet_admin, fleet_driver, support.</a:t>
            </a:r>
          </a:p>
          <a:p>
            <a:endParaRPr/>
          </a:p>
          <a:p>
            <a:r>
              <a:t>IF ASKED</a:t>
            </a:r>
          </a:p>
          <a:p>
            <a:r>
              <a:t>"Why must everything go through the centre?" - Because booking state is server-authoritative. If a mechanic's phone could tell a customer's phone directly that a job was finished, the two devices could disagree. The server is the single source of truth, and the state machine there is the only thing allowed to change a booking's state.</a:t>
            </a:r>
          </a:p>
          <a:p>
            <a:endParaRPr/>
          </a:p>
          <a:p>
            <a:r>
              <a:t>TRANSITION</a:t>
            </a:r>
          </a:p>
          <a:p>
            <a:r>
              <a:t>"Which raises the question this course is really about - why does this need the cloud at all?"</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bridge slide - it turns the project story into the Module 1 story.</a:t>
            </a:r>
          </a:p>
          <a:p>
            <a:endParaRPr/>
          </a:p>
          <a:p>
            <a:r>
              <a:t>SAY</a:t>
            </a:r>
          </a:p>
          <a:p>
            <a:r>
              <a:t>"Four kinds of consumer - customers, mechanics, authorities and the public website - all reach one central platform, which draws on compute, storage, network and data. The six capabilities in the middle band are exactly the cloud characteristics from Module 1."</a:t>
            </a:r>
          </a:p>
          <a:p>
            <a:endParaRPr/>
          </a:p>
          <a:p>
            <a:r>
              <a:t>CONCEPT DEMONSTRATED</a:t>
            </a:r>
          </a:p>
          <a:p>
            <a:r>
              <a:t>Module 1: goals and benefits of cloud adoption, and the essential characteristics.</a:t>
            </a:r>
          </a:p>
          <a:p>
            <a:endParaRPr/>
          </a:p>
          <a:p>
            <a:r>
              <a:t>RELATION TO ROADASSIST</a:t>
            </a:r>
          </a:p>
          <a:p>
            <a:r>
              <a:t>All four consumer types exist as real surfaces: the customer PWA, the mechanic console, the RAKSHA authority dashboard, and the public site.</a:t>
            </a:r>
          </a:p>
          <a:p>
            <a:endParaRPr/>
          </a:p>
          <a:p>
            <a:r>
              <a:t>IF ASKED</a:t>
            </a:r>
          </a:p>
          <a:p>
            <a:r>
              <a:t>"Could this not just be one server?" - It could, and in development it is. The cloud model matters because demand is uneven and geographically spread, and because an emergency service should not have a single point of failure. That is an architectural argument, which is why this slide is labelled architectural concept rather than implemented.</a:t>
            </a:r>
          </a:p>
          <a:p>
            <a:endParaRPr/>
          </a:p>
          <a:p>
            <a:r>
              <a:t>TRANSITION</a:t>
            </a:r>
          </a:p>
          <a:p>
            <a:r>
              <a:t>"So let us take Module 1 properly."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five essential characteristics, each tied to something concrete, plus the five resource categories the cloud supplies.</a:t>
            </a:r>
          </a:p>
          <a:p>
            <a:endParaRPr/>
          </a:p>
          <a:p>
            <a:r>
              <a:t>SAY</a:t>
            </a:r>
          </a:p>
          <a:p>
            <a:r>
              <a:t>"Cloud computing has five essential characteristics. On-demand self-service - a customer books assistance without anyone provisioning a thing. Broad network access - it is a Progressive Web App, so any phone browser reaches it. Resource pooling - one platform serves every customer and mechanic. Rapid elasticity - demand is not steady; monsoon and festival travel spike it. Measured service - usage is observable per request."</a:t>
            </a:r>
          </a:p>
          <a:p>
            <a:endParaRPr/>
          </a:p>
          <a:p>
            <a:r>
              <a:t>CONCEPT DEMONSTRATED</a:t>
            </a:r>
          </a:p>
          <a:p>
            <a:r>
              <a:t>Module 1 - origins and influences, basic concepts and terminology, cloud characteristics.</a:t>
            </a:r>
          </a:p>
          <a:p>
            <a:endParaRPr/>
          </a:p>
          <a:p>
            <a:r>
              <a:t>RELATION TO ROADASSIST</a:t>
            </a:r>
          </a:p>
          <a:p>
            <a:r>
              <a:t>Storage is genuinely PostgreSQL 16 with PostGIS 3.4.3. The data layer is 61 tables, including a hash-chained tamper-evident audit log.</a:t>
            </a:r>
          </a:p>
          <a:p>
            <a:endParaRPr/>
          </a:p>
          <a:p>
            <a:r>
              <a:t>IF ASKED</a:t>
            </a:r>
          </a:p>
          <a:p>
            <a:r>
              <a:t>"Which characteristic is weakest in your build?" - Honestly, rapid elasticity. The application is designed to scale horizontally because request handling is stateless behind a JWT, but automatic scaling is not implemented. I label that rather than claim it.</a:t>
            </a:r>
          </a:p>
          <a:p>
            <a:endParaRPr/>
          </a:p>
          <a:p>
            <a:r>
              <a:t>TRANSITION</a:t>
            </a:r>
          </a:p>
          <a:p>
            <a:r>
              <a:t>"Next - who actually plays which role in this picture."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Three layers, two boundaries. The key insight is that RoadAssist sits in the middle and is BOTH a cloud consumer and a cloud provider.</a:t>
            </a:r>
          </a:p>
          <a:p>
            <a:endParaRPr/>
          </a:p>
          <a:p>
            <a:r>
              <a:t>SAY</a:t>
            </a:r>
          </a:p>
          <a:p>
            <a:r>
              <a:t>"Module 1 defines roles and boundaries. At the top, the cloud provider owns the physical estate - data centres, hypervisors, storage. In the middle, RoadAssist consumes those resources but itself provides a service to its users, so it holds a dual role. At the bottom are the end users, and in our database that is seven distinct roles."</a:t>
            </a:r>
          </a:p>
          <a:p>
            <a:endParaRPr/>
          </a:p>
          <a:p>
            <a:r>
              <a:t>CONCEPT DEMONSTRATED</a:t>
            </a:r>
          </a:p>
          <a:p>
            <a:r>
              <a:t>Module 1 - roles and boundaries: cloud provider, cloud consumer, cloud service owner, and where responsibility changes hands.</a:t>
            </a:r>
          </a:p>
          <a:p>
            <a:endParaRPr/>
          </a:p>
          <a:p>
            <a:r>
              <a:t>RELATION TO ROADASSIST</a:t>
            </a:r>
          </a:p>
          <a:p>
            <a:r>
              <a:t>The seven roles are real and enforced: citizen, mechanic, admin, gov_officer, fleet_admin, fleet_driver, support. Authorization is checked at the resource, not just the route.</a:t>
            </a:r>
          </a:p>
          <a:p>
            <a:endParaRPr/>
          </a:p>
          <a:p>
            <a:r>
              <a:t>IF ASKED</a:t>
            </a:r>
          </a:p>
          <a:p>
            <a:r>
              <a:t>"What is the difference between a cloud consumer and a cloud service owner?" - RoadAssist is a consumer with respect to the infrastructure provider, and a service owner with respect to its own users. The same organisation can hold both roles, and this diagram shows exactly where the line falls.</a:t>
            </a:r>
          </a:p>
          <a:p>
            <a:endParaRPr/>
          </a:p>
          <a:p>
            <a:r>
              <a:t>TRANSITION</a:t>
            </a:r>
          </a:p>
          <a:p>
            <a:r>
              <a:t>"Given those roles - which service and deployment model does RoadAssist correspond to?"</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service and deployment model matrix, mapped honestly. Note the STATUS column - only SaaS is marked implemented.</a:t>
            </a:r>
          </a:p>
          <a:p>
            <a:endParaRPr/>
          </a:p>
          <a:p>
            <a:r>
              <a:t>SAY</a:t>
            </a:r>
          </a:p>
          <a:p>
            <a:r>
              <a:t>"Three delivery models. Infrastructure as a Service gives you virtual machines and you manage upward - that is where our containers and database would sit in a deployment. Platform as a Service adds the managed runtime. Software as a Service is finished software over the network, and that is precisely what our customer, mechanic and authority users experience today. So RoadAssist IS a SaaS application; the IaaS and PaaS rows are architectural mapping, not claims."</a:t>
            </a:r>
          </a:p>
          <a:p>
            <a:endParaRPr/>
          </a:p>
          <a:p>
            <a:r>
              <a:t>CONCEPT DEMONSTRATED</a:t>
            </a:r>
          </a:p>
          <a:p>
            <a:r>
              <a:t>Module 1 - cloud delivery models and cloud deployment models.</a:t>
            </a:r>
          </a:p>
          <a:p>
            <a:endParaRPr/>
          </a:p>
          <a:p>
            <a:r>
              <a:t>RELATION TO ROADASSIST</a:t>
            </a:r>
          </a:p>
          <a:p>
            <a:r>
              <a:t>Deployment is deliberately labelled a mapping. The project runs on Docker Compose locally, and is currently exposed over an HTTPS tunnel for demonstration. No commercial cloud provider is used, so no claim is made about one.</a:t>
            </a:r>
          </a:p>
          <a:p>
            <a:endParaRPr/>
          </a:p>
          <a:p>
            <a:r>
              <a:t>IF ASKED</a:t>
            </a:r>
          </a:p>
          <a:p>
            <a:r>
              <a:t>"Which deployment model would you choose?" - Hybrid. The citizen-facing app suits public cloud for reach and cost, while RAKSHA authority data and the medical break-glass records are exactly the kind of data that belongs in a private, jurisdiction-bounded estate. Note that India's data-residency expectations push in the same direction.</a:t>
            </a:r>
          </a:p>
          <a:p>
            <a:endParaRPr/>
          </a:p>
          <a:p>
            <a:r>
              <a:t>TRANSITION</a:t>
            </a:r>
          </a:p>
          <a:p>
            <a:r>
              <a:t>"Every model brings benefits and matching risks."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Benefits on the left, risks on the right - and critically, each risk names how RoadAssist actually answers it.</a:t>
            </a:r>
          </a:p>
          <a:p>
            <a:endParaRPr/>
          </a:p>
          <a:p>
            <a:r>
              <a:t>SAY</a:t>
            </a:r>
          </a:p>
          <a:p>
            <a:r>
              <a:t>"Cloud brings scalability, availability and centralisation, but it also brings real risks. What I want to show is that we did not just list them - each one has a concrete answer in the build. Network dependency is answered by an offline-first PWA with an idempotent sync journal. Data protection is answered by a hash-chained audit log where tampering is detectable. Privacy is answered by break-glass medical access that is logged and notified."</a:t>
            </a:r>
          </a:p>
          <a:p>
            <a:endParaRPr/>
          </a:p>
          <a:p>
            <a:r>
              <a:t>CONCEPT DEMONSTRATED</a:t>
            </a:r>
          </a:p>
          <a:p>
            <a:r>
              <a:t>Module 1 - goals and benefits, risks and challenges.</a:t>
            </a:r>
          </a:p>
          <a:p>
            <a:endParaRPr/>
          </a:p>
          <a:p>
            <a:r>
              <a:t>RELATION TO ROADASSIST</a:t>
            </a:r>
          </a:p>
          <a:p>
            <a:r>
              <a:t>All six risk answers are implemented and tested. The audit chain has a test that forges an entry and confirms the chain detects the broken link.</a:t>
            </a:r>
          </a:p>
          <a:p>
            <a:endParaRPr/>
          </a:p>
          <a:p>
            <a:r>
              <a:t>IF ASKED</a:t>
            </a:r>
          </a:p>
          <a:p>
            <a:r>
              <a:t>"What happens if the network is down during an emergency?" - This is the most important design decision in the project. Ordinary actions like adding a vehicle are queued and replayed idempotently. But SOS and payments are never queued - they fail loudly and tell the user to call 112 directly, because an emergency that silently waits for signal is worse than one that admits it failed.</a:t>
            </a:r>
          </a:p>
          <a:p>
            <a:endParaRPr/>
          </a:p>
          <a:p>
            <a:r>
              <a:t>TRANSITION</a:t>
            </a:r>
          </a:p>
          <a:p>
            <a:r>
              <a:t>"That covers Module 1. Module 2 asks what technologies make the cloud possible."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five Module 2 technologies, with an honest status chip under each. This slide sets up the next three.</a:t>
            </a:r>
          </a:p>
          <a:p>
            <a:endParaRPr/>
          </a:p>
          <a:p>
            <a:r>
              <a:t>SAY</a:t>
            </a:r>
          </a:p>
          <a:p>
            <a:r>
              <a:t>"Module 2 covers the five technologies that make cloud computing possible: data centres, virtualization, web technology, multitenancy, and service technology. I want to be precise about which of these we actually operate. Web technology and service technology are built into the application. Multitenancy exists in the database schema. Virtualization for us is containers, not a hypervisor we run. And the data centre belongs to whichever provider hosts the system."</a:t>
            </a:r>
          </a:p>
          <a:p>
            <a:endParaRPr/>
          </a:p>
          <a:p>
            <a:r>
              <a:t>CONCEPT DEMONSTRATED</a:t>
            </a:r>
          </a:p>
          <a:p>
            <a:r>
              <a:t>Module 2 - the full set of cloud enabling technologies.</a:t>
            </a:r>
          </a:p>
          <a:p>
            <a:endParaRPr/>
          </a:p>
          <a:p>
            <a:r>
              <a:t>RELATION TO ROADASSIST</a:t>
            </a:r>
          </a:p>
          <a:p>
            <a:r>
              <a:t>Docker Compose provides three local services: PostGIS, Redis and Redpanda. Redis and Redpanda are provisioned but not yet used by application code - I state that rather than imply a message-driven architecture that does not exist.</a:t>
            </a:r>
          </a:p>
          <a:p>
            <a:endParaRPr/>
          </a:p>
          <a:p>
            <a:r>
              <a:t>IF ASKED</a:t>
            </a:r>
          </a:p>
          <a:p>
            <a:r>
              <a:t>"You said Redpanda is unused - why is it there?" - It was provisioned as the event-bus stand-in for a future move to event-driven dispatch. It is honest to say it is scaffolding for planned work rather than pretend the system is already event-driven.</a:t>
            </a:r>
          </a:p>
          <a:p>
            <a:endParaRPr/>
          </a:p>
          <a:p>
            <a:r>
              <a:t>TRANSITION</a:t>
            </a:r>
          </a:p>
          <a:p>
            <a:r>
              <a:t>"Starting with the physical foundation."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Physical infrastructure is the base of every cloud claim. This slide keeps the abstraction honest.</a:t>
            </a:r>
          </a:p>
          <a:p>
            <a:endParaRPr/>
          </a:p>
          <a:p>
            <a:r>
              <a:t>SAY</a:t>
            </a:r>
          </a:p>
          <a:p>
            <a:r>
              <a:t>"Everything we call 'the cloud' ultimately runs on physical machines in a building with power and cooling. A data centre supplies compute, storage, networking, power, cooling and monitoring. Those become cloud resources, and cloud resources are what RoadAssist services consume."</a:t>
            </a:r>
          </a:p>
          <a:p>
            <a:endParaRPr/>
          </a:p>
          <a:p>
            <a:r>
              <a:t>CONCEPT DEMONSTRATED</a:t>
            </a:r>
          </a:p>
          <a:p>
            <a:r>
              <a:t>Module 2 - data center technology: the physical substrate and why density, power and cooling bound what the cloud can offer.</a:t>
            </a:r>
          </a:p>
          <a:p>
            <a:endParaRPr/>
          </a:p>
          <a:p>
            <a:r>
              <a:t>RELATION TO ROADASSIST</a:t>
            </a:r>
          </a:p>
          <a:p>
            <a:r>
              <a:t>This layer is the provider's, not ours. In development the equivalent is a single machine running Docker containers. That is stated rather than dressed up.</a:t>
            </a:r>
          </a:p>
          <a:p>
            <a:endParaRPr/>
          </a:p>
          <a:p>
            <a:r>
              <a:t>IF ASKED</a:t>
            </a:r>
          </a:p>
          <a:p>
            <a:r>
              <a:t>"Why does cooling matter to a software project?" - Because it bounds server density and therefore cost per unit of compute, which is ultimately what makes on-demand elastic pricing possible for a consumer like us.</a:t>
            </a:r>
          </a:p>
          <a:p>
            <a:endParaRPr/>
          </a:p>
          <a:p>
            <a:r>
              <a:t>TRANSITION</a:t>
            </a:r>
          </a:p>
          <a:p>
            <a:r>
              <a:t>"The technology that turns one physical machine into many usable ones is virtualization."</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classic virtualization stack, read bottom-up, with an explicit honesty band at the top.</a:t>
            </a:r>
          </a:p>
          <a:p>
            <a:endParaRPr/>
          </a:p>
          <a:p>
            <a:r>
              <a:t>SAY</a:t>
            </a:r>
          </a:p>
          <a:p>
            <a:r>
              <a:t>"Read this from the bottom. One physical server. Above it a hypervisor, which is the layer that lets a single machine present itself as several isolated ones. Above that, virtual servers, each carrying a share of the workload. And above those, the actual RoadAssist services. I want to be precise: we use OS-level virtualization - Docker containers - not a hypervisor we operate ourselves. That distinction matters."</a:t>
            </a:r>
          </a:p>
          <a:p>
            <a:endParaRPr/>
          </a:p>
          <a:p>
            <a:r>
              <a:t>CONCEPT DEMONSTRATED</a:t>
            </a:r>
          </a:p>
          <a:p>
            <a:r>
              <a:t>Module 2 - virtualization technology; hardware independence, server consolidation, isolation.</a:t>
            </a:r>
          </a:p>
          <a:p>
            <a:endParaRPr/>
          </a:p>
          <a:p>
            <a:r>
              <a:t>RELATION TO ROADASSIST</a:t>
            </a:r>
          </a:p>
          <a:p>
            <a:r>
              <a:t>Docker Compose runs PostGIS, Redis and Redpanda as isolated containers. The API itself runs as a Node process. In a deployed environment these become virtual servers on provider infrastructure.</a:t>
            </a:r>
          </a:p>
          <a:p>
            <a:endParaRPr/>
          </a:p>
          <a:p>
            <a:r>
              <a:t>IF ASKED</a:t>
            </a:r>
          </a:p>
          <a:p>
            <a:r>
              <a:t>"Difference between a virtual machine and a container?" - A virtual machine virtualizes hardware and runs its own kernel; a container virtualizes the operating system and shares the host kernel. Containers are lighter and start faster, VMs give stronger isolation. We use containers.</a:t>
            </a:r>
          </a:p>
          <a:p>
            <a:endParaRPr/>
          </a:p>
          <a:p>
            <a:r>
              <a:t>IF ASKED</a:t>
            </a:r>
          </a:p>
          <a:p>
            <a:r>
              <a:t>"Why is virtualization useful?" - Consolidation, isolation and portability. Several workloads share one machine safely, and a workload can be moved between machines because it no longer depends on specific hardware.</a:t>
            </a:r>
          </a:p>
          <a:p>
            <a:endParaRPr/>
          </a:p>
          <a:p>
            <a:r>
              <a:t>TRANSITION</a:t>
            </a:r>
          </a:p>
          <a:p>
            <a:r>
              <a:t>"Above virtualization sit the technologies the user actually touches."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three user-facing Module 2 technologies side by side, each with its true status.</a:t>
            </a:r>
          </a:p>
          <a:p>
            <a:endParaRPr/>
          </a:p>
          <a:p>
            <a:r>
              <a:t>SAY</a:t>
            </a:r>
          </a:p>
          <a:p>
            <a:r>
              <a:t>"Web technology is fully implemented - 58 REST routes, and a Progressive Web App that installs to the home screen and keeps a 19-asset shell cached for offline use. Service technology is fully implemented - eight independent capabilities behind one API contract. Multitenancy I mark honestly as schema-present: the fleet and government tenancy tables exist and role-scoped queries are enforced, but we have not yet run genuinely separate tenants in production."</a:t>
            </a:r>
          </a:p>
          <a:p>
            <a:endParaRPr/>
          </a:p>
          <a:p>
            <a:r>
              <a:t>CONCEPT DEMONSTRATED</a:t>
            </a:r>
          </a:p>
          <a:p>
            <a:r>
              <a:t>Module 2 - web technology, multitenant technology, service technology.</a:t>
            </a:r>
          </a:p>
          <a:p>
            <a:endParaRPr/>
          </a:p>
          <a:p>
            <a:r>
              <a:t>RELATION TO ROADASSIST</a:t>
            </a:r>
          </a:p>
          <a:p>
            <a:r>
              <a:t>All verified: the manifest declares four shortcuts and five icons; the service worker caches 19 shell assets; fleets, fleet_members, gov_jurisdictions and gov_officers all exist as tables.</a:t>
            </a:r>
          </a:p>
          <a:p>
            <a:endParaRPr/>
          </a:p>
          <a:p>
            <a:r>
              <a:t>IF ASKED</a:t>
            </a:r>
          </a:p>
          <a:p>
            <a:r>
              <a:t>"What is multitenancy?" - One running instance of the software serving multiple independent customer organisations, with their data isolated from one another. Our tenants would be vehicle fleets and government jurisdictions, and isolation is enforced by scoping every query to the caller's identity rather than trusting the route.</a:t>
            </a:r>
          </a:p>
          <a:p>
            <a:endParaRPr/>
          </a:p>
          <a:p>
            <a:r>
              <a:t>TRANSITION</a:t>
            </a:r>
          </a:p>
          <a:p>
            <a:r>
              <a:t>"Module 3 goes one level deeper - the specific infrastructure mechanisms."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Module 2's service technology, made concrete. This is the one slide where RoadAssist is visibly a cloud CONSUMER of somebody else's SaaS, which is the Module 1 roles-and-boundaries idea in action.</a:t>
            </a:r>
          </a:p>
          <a:p>
            <a:endParaRPr/>
          </a:p>
          <a:p>
            <a:r>
              <a:t>SAY</a:t>
            </a:r>
          </a:p>
          <a:p>
            <a:r>
              <a:t>"This is service technology in practice. Payments are not something we built - they are a cloud service we consume. Razorpay is the provider, we are the consumer, and the boundary between us is a set of web APIs. Follow the flow on the left. The invoice total is the amount; it is never read from the request, so a client cannot choose what it owes. We create the order server to server. The browser receives only the key ID - the key secret never leaves our server. And when checkout finishes, the signature is re-computed on our side before anything settles."</a:t>
            </a:r>
          </a:p>
          <a:p>
            <a:endParaRPr/>
          </a:p>
          <a:p>
            <a:r>
              <a:t>THE POINT ABOUT THE WEBHOOK</a:t>
            </a:r>
          </a:p>
          <a:p>
            <a:r>
              <a:t>"On the right is the design decision I would most like to be asked about. There are two settlement paths. The browser callback is convenient. The webhook is the one that matters, because a customer can pay and immediately close the tab, and the money has still moved. If settlement depended on their browser surviving, we would take real money and never close the invoice. Razorpay retries the webhook until it gets a 2xx, so that is the path that actually guarantees correctness."</a:t>
            </a:r>
          </a:p>
          <a:p>
            <a:endParaRPr/>
          </a:p>
          <a:p>
            <a:r>
              <a:t>CONCEPT DEMONSTRATED</a:t>
            </a:r>
          </a:p>
          <a:p>
            <a:r>
              <a:t>Module 2 - service technology (a capability consumed as an independent service over web APIs). Module 1 - cloud consumer and cloud provider roles, and the boundary between them. Module 3 - the network perimeter, since the webhook is authenticated by signature rather than by a session.</a:t>
            </a:r>
          </a:p>
          <a:p>
            <a:endParaRPr/>
          </a:p>
          <a:p>
            <a:r>
              <a:t>RELATION TO ROADASSIST</a:t>
            </a:r>
          </a:p>
          <a:p>
            <a:r>
              <a:t>Implemented and tested: 22 automated assertions against a local stub of the Orders API - no account and no money needed to prove it. The default provider is 'mock', which settles locally; production refuses to boot on a real gateway with no webhook secret configured.</a:t>
            </a:r>
          </a:p>
          <a:p>
            <a:endParaRPr/>
          </a:p>
          <a:p>
            <a:r>
              <a:t>IF ASKED</a:t>
            </a:r>
          </a:p>
          <a:p>
            <a:r>
              <a:t>"Why is the webhook authenticated differently from the rest of your API?" - Because Razorpay has no user session and no bearer token to present. The signature over the raw request body IS the authentication. That is also why our JSON parser retains the raw body: a re-serialised body would produce a different hash.</a:t>
            </a:r>
          </a:p>
          <a:p>
            <a:endParaRPr/>
          </a:p>
          <a:p>
            <a:r>
              <a:t>IF ASKED</a:t>
            </a:r>
          </a:p>
          <a:p>
            <a:r>
              <a:t>"How do you stop someone paying one rupee for a four-hundred rupee job?" - Three ways. The amount is taken from the invoice, not the request. The signature covers the order id, so a payment cannot be re-pointed at a different order. And the webhook re-checks the captured amount against the invoice and refuses a mismatch with a 409.</a:t>
            </a:r>
          </a:p>
          <a:p>
            <a:endParaRPr/>
          </a:p>
          <a:p>
            <a:r>
              <a:t>IF ASKED</a:t>
            </a:r>
          </a:p>
          <a:p>
            <a:r>
              <a:t>"Is this live?" - The integration is complete and tested against a stub. Live keys require a KYC-verified Razorpay business account, so the deck does not claim live transactions.</a:t>
            </a:r>
          </a:p>
          <a:p>
            <a:endParaRPr/>
          </a:p>
          <a:p>
            <a:r>
              <a:t>TRANSITION</a:t>
            </a:r>
          </a:p>
          <a:p>
            <a:r>
              <a:t>"That completes Module 2. Module 3 goes one level deeper, into the infrastructure mechanisms themselves."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five Module 3 mechanisms with honest status chips, setting up the next four slides.</a:t>
            </a:r>
          </a:p>
          <a:p>
            <a:endParaRPr/>
          </a:p>
          <a:p>
            <a:r>
              <a:t>SAY</a:t>
            </a:r>
          </a:p>
          <a:p>
            <a:r>
              <a:t>"Module 3 defines five infrastructure mechanisms: the network perimeter, virtual servers, cloud storage devices, cloud usage monitors, and resource replication. I have marked each with what we actually have. Three are partial - real but limited. Two are architectural concepts we designed toward but did not build."</a:t>
            </a:r>
          </a:p>
          <a:p>
            <a:endParaRPr/>
          </a:p>
          <a:p>
            <a:r>
              <a:t>CONCEPT DEMONSTRATED</a:t>
            </a:r>
          </a:p>
          <a:p>
            <a:r>
              <a:t>Module 3 - the complete set of infrastructure mechanisms.</a:t>
            </a:r>
          </a:p>
          <a:p>
            <a:endParaRPr/>
          </a:p>
          <a:p>
            <a:r>
              <a:t>RELATION TO ROADASSIST</a:t>
            </a:r>
          </a:p>
          <a:p>
            <a:r>
              <a:t>Being specific about 'partial' matters. Our health endpoint reports database latency and provider status on every call - that is genuinely a usage monitor, but it is not Prometheus and Grafana, and I will not claim it is.</a:t>
            </a:r>
          </a:p>
          <a:p>
            <a:endParaRPr/>
          </a:p>
          <a:p>
            <a:r>
              <a:t>IF ASKED</a:t>
            </a:r>
          </a:p>
          <a:p>
            <a:r>
              <a:t>"Why not just say you implemented all five?" - Because that would be false, and an evaluator can check. Precision about what exists is worth more than an inflated claim.</a:t>
            </a:r>
          </a:p>
          <a:p>
            <a:endParaRPr/>
          </a:p>
          <a:p>
            <a:r>
              <a:t>TRANSITION</a:t>
            </a:r>
          </a:p>
          <a:p>
            <a:r>
              <a:t>"Starting at the boundary - the network perimeter."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Defence in depth as five concentric layers, each with a real control.</a:t>
            </a:r>
          </a:p>
          <a:p>
            <a:endParaRPr/>
          </a:p>
          <a:p>
            <a:r>
              <a:t>SAY</a:t>
            </a:r>
          </a:p>
          <a:p>
            <a:r>
              <a:t>"The network perimeter is the controlled boundary between the untrusted internet and internal services. Ours is layered. TLS terminates at the edge. Rate limits apply per phone number and per IP. Every request body is schema-validated with Zod. Then authentication, then a role gate, then - crucially - an ownership check at the resource itself, not just at the route. Finally the database, with an append-only audit chain."</a:t>
            </a:r>
          </a:p>
          <a:p>
            <a:endParaRPr/>
          </a:p>
          <a:p>
            <a:r>
              <a:t>CONCEPT DEMONSTRATED</a:t>
            </a:r>
          </a:p>
          <a:p>
            <a:r>
              <a:t>Module 3 - network perimeter; controlled access and secure communication.</a:t>
            </a:r>
          </a:p>
          <a:p>
            <a:endParaRPr/>
          </a:p>
          <a:p>
            <a:r>
              <a:t>RELATION TO ROADASSIST</a:t>
            </a:r>
          </a:p>
          <a:p>
            <a:r>
              <a:t>This is tested. We ran an attack where a client forges the X-Forwarded-For header to mint itself a fresh rate-limit bucket. With trust configured to loopback only, the forged header is ignored and all requests land in one bucket.</a:t>
            </a:r>
          </a:p>
          <a:p>
            <a:endParaRPr/>
          </a:p>
          <a:p>
            <a:r>
              <a:t>IF ASKED</a:t>
            </a:r>
          </a:p>
          <a:p>
            <a:r>
              <a:t>"Why check ownership at the resource and not the route?" - Because a route-level check only asks 'may this role do this kind of thing'. A resource check asks 'may this specific user touch this specific booking'. Without the second, any authenticated mechanic could drive any customer's job.</a:t>
            </a:r>
          </a:p>
          <a:p>
            <a:endParaRPr/>
          </a:p>
          <a:p>
            <a:r>
              <a:t>IF ASKED</a:t>
            </a:r>
          </a:p>
          <a:p>
            <a:r>
              <a:t>"Do you use a firewall or WAF?" - Not one we operate. That belongs to the hosting provider, so I do not claim it.</a:t>
            </a:r>
          </a:p>
          <a:p>
            <a:endParaRPr/>
          </a:p>
          <a:p>
            <a:r>
              <a:t>TRANSITION</a:t>
            </a:r>
          </a:p>
          <a:p>
            <a:r>
              <a:t>"Behind the perimeter sits virtual compute."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How virtualized compute would carry the platform's workloads, read bottom-up, with the honesty band at the base.</a:t>
            </a:r>
          </a:p>
          <a:p>
            <a:endParaRPr/>
          </a:p>
          <a:p>
            <a:r>
              <a:t>SAY</a:t>
            </a:r>
          </a:p>
          <a:p>
            <a:r>
              <a:t>"A virtual server is an isolated, allocatable unit of compute carved out of physical infrastructure. Our API runtime would sit on one. Critically, request handling is stateless - the session lives in a signed token, not in server memory - which is precisely what allows more virtual servers to be added without redesigning anything."</a:t>
            </a:r>
          </a:p>
          <a:p>
            <a:endParaRPr/>
          </a:p>
          <a:p>
            <a:r>
              <a:t>CONCEPT DEMONSTRATED</a:t>
            </a:r>
          </a:p>
          <a:p>
            <a:r>
              <a:t>Module 3 - virtual server; workload isolation and allocation.</a:t>
            </a:r>
          </a:p>
          <a:p>
            <a:endParaRPr/>
          </a:p>
          <a:p>
            <a:r>
              <a:t>RELATION TO ROADASSIST</a:t>
            </a:r>
          </a:p>
          <a:p>
            <a:r>
              <a:t>The statelessness is real and is the enabling property. Today it runs as one Node process, which I label clearly.</a:t>
            </a:r>
          </a:p>
          <a:p>
            <a:endParaRPr/>
          </a:p>
          <a:p>
            <a:r>
              <a:t>IF ASKED</a:t>
            </a:r>
          </a:p>
          <a:p>
            <a:r>
              <a:t>"What is a virtual server?" - A software-defined server that behaves like a physical one but shares underlying hardware with others, allocated on demand and isolated from its neighbours.</a:t>
            </a:r>
          </a:p>
          <a:p>
            <a:endParaRPr/>
          </a:p>
          <a:p>
            <a:r>
              <a:t>IF ASKED</a:t>
            </a:r>
          </a:p>
          <a:p>
            <a:r>
              <a:t>"Why does statelessness matter?" - Because if a user's session lived in one server's memory, their next request would have to reach that same server. Since ours lives in a JWT the client presents, any instance can serve any request - which is the precondition for load balancing and horizontal scaling.</a:t>
            </a:r>
          </a:p>
          <a:p>
            <a:endParaRPr/>
          </a:p>
          <a:p>
            <a:r>
              <a:t>TRANSITION</a:t>
            </a:r>
          </a:p>
          <a:p>
            <a:r>
              <a:t>"Compute is only half of it. Data has to persist and survive."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What we genuinely store on the left; how replication would work on the right, clearly marked as concept.</a:t>
            </a:r>
          </a:p>
          <a:p>
            <a:endParaRPr/>
          </a:p>
          <a:p>
            <a:r>
              <a:t>SAY</a:t>
            </a:r>
          </a:p>
          <a:p>
            <a:r>
              <a:t>"On the left is real: 61 tables covering identity, vehicles, bookings, money, emergencies, RAKSHA operations, and a hash-chained audit log. On the right is the replication architecture - a primary taking authoritative writes, replicas for read scale-out and failover, and backups for point-in-time restore. I want to be explicit: today we run a single PostgreSQL instance. No replica is configured. The dashed lines mean designed-for, not built."</a:t>
            </a:r>
          </a:p>
          <a:p>
            <a:endParaRPr/>
          </a:p>
          <a:p>
            <a:r>
              <a:t>CONCEPT DEMONSTRATED</a:t>
            </a:r>
          </a:p>
          <a:p>
            <a:r>
              <a:t>Module 3 - cloud storage device and resource replication.</a:t>
            </a:r>
          </a:p>
          <a:p>
            <a:endParaRPr/>
          </a:p>
          <a:p>
            <a:r>
              <a:t>RELATION TO ROADASSIST</a:t>
            </a:r>
          </a:p>
          <a:p>
            <a:r>
              <a:t>Storage is PostgreSQL 16 with PostGIS 3.4.3. The audit table is genuinely append-only with database rules preventing update and delete, and the chain is verified on read.</a:t>
            </a:r>
          </a:p>
          <a:p>
            <a:endParaRPr/>
          </a:p>
          <a:p>
            <a:r>
              <a:t>IF ASKED</a:t>
            </a:r>
          </a:p>
          <a:p>
            <a:r>
              <a:t>"What is resource replication?" - Creating multiple instances of the same resource - usually storage or a server - so that load can be spread and a failure of one does not lose the service.</a:t>
            </a:r>
          </a:p>
          <a:p>
            <a:endParaRPr/>
          </a:p>
          <a:p>
            <a:r>
              <a:t>IF ASKED</a:t>
            </a:r>
          </a:p>
          <a:p>
            <a:r>
              <a:t>"Why have you not implemented replication?" - It is an infrastructure configuration rather than an application change, and it needs a hosted database to be meaningful. The application is already written so that it would not need modifying - reads and writes both go through one data layer.</a:t>
            </a:r>
          </a:p>
          <a:p>
            <a:endParaRPr/>
          </a:p>
          <a:p>
            <a:r>
              <a:t>TRANSITION</a:t>
            </a:r>
          </a:p>
          <a:p>
            <a:r>
              <a:t>"To decide when replication or scaling is needed, you must first measure."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monitoring mechanism as architecture, plus a clearly separated band of what we genuinely measure.</a:t>
            </a:r>
          </a:p>
          <a:p>
            <a:endParaRPr/>
          </a:p>
          <a:p>
            <a:r>
              <a:t>SAY</a:t>
            </a:r>
          </a:p>
          <a:p>
            <a:r>
              <a:t>"A cloud usage monitor collects runtime data - CPU, memory, storage, network, request counts, concurrency, service load, errors. That data is what makes resource planning, performance work, scaling decisions and availability guarantees possible. The bars here illustrate the mechanism; they are not our measurements. What we do genuinely have is in the band below: a health endpoint reporting live database latency and provider status, per-request logging with response times, and a model_predictions table recording AI latency and whether the fallback was used."</a:t>
            </a:r>
          </a:p>
          <a:p>
            <a:endParaRPr/>
          </a:p>
          <a:p>
            <a:r>
              <a:t>CONCEPT DEMONSTRATED</a:t>
            </a:r>
          </a:p>
          <a:p>
            <a:r>
              <a:t>Module 3 - cloud usage monitor; measured service, which is also the fifth essential characteristic from Module 1.</a:t>
            </a:r>
          </a:p>
          <a:p>
            <a:endParaRPr/>
          </a:p>
          <a:p>
            <a:r>
              <a:t>RELATION TO ROADASSIST</a:t>
            </a:r>
          </a:p>
          <a:p>
            <a:r>
              <a:t>The health endpoint is real and I can call it live. The per-request logging is Fastify's, with a generated request id on every call.</a:t>
            </a:r>
          </a:p>
          <a:p>
            <a:endParaRPr/>
          </a:p>
          <a:p>
            <a:r>
              <a:t>IF ASKED</a:t>
            </a:r>
          </a:p>
          <a:p>
            <a:r>
              <a:t>"Are those real numbers?" - No, and I have labelled them illustrative. Inventing measurements would be dishonest. What I can show live is the health endpoint returning genuine database latency.</a:t>
            </a:r>
          </a:p>
          <a:p>
            <a:endParaRPr/>
          </a:p>
          <a:p>
            <a:r>
              <a:t>IF ASKED</a:t>
            </a:r>
          </a:p>
          <a:p>
            <a:r>
              <a:t>"What is cloud usage monitoring for?" - Two things: billing, because measured service is how consumption is charged; and control, because you cannot scale or plan capacity against data you do not have.</a:t>
            </a:r>
          </a:p>
          <a:p>
            <a:endParaRPr/>
          </a:p>
          <a:p>
            <a:r>
              <a:t>TRANSITION</a:t>
            </a:r>
          </a:p>
          <a:p>
            <a:r>
              <a:t>"With measurement in place, Module 4 asks what architectures you can then build."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major transition slide. RoadAssist sits at the centre, surrounded by the eight fundamental architectures.</a:t>
            </a:r>
          </a:p>
          <a:p>
            <a:endParaRPr/>
          </a:p>
          <a:p>
            <a:r>
              <a:t>SAY</a:t>
            </a:r>
          </a:p>
          <a:p>
            <a:r>
              <a:t>"Module 4 defines the fundamental cloud architectures. Eight of them surround the platform here: workload distribution, resource pooling, dynamic scalability, elastic resource capacity, service load balancing, cloud bursting, elastic disk provisioning and redundant storage. Plus cloud operations - migration and scheduling - which I cover separately. Over the next five slides I take these in pairs and show what each would mean for RoadAssist specifically."</a:t>
            </a:r>
          </a:p>
          <a:p>
            <a:endParaRPr/>
          </a:p>
          <a:p>
            <a:r>
              <a:t>CONCEPT DEMONSTRATED</a:t>
            </a:r>
          </a:p>
          <a:p>
            <a:r>
              <a:t>Module 4 - the complete set of fundamental cloud architectures.</a:t>
            </a:r>
          </a:p>
          <a:p>
            <a:endParaRPr/>
          </a:p>
          <a:p>
            <a:r>
              <a:t>RELATION TO ROADASSIST</a:t>
            </a:r>
          </a:p>
          <a:p>
            <a:r>
              <a:t>These are architectures the platform is designed to accept rather than ones it currently runs. The design decisions that make them possible - statelessness, a single data layer, idempotent operations - are implemented.</a:t>
            </a:r>
          </a:p>
          <a:p>
            <a:endParaRPr/>
          </a:p>
          <a:p>
            <a:r>
              <a:t>IF ASKED</a:t>
            </a:r>
          </a:p>
          <a:p>
            <a:r>
              <a:t>"Which of these eight do you implement?" - None as running infrastructure, and I say so plainly. What I did implement are the application properties that make them adoptable without a rewrite: stateless request handling, idempotency keys, and server-authoritative state.</a:t>
            </a:r>
          </a:p>
          <a:p>
            <a:endParaRPr/>
          </a:p>
          <a:p>
            <a:r>
              <a:t>TRANSITION</a:t>
            </a:r>
          </a:p>
          <a:p>
            <a:r>
              <a:t>"Starting with the two that govern how work is spread."</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Two architectures side by side: distributing incoming work, and pooling the resources that work draws on.</a:t>
            </a:r>
          </a:p>
          <a:p>
            <a:endParaRPr/>
          </a:p>
          <a:p>
            <a:r>
              <a:t>SAY</a:t>
            </a:r>
          </a:p>
          <a:p>
            <a:r>
              <a:t>"Workload distribution routes incoming requests across multiple workers. On the left are our five real request types - AI diagnosis, booking, map tiles, mechanic polling and SOS - which have genuinely different shapes. Map tiles are bursty and cacheable; SOS is rare but must never wait. On the right, resource pooling means those all draw on one shared pool of compute, storage, network and services rather than each having dedicated capacity."</a:t>
            </a:r>
          </a:p>
          <a:p>
            <a:endParaRPr/>
          </a:p>
          <a:p>
            <a:r>
              <a:t>CONCEPT DEMONSTRATED</a:t>
            </a:r>
          </a:p>
          <a:p>
            <a:r>
              <a:t>Module 4 - workload distribution architecture and resource pooling architecture.</a:t>
            </a:r>
          </a:p>
          <a:p>
            <a:endParaRPr/>
          </a:p>
          <a:p>
            <a:r>
              <a:t>RELATION TO ROADASSIST</a:t>
            </a:r>
          </a:p>
          <a:p>
            <a:r>
              <a:t>There is a genuine, if small, instance of pooling already: the map tile proxy maintains a shared in-memory cache, so a tile fetched for one user is served from memory to the next. That is resource pooling at application scale.</a:t>
            </a:r>
          </a:p>
          <a:p>
            <a:endParaRPr/>
          </a:p>
          <a:p>
            <a:r>
              <a:t>IF ASKED</a:t>
            </a:r>
          </a:p>
          <a:p>
            <a:r>
              <a:t>"What is resource pooling?" - Grouping computing resources so they serve multiple consumers from a common pool, assigned on demand, rather than dedicating fixed capacity to each. It raises utilisation, because peaks in one workload use capacity another is not using.</a:t>
            </a:r>
          </a:p>
          <a:p>
            <a:endParaRPr/>
          </a:p>
          <a:p>
            <a:r>
              <a:t>IF ASKED</a:t>
            </a:r>
          </a:p>
          <a:p>
            <a:r>
              <a:t>"How would you distribute SOS differently?" - SOS should be prioritised, not just distributed. In a queue-based design it would take a dedicated high-priority path so a surge of map requests could never delay an emergency.</a:t>
            </a:r>
          </a:p>
          <a:p>
            <a:endParaRPr/>
          </a:p>
          <a:p>
            <a:r>
              <a:t>TRANSITION</a:t>
            </a:r>
          </a:p>
          <a:p>
            <a:r>
              <a:t>"Distribution assumes fixed capacity. Scalability changes the capacity itself."</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A demand timeline with instance count rising and falling, and the precise distinction between the two architectures.</a:t>
            </a:r>
          </a:p>
          <a:p>
            <a:endParaRPr/>
          </a:p>
          <a:p>
            <a:r>
              <a:t>SAY</a:t>
            </a:r>
          </a:p>
          <a:p>
            <a:r>
              <a:t>"Demand on a roadside assistance platform is not steady. Night is quiet. Weekday commuting is normal. Monsoon brings poor road conditions and more breakdowns. Festival travel is the peak. Then it recedes. Dynamic scalability adds and removes whole instances as demand crosses thresholds. Elastic resource capacity instead resizes the instances you already have - more CPU and memory to the same server. Scaling out versus scaling up."</a:t>
            </a:r>
          </a:p>
          <a:p>
            <a:endParaRPr/>
          </a:p>
          <a:p>
            <a:r>
              <a:t>CONCEPT DEMONSTRATED</a:t>
            </a:r>
          </a:p>
          <a:p>
            <a:r>
              <a:t>Module 4 - dynamic scalability architecture and elastic resource capacity architecture.</a:t>
            </a:r>
          </a:p>
          <a:p>
            <a:endParaRPr/>
          </a:p>
          <a:p>
            <a:r>
              <a:t>RELATION TO ROADASSIST</a:t>
            </a:r>
          </a:p>
          <a:p>
            <a:r>
              <a:t>I state clearly that automatic scaling is not implemented. What is implemented is the property that makes it possible: the session lives in a JWT the client presents, so no instance holds user state and any instance can serve any request.</a:t>
            </a:r>
          </a:p>
          <a:p>
            <a:endParaRPr/>
          </a:p>
          <a:p>
            <a:r>
              <a:t>IF ASKED</a:t>
            </a:r>
          </a:p>
          <a:p>
            <a:r>
              <a:t>"What is the difference between dynamic scalability and elastic capacity?" - Dynamic scalability changes the NUMBER of resources - horizontal, scale out. Elastic resource capacity changes the SIZE of existing resources - vertical, scale up. Scaling out generally suits stateless web workloads; scaling up suits a database that is hard to shard.</a:t>
            </a:r>
          </a:p>
          <a:p>
            <a:endParaRPr/>
          </a:p>
          <a:p>
            <a:r>
              <a:t>IF ASKED</a:t>
            </a:r>
          </a:p>
          <a:p>
            <a:r>
              <a:t>"Have you implemented autoscaling?" - No. Claiming it would be false and easily checked. The design decisions that permit it are done.</a:t>
            </a:r>
          </a:p>
          <a:p>
            <a:endParaRPr/>
          </a:p>
          <a:p>
            <a:r>
              <a:t>TRANSITION</a:t>
            </a:r>
          </a:p>
          <a:p>
            <a:r>
              <a:t>"Adding instances only helps if traffic is spread across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Load balancing on the left, cloud bursting on the right, with an unambiguous honesty band.</a:t>
            </a:r>
          </a:p>
          <a:p>
            <a:endParaRPr/>
          </a:p>
          <a:p>
            <a:r>
              <a:t>SAY</a:t>
            </a:r>
          </a:p>
          <a:p>
            <a:r>
              <a:t>"A load balancer spreads incoming requests evenly across instances and, just as importantly, health-checks them - an unhealthy server is removed from rotation, so load balancing serves availability as well as throughput. Cloud bursting is different: you run a baseline private environment, and when it hits its capacity limit you overflow into public cloud capacity temporarily, releasing it afterwards. For us the natural trigger is a festival weekend or a regional weather event - a short, fairly predictable burst."</a:t>
            </a:r>
          </a:p>
          <a:p>
            <a:endParaRPr/>
          </a:p>
          <a:p>
            <a:r>
              <a:t>CONCEPT DEMONSTRATED</a:t>
            </a:r>
          </a:p>
          <a:p>
            <a:r>
              <a:t>Module 4 - service load balancing architecture and cloud bursting architecture.</a:t>
            </a:r>
          </a:p>
          <a:p>
            <a:endParaRPr/>
          </a:p>
          <a:p>
            <a:r>
              <a:t>RELATION TO ROADASSIST</a:t>
            </a:r>
          </a:p>
          <a:p>
            <a:r>
              <a:t>Neither is implemented, and the band says so. Today there is one API process reached through an HTTPS tunnel.</a:t>
            </a:r>
          </a:p>
          <a:p>
            <a:endParaRPr/>
          </a:p>
          <a:p>
            <a:r>
              <a:t>IF ASKED</a:t>
            </a:r>
          </a:p>
          <a:p>
            <a:r>
              <a:t>"What is cloud bursting?" - A hybrid pattern where an organisation runs its normal load on private infrastructure and temporarily 'bursts' into public cloud when demand exceeds that baseline, then releases the extra capacity.</a:t>
            </a:r>
          </a:p>
          <a:p>
            <a:endParaRPr/>
          </a:p>
          <a:p>
            <a:r>
              <a:t>IF ASKED</a:t>
            </a:r>
          </a:p>
          <a:p>
            <a:r>
              <a:t>"Why is bursting attractive here?" - Because our peaks are short and event-driven. Buying permanent capacity for a few festival weekends is wasteful; renting it for those days is not.</a:t>
            </a:r>
          </a:p>
          <a:p>
            <a:endParaRPr/>
          </a:p>
          <a:p>
            <a:r>
              <a:t>TRANSITION</a:t>
            </a:r>
          </a:p>
          <a:p>
            <a:r>
              <a:t>"Compute scales - but so must storage."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Storage elasticity on the left, storage redundancy on the right, with the honest current state at the foot.</a:t>
            </a:r>
          </a:p>
          <a:p>
            <a:endParaRPr/>
          </a:p>
          <a:p>
            <a:r>
              <a:t>SAY</a:t>
            </a:r>
          </a:p>
          <a:p>
            <a:r>
              <a:t>"Elastic disk provisioning means storage capacity is allocated as data actually arrives and billed on use, rather than bought up-front at a size nobody can predict. Redundant storage means a synchronised replica exists so a failure of the primary does not lose the data. For us the strongest case for redundancy is the audit chain - it is only legally meaningful if it cannot be lost."</a:t>
            </a:r>
          </a:p>
          <a:p>
            <a:endParaRPr/>
          </a:p>
          <a:p>
            <a:r>
              <a:t>CONCEPT DEMONSTRATED</a:t>
            </a:r>
          </a:p>
          <a:p>
            <a:r>
              <a:t>Module 4 - elastic disk provisioning architecture and redundant storage architecture.</a:t>
            </a:r>
          </a:p>
          <a:p>
            <a:endParaRPr/>
          </a:p>
          <a:p>
            <a:r>
              <a:t>RELATION TO ROADASSIST</a:t>
            </a:r>
          </a:p>
          <a:p>
            <a:r>
              <a:t>Today: one PostgreSQL instance on a fixed local Docker volume. Both are target state and the band says so.</a:t>
            </a:r>
          </a:p>
          <a:p>
            <a:endParaRPr/>
          </a:p>
          <a:p>
            <a:r>
              <a:t>IF ASKED</a:t>
            </a:r>
          </a:p>
          <a:p>
            <a:r>
              <a:t>"What is elastic disk provisioning?" - Storage allocated dynamically as needed and charged by actual consumption, instead of a fixed pre-purchased volume.</a:t>
            </a:r>
          </a:p>
          <a:p>
            <a:endParaRPr/>
          </a:p>
          <a:p>
            <a:r>
              <a:t>IF ASKED</a:t>
            </a:r>
          </a:p>
          <a:p>
            <a:r>
              <a:t>"What is redundant storage?" - Keeping duplicate copies of data on separate devices or locations, so that a hardware failure or site loss does not destroy it. It is about durability and availability, and it is distinct from backup, which is about recovering an earlier point in time.</a:t>
            </a:r>
          </a:p>
          <a:p>
            <a:endParaRPr/>
          </a:p>
          <a:p>
            <a:r>
              <a:t>TRANSITION</a:t>
            </a:r>
          </a:p>
          <a:p>
            <a:r>
              <a:t>"Finally, how the cloud is operated day to day."</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three cloud operations, each as a small vertical flow, with a genuine application-level analogue at the foot.</a:t>
            </a:r>
          </a:p>
          <a:p>
            <a:endParaRPr/>
          </a:p>
          <a:p>
            <a:r>
              <a:t>SAY</a:t>
            </a:r>
          </a:p>
          <a:p>
            <a:r>
              <a:t>"Three operations. Migration moves a workload from one host to another - for maintenance, consolidation, cost, or to escape a failing node. Static scheduling decides allocation in advance and holds it: predictable, but blind to runtime reality. Dynamic scheduling recomputes as demand changes: better utilisation, but it needs live measurement to decide on - which is exactly why the usage monitor from Module 3 matters."</a:t>
            </a:r>
          </a:p>
          <a:p>
            <a:endParaRPr/>
          </a:p>
          <a:p>
            <a:r>
              <a:t>CONCEPT DEMONSTRATED</a:t>
            </a:r>
          </a:p>
          <a:p>
            <a:r>
              <a:t>Module 4 - cloud operations: migration, static scheduling, dynamic scheduling.</a:t>
            </a:r>
          </a:p>
          <a:p>
            <a:endParaRPr/>
          </a:p>
          <a:p>
            <a:r>
              <a:t>RELATION TO ROADASSIST</a:t>
            </a:r>
          </a:p>
          <a:p>
            <a:r>
              <a:t>There is a real analogue. Our dispatch engine is a scheduler: it queries PostGIS for available mechanics near the breakdown, ranks them by rating, distance and experience, and allocates the job. That is a dynamic scheduling decision made on live state - just at application level rather than infrastructure level.</a:t>
            </a:r>
          </a:p>
          <a:p>
            <a:endParaRPr/>
          </a:p>
          <a:p>
            <a:r>
              <a:t>IF ASKED</a:t>
            </a:r>
          </a:p>
          <a:p>
            <a:r>
              <a:t>"What is the difference between static and dynamic scheduling?" - Static fixes the allocation before execution and does not revisit it; dynamic re-evaluates during execution using current load. Static is cheaper to run and easier to predict; dynamic gets better utilisation.</a:t>
            </a:r>
          </a:p>
          <a:p>
            <a:endParaRPr/>
          </a:p>
          <a:p>
            <a:r>
              <a:t>IF ASKED</a:t>
            </a:r>
          </a:p>
          <a:p>
            <a:r>
              <a:t>"Give an example of migration in your system." - Not implemented at infrastructure level. Conceptually, moving the database container to a larger host during a festival period, with the application unchanged because it addresses the database by connection string, not location.</a:t>
            </a:r>
          </a:p>
          <a:p>
            <a:endParaRPr/>
          </a:p>
          <a:p>
            <a:r>
              <a:t>TRANSITION</a:t>
            </a:r>
          </a:p>
          <a:p>
            <a:r>
              <a:t>"Let me now put every layer together in one architecture."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single most important technical slide. Six layers top to bottom, cross-cutting architectures down the left, and a status badge on every layer.</a:t>
            </a:r>
          </a:p>
          <a:p>
            <a:endParaRPr/>
          </a:p>
          <a:p>
            <a:r>
              <a:t>SAY</a:t>
            </a:r>
          </a:p>
          <a:p>
            <a:r>
              <a:t>"This is the whole system in one picture. At the top, four client surfaces - all built. Below them, the Fastify API with 58 schema-validated routes. Below that, eight platform services. Then compute, which I mark partial because it is containerised but not orchestrated. Then storage - PostgreSQL with PostGIS, 61 tables and the audit chain. And at the base the cloud infrastructure, which belongs to the provider. Down the left are the cross-cutting concerns from Module 4 that wrap every layer."</a:t>
            </a:r>
          </a:p>
          <a:p>
            <a:endParaRPr/>
          </a:p>
          <a:p>
            <a:r>
              <a:t>CONCEPT DEMONSTRATED</a:t>
            </a:r>
          </a:p>
          <a:p>
            <a:r>
              <a:t>Integration of all four modules - this is where they meet.</a:t>
            </a:r>
          </a:p>
          <a:p>
            <a:endParaRPr/>
          </a:p>
          <a:p>
            <a:r>
              <a:t>RELATION TO ROADASSIST</a:t>
            </a:r>
          </a:p>
          <a:p>
            <a:r>
              <a:t>Every layer marked IMPLEMENTED can be demonstrated live right now.</a:t>
            </a:r>
          </a:p>
          <a:p>
            <a:endParaRPr/>
          </a:p>
          <a:p>
            <a:r>
              <a:t>IF ASKED</a:t>
            </a:r>
          </a:p>
          <a:p>
            <a:r>
              <a:t>"Walk me through a single request." - A customer taps Request Assistance. HTTPS to the API. Schema validation. Token verified, role checked, then vehicle ownership checked at the resource. The booking service creates a record and the state machine moves it from DRAFT to REQUESTED. Dispatch queries PostGIS for nearby available mechanics and ranks them. Offers are written. The response returns. Every step is logged with a request id.</a:t>
            </a:r>
          </a:p>
          <a:p>
            <a:endParaRPr/>
          </a:p>
          <a:p>
            <a:r>
              <a:t>TRANSITION</a:t>
            </a:r>
          </a:p>
          <a:p>
            <a:r>
              <a:t>"And this is what that architecture delivers to a stranded driver."</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full ten-step journey, and the honest claim that it is automatically tested end to end.</a:t>
            </a:r>
          </a:p>
          <a:p>
            <a:endParaRPr/>
          </a:p>
          <a:p>
            <a:r>
              <a:t>SAY</a:t>
            </a:r>
          </a:p>
          <a:p>
            <a:r>
              <a:t>"This is the journey the platform actually delivers. Login by OTP. Select a vehicle. AI diagnosis names a likely cause. A guided five-step request. Mechanic matching using PostGIS and a deterministic ranker. A booking governed by the state machine. Live tracking with distance and ETA. The mechanic drives the job. Payment derived from the invoice, never from the client. And a review, which feeds back into the ranker that chooses who gets dispatched next time."</a:t>
            </a:r>
          </a:p>
          <a:p>
            <a:endParaRPr/>
          </a:p>
          <a:p>
            <a:r>
              <a:t>CONCEPT DEMONSTRATED</a:t>
            </a:r>
          </a:p>
          <a:p>
            <a:r>
              <a:t>The cloud platform as the enabler of every step - the synthesis of all four modules in one user-visible flow.</a:t>
            </a:r>
          </a:p>
          <a:p>
            <a:endParaRPr/>
          </a:p>
          <a:p>
            <a:r>
              <a:t>RELATION TO ROADASSIST</a:t>
            </a:r>
          </a:p>
          <a:p>
            <a:r>
              <a:t>This whole flow is covered by an automated browser test suite: 115 browser assertions driving both applications, plus 165 API assertions, 26 security assertions and 22 payment-gateway assertions. 345 in total, all passing.</a:t>
            </a:r>
          </a:p>
          <a:p>
            <a:endParaRPr/>
          </a:p>
          <a:p>
            <a:r>
              <a:t>IF ASKED</a:t>
            </a:r>
          </a:p>
          <a:p>
            <a:r>
              <a:t>"Is the review loop real?" - Yes, and it closes properly. The dispatch ranker weights a mechanic's rating at 34 percent of their score, and a review recomputes that rating from the actual review rows, shrunk toward the platform mean so a single rating cannot make or break someone.</a:t>
            </a:r>
          </a:p>
          <a:p>
            <a:endParaRPr/>
          </a:p>
          <a:p>
            <a:r>
              <a:t>TRANSITION</a:t>
            </a:r>
          </a:p>
          <a:p>
            <a:r>
              <a:t>"So, to close."</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closing frame. Deliberately quiet - one statement, one equation, nothing else competing.</a:t>
            </a:r>
          </a:p>
          <a:p>
            <a:endParaRPr/>
          </a:p>
          <a:p>
            <a:r>
              <a:t>SAY</a:t>
            </a:r>
          </a:p>
          <a:p>
            <a:r>
              <a:t>"When the road stops, RoadAssist Bharat keeps you moving. AI, cloud, mobility and safety - four threads, one platform. And throughout this presentation I have tried to be precise about which parts are built and which are architecture, because I think that distinction is what makes the cloud analysis worth anything. Thank you - I am happy to take questions, and I can show the live system."</a:t>
            </a:r>
          </a:p>
          <a:p>
            <a:endParaRPr/>
          </a:p>
          <a:p>
            <a:r>
              <a:t>CONCEPT DEMONSTRATED</a:t>
            </a:r>
          </a:p>
          <a:p>
            <a:r>
              <a:t>Synthesis.</a:t>
            </a:r>
          </a:p>
          <a:p>
            <a:endParaRPr/>
          </a:p>
          <a:p>
            <a:r>
              <a:t>RELATION TO ROADASSIST</a:t>
            </a:r>
          </a:p>
          <a:p>
            <a:r>
              <a:t>Everything claimed as implemented can be demonstrated on request.</a:t>
            </a:r>
          </a:p>
          <a:p>
            <a:endParaRPr/>
          </a:p>
          <a:p>
            <a:r>
              <a:t>IF ASKED</a:t>
            </a:r>
          </a:p>
          <a:p>
            <a:r>
              <a:t>"What would you do next?" - Three things in order: configure a read replica so the redundant storage architecture stops being theoretical; put the API behind a real load balancer with two instances; and move dispatch onto the event bus that is already provisioned but unused, which would let SOS take a priority path.</a:t>
            </a:r>
          </a:p>
          <a:p>
            <a:endParaRPr/>
          </a:p>
          <a:p>
            <a:r>
              <a:t>TRANSITION</a:t>
            </a:r>
          </a:p>
          <a:p>
            <a:r>
              <a:t>"To the module mapping and questions."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The required syllabus coverage map. Every Module 1-4 topic, with the slide numbers where it is treated.</a:t>
            </a:r>
          </a:p>
          <a:p>
            <a:endParaRPr/>
          </a:p>
          <a:p>
            <a:r>
              <a:t>SAY</a:t>
            </a:r>
          </a:p>
          <a:p>
            <a:r>
              <a:t>"For completeness, this maps every syllabus topic to where it appears. Module 1 across slides 4 to 8. Module 2 across 9 to 12. Module 3 across 13 to 17. Module 4 across 18 to 23. The point I want to make is that these are not an appendix - they are the spine of the presentation. RoadAssist is the worked example throughout."</a:t>
            </a:r>
          </a:p>
          <a:p>
            <a:endParaRPr/>
          </a:p>
          <a:p>
            <a:r>
              <a:t>CONCEPT DEMONSTRATED</a:t>
            </a:r>
          </a:p>
          <a:p>
            <a:r>
              <a:t>Complete syllabus coverage.</a:t>
            </a:r>
          </a:p>
          <a:p>
            <a:endParaRPr/>
          </a:p>
          <a:p>
            <a:r>
              <a:t>RELATION TO ROADASSIST</a:t>
            </a:r>
          </a:p>
          <a:p>
            <a:r>
              <a:t>Every module was taught through the project rather than alongside it.</a:t>
            </a:r>
          </a:p>
          <a:p>
            <a:endParaRPr/>
          </a:p>
          <a:p>
            <a:r>
              <a:t>IF ASKED</a:t>
            </a:r>
          </a:p>
          <a:p>
            <a:r>
              <a:t>"Which topic did you find hardest to map honestly?" - Cloud bursting. It is a genuinely useful pattern for our demand profile, but there was no honest way to claim any part of it exists, so I presented it purely as target architecture with the reasoning for why it fits.</a:t>
            </a:r>
          </a:p>
          <a:p>
            <a:endParaRPr/>
          </a:p>
          <a:p>
            <a:r>
              <a:t>TRANSITION</a:t>
            </a:r>
          </a:p>
          <a:p>
            <a:r>
              <a:t>"And finally, a short reference of likely questions."</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Rapid-reference answers for the viva. Each is one to three sentences and tied to RoadAssist specifically.</a:t>
            </a:r>
          </a:p>
          <a:p>
            <a:endParaRPr/>
          </a:p>
          <a:p>
            <a:r>
              <a:t>SAY</a:t>
            </a:r>
          </a:p>
          <a:p>
            <a:r>
              <a:t>Do not read this slide aloud. It is a reference to glance at while answering.</a:t>
            </a:r>
          </a:p>
          <a:p>
            <a:endParaRPr/>
          </a:p>
          <a:p>
            <a:r>
              <a:t>GUIDANCE</a:t>
            </a:r>
          </a:p>
          <a:p>
            <a:r>
              <a:t>Answer in two moves: first the textbook definition in one sentence, then immediately what it means for RoadAssist. If the honest answer is that we did not implement something, say so and follow with the design decision that would make it adoptable. An examiner values a precise 'not implemented, but here is why the design permits it' far above a vague claim.</a:t>
            </a:r>
          </a:p>
          <a:p>
            <a:endParaRPr/>
          </a:p>
          <a:p>
            <a:r>
              <a:t>MOST LIKELY FOLLOW-UPS</a:t>
            </a:r>
          </a:p>
          <a:p>
            <a:r>
              <a:t>"Show me." - Have the live app, the health endpoint and the test suite ready.</a:t>
            </a:r>
          </a:p>
          <a:p>
            <a:r>
              <a:t>"What is the weakest part?" - Elasticity and replication. Both are infrastructure configuration rather than application changes, and the application is already written to accept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Rapid-reference answers for the viva. Each is one to three sentences and tied to RoadAssist specifically.</a:t>
            </a:r>
          </a:p>
          <a:p>
            <a:endParaRPr/>
          </a:p>
          <a:p>
            <a:r>
              <a:t>SAY</a:t>
            </a:r>
          </a:p>
          <a:p>
            <a:r>
              <a:t>Do not read this slide aloud. It is a reference to glance at while answering.</a:t>
            </a:r>
          </a:p>
          <a:p>
            <a:endParaRPr/>
          </a:p>
          <a:p>
            <a:r>
              <a:t>GUIDANCE</a:t>
            </a:r>
          </a:p>
          <a:p>
            <a:r>
              <a:t>Answer in two moves: first the textbook definition in one sentence, then immediately what it means for RoadAssist. If the honest answer is that we did not implement something, say so and follow with the design decision that would make it adoptable. An examiner values a precise 'not implemented, but here is why the design permits it' far above a vague claim.</a:t>
            </a:r>
          </a:p>
          <a:p>
            <a:endParaRPr/>
          </a:p>
          <a:p>
            <a:r>
              <a:t>MOST LIKELY FOLLOW-UPS</a:t>
            </a:r>
          </a:p>
          <a:p>
            <a:r>
              <a:t>"Show me." - Have the live app, the health endpoint and the test suite ready.</a:t>
            </a:r>
          </a:p>
          <a:p>
            <a:r>
              <a:t>"What is the weakest part?" - Elasticity and replication. Both are infrastructure configuration rather than application changes, and the application is already written to accept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Rapid-reference answers for the viva. Each is one to three sentences and tied to RoadAssist specifically.</a:t>
            </a:r>
          </a:p>
          <a:p>
            <a:endParaRPr/>
          </a:p>
          <a:p>
            <a:r>
              <a:t>SAY</a:t>
            </a:r>
          </a:p>
          <a:p>
            <a:r>
              <a:t>Do not read this slide aloud. It is a reference to glance at while answering.</a:t>
            </a:r>
          </a:p>
          <a:p>
            <a:endParaRPr/>
          </a:p>
          <a:p>
            <a:r>
              <a:t>GUIDANCE</a:t>
            </a:r>
          </a:p>
          <a:p>
            <a:r>
              <a:t>Answer in two moves: first the textbook definition in one sentence, then immediately what it means for RoadAssist. If the honest answer is that we did not implement something, say so and follow with the design decision that would make it adoptable. An examiner values a precise 'not implemented, but here is why the design permits it' far above a vague claim.</a:t>
            </a:r>
          </a:p>
          <a:p>
            <a:endParaRPr/>
          </a:p>
          <a:p>
            <a:r>
              <a:t>MOST LIKELY FOLLOW-UPS</a:t>
            </a:r>
          </a:p>
          <a:p>
            <a:r>
              <a:t>"Show me." - Have the live app, the health endpoint and the test suite ready.</a:t>
            </a:r>
          </a:p>
          <a:p>
            <a:r>
              <a:t>"What is the weakest part?" - Elasticity and replication. Both are infrastructure configuration rather than application changes, and the application is already written to accept them.</a:t>
            </a:r>
          </a:p>
          <a:p>
            <a:endParaRPr/>
          </a:p>
        </p:txBody>
      </p:sp>
      <p:sp>
        <p:nvSpPr>
          <p:cNvPr id="4" name="Slide Number Placeholder 3"/>
          <p:cNvSpPr>
            <a:spLocks noGrp="1"/>
          </p:cNvSpPr>
          <p:nvPr>
            <p:ph type="sldNum" sz="quarter" idx="5"/>
          </p:nvPr>
        </p:nvSpPr>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MEANING</a:t>
            </a:r>
          </a:p>
          <a:p>
            <a:r>
              <a:t>Rapid-reference answers for the viva. Each is one to three sentences and tied to RoadAssist specifically.</a:t>
            </a:r>
          </a:p>
          <a:p>
            <a:endParaRPr/>
          </a:p>
          <a:p>
            <a:r>
              <a:t>SAY</a:t>
            </a:r>
          </a:p>
          <a:p>
            <a:r>
              <a:t>Do not read this slide aloud. It is a reference to glance at while answering.</a:t>
            </a:r>
          </a:p>
          <a:p>
            <a:endParaRPr/>
          </a:p>
          <a:p>
            <a:r>
              <a:t>GUIDANCE</a:t>
            </a:r>
          </a:p>
          <a:p>
            <a:r>
              <a:t>Answer in two moves: first the textbook definition in one sentence, then immediately what it means for RoadAssist. If the honest answer is that we did not implement something, say so and follow with the design decision that would make it adoptable. An examiner values a precise 'not implemented, but here is why the design permits it' far above a vague claim.</a:t>
            </a:r>
          </a:p>
          <a:p>
            <a:endParaRPr/>
          </a:p>
          <a:p>
            <a:r>
              <a:t>MOST LIKELY FOLLOW-UPS</a:t>
            </a:r>
          </a:p>
          <a:p>
            <a:r>
              <a:t>"Show me." - Have the live app, the health endpoint and the test suite ready.</a:t>
            </a:r>
          </a:p>
          <a:p>
            <a:r>
              <a:t>"What is the weakest part?" - Elasticity and replication. Both are infrastructure configuration rather than application changes, and the application is already written to accept them.</a:t>
            </a: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hero.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822960" y="1417320"/>
            <a:ext cx="7863840" cy="320040"/>
          </a:xfrm>
          <a:prstGeom prst="rect">
            <a:avLst/>
          </a:prstGeom>
          <a:noFill/>
        </p:spPr>
        <p:txBody>
          <a:bodyPr wrap="square" lIns="0" tIns="0" rIns="0" bIns="0" anchor="t">
            <a:spAutoFit/>
          </a:bodyPr>
          <a:lstStyle/>
          <a:p>
            <a:pPr algn="l">
              <a:lnSpc>
                <a:spcPct val="125000"/>
              </a:lnSpc>
            </a:pPr>
            <a:r>
              <a:rPr sz="1100" b="1" i="0" spc="300">
                <a:solidFill>
                  <a:srgbClr val="22D3EE"/>
                </a:solidFill>
                <a:latin typeface="Segoe UI"/>
              </a:rPr>
              <a:t>SWE4004 · CLOUD COMPUTING AND APPLICATIONS</a:t>
            </a:r>
          </a:p>
        </p:txBody>
      </p:sp>
      <p:sp>
        <p:nvSpPr>
          <p:cNvPr id="4" name="TextBox 3"/>
          <p:cNvSpPr txBox="1"/>
          <p:nvPr/>
        </p:nvSpPr>
        <p:spPr>
          <a:xfrm>
            <a:off x="822960" y="1828800"/>
            <a:ext cx="8595360" cy="1371600"/>
          </a:xfrm>
          <a:prstGeom prst="rect">
            <a:avLst/>
          </a:prstGeom>
          <a:noFill/>
        </p:spPr>
        <p:txBody>
          <a:bodyPr wrap="square" lIns="0" tIns="0" rIns="0" bIns="0" anchor="t">
            <a:spAutoFit/>
          </a:bodyPr>
          <a:lstStyle/>
          <a:p>
            <a:pPr algn="l">
              <a:lnSpc>
                <a:spcPct val="95000"/>
              </a:lnSpc>
            </a:pPr>
            <a:r>
              <a:rPr sz="6200" b="1" i="0">
                <a:solidFill>
                  <a:srgbClr val="F4F7FB"/>
                </a:solidFill>
                <a:latin typeface="Segoe UI Semibold"/>
              </a:rPr>
              <a:t>ROADASSIST</a:t>
            </a:r>
          </a:p>
          <a:p>
            <a:pPr algn="l">
              <a:lnSpc>
                <a:spcPct val="95000"/>
              </a:lnSpc>
            </a:pPr>
            <a:r>
              <a:rPr sz="6200" b="1" i="0">
                <a:solidFill>
                  <a:srgbClr val="F4F7FB"/>
                </a:solidFill>
                <a:latin typeface="Segoe UI Semibold"/>
              </a:rPr>
              <a:t>BHARAT</a:t>
            </a:r>
          </a:p>
        </p:txBody>
      </p:sp>
      <p:sp>
        <p:nvSpPr>
          <p:cNvPr id="5" name="Rectangle 4"/>
          <p:cNvSpPr/>
          <p:nvPr/>
        </p:nvSpPr>
        <p:spPr>
          <a:xfrm>
            <a:off x="822960" y="3456432"/>
            <a:ext cx="1371600" cy="45720"/>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22960" y="3675887"/>
            <a:ext cx="6400800" cy="822960"/>
          </a:xfrm>
          <a:prstGeom prst="rect">
            <a:avLst/>
          </a:prstGeom>
          <a:noFill/>
        </p:spPr>
        <p:txBody>
          <a:bodyPr wrap="square" lIns="0" tIns="0" rIns="0" bIns="0" anchor="t">
            <a:spAutoFit/>
          </a:bodyPr>
          <a:lstStyle/>
          <a:p>
            <a:pPr algn="l">
              <a:lnSpc>
                <a:spcPct val="135000"/>
              </a:lnSpc>
            </a:pPr>
            <a:r>
              <a:rPr sz="1800" b="0" i="0" spc="120">
                <a:solidFill>
                  <a:srgbClr val="93A1B5"/>
                </a:solidFill>
                <a:latin typeface="Segoe UI"/>
              </a:rPr>
              <a:t>AI-POWERED ROADSIDE ASSISTANCE</a:t>
            </a:r>
          </a:p>
          <a:p>
            <a:pPr algn="l">
              <a:lnSpc>
                <a:spcPct val="135000"/>
              </a:lnSpc>
            </a:pPr>
            <a:r>
              <a:rPr sz="1800" b="0" i="0" spc="120">
                <a:solidFill>
                  <a:srgbClr val="93A1B5"/>
                </a:solidFill>
                <a:latin typeface="Segoe UI"/>
              </a:rPr>
              <a:t>&amp; EMERGENCY MOBILITY PLATFORM</a:t>
            </a:r>
          </a:p>
        </p:txBody>
      </p:sp>
      <p:sp>
        <p:nvSpPr>
          <p:cNvPr id="7" name="Rounded Rectangle 6"/>
          <p:cNvSpPr/>
          <p:nvPr/>
        </p:nvSpPr>
        <p:spPr>
          <a:xfrm>
            <a:off x="822960" y="4754880"/>
            <a:ext cx="1261872" cy="329184"/>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22D3EE"/>
                </a:solidFill>
                <a:latin typeface="Segoe UI"/>
              </a:rPr>
              <a:t>AI</a:t>
            </a:r>
          </a:p>
        </p:txBody>
      </p:sp>
      <p:sp>
        <p:nvSpPr>
          <p:cNvPr id="8" name="Rounded Rectangle 7"/>
          <p:cNvSpPr/>
          <p:nvPr/>
        </p:nvSpPr>
        <p:spPr>
          <a:xfrm>
            <a:off x="2194560" y="4754880"/>
            <a:ext cx="1261872" cy="329184"/>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2E7DFF"/>
                </a:solidFill>
                <a:latin typeface="Segoe UI"/>
              </a:rPr>
              <a:t>CLOUD</a:t>
            </a:r>
          </a:p>
        </p:txBody>
      </p:sp>
      <p:sp>
        <p:nvSpPr>
          <p:cNvPr id="9" name="Rounded Rectangle 8"/>
          <p:cNvSpPr/>
          <p:nvPr/>
        </p:nvSpPr>
        <p:spPr>
          <a:xfrm>
            <a:off x="3566160" y="4754880"/>
            <a:ext cx="1261872" cy="329184"/>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34D399"/>
                </a:solidFill>
                <a:latin typeface="Segoe UI"/>
              </a:rPr>
              <a:t>MOBILITY</a:t>
            </a:r>
          </a:p>
        </p:txBody>
      </p:sp>
      <p:sp>
        <p:nvSpPr>
          <p:cNvPr id="10" name="Rounded Rectangle 9"/>
          <p:cNvSpPr/>
          <p:nvPr/>
        </p:nvSpPr>
        <p:spPr>
          <a:xfrm>
            <a:off x="4937760" y="4754880"/>
            <a:ext cx="1261872" cy="329184"/>
          </a:xfrm>
          <a:prstGeom prst="roundRect">
            <a:avLst>
              <a:gd name="adj" fmla="val 50000"/>
            </a:avLst>
          </a:prstGeom>
          <a:solidFill>
            <a:srgbClr val="131D30"/>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F4D5E"/>
                </a:solidFill>
                <a:latin typeface="Segoe UI"/>
              </a:rPr>
              <a:t>SAFETY</a:t>
            </a:r>
          </a:p>
        </p:txBody>
      </p:sp>
      <p:sp>
        <p:nvSpPr>
          <p:cNvPr id="11" name="TextBox 10"/>
          <p:cNvSpPr txBox="1"/>
          <p:nvPr/>
        </p:nvSpPr>
        <p:spPr>
          <a:xfrm>
            <a:off x="822960" y="5394960"/>
            <a:ext cx="6400800" cy="274320"/>
          </a:xfrm>
          <a:prstGeom prst="rect">
            <a:avLst/>
          </a:prstGeom>
          <a:noFill/>
        </p:spPr>
        <p:txBody>
          <a:bodyPr wrap="square" lIns="0" tIns="0" rIns="0" bIns="0" anchor="t">
            <a:spAutoFit/>
          </a:bodyPr>
          <a:lstStyle/>
          <a:p>
            <a:pPr algn="l">
              <a:lnSpc>
                <a:spcPct val="125000"/>
              </a:lnSpc>
            </a:pPr>
            <a:r>
              <a:rPr sz="1100" b="0" i="1">
                <a:solidFill>
                  <a:srgbClr val="5C6B80"/>
                </a:solidFill>
                <a:latin typeface="Segoe UI"/>
              </a:rPr>
              <a:t>A working platform used to demonstrate Cloud Computing Modules 1-4</a:t>
            </a:r>
          </a:p>
        </p:txBody>
      </p:sp>
      <p:pic>
        <p:nvPicPr>
          <p:cNvPr id="12" name="Picture 11" descr="_fit_hero.png"/>
          <p:cNvPicPr>
            <a:picLocks noChangeAspect="1"/>
          </p:cNvPicPr>
          <p:nvPr/>
        </p:nvPicPr>
        <p:blipFill>
          <a:blip r:embed="rId4"/>
          <a:stretch>
            <a:fillRect/>
          </a:stretch>
        </p:blipFill>
        <p:spPr>
          <a:xfrm>
            <a:off x="7452360" y="1298448"/>
            <a:ext cx="3931920" cy="3977639"/>
          </a:xfrm>
          <a:prstGeom prst="rect">
            <a:avLst/>
          </a:prstGeom>
        </p:spPr>
      </p:pic>
      <p:sp>
        <p:nvSpPr>
          <p:cNvPr id="13" name="Rounded Rectangle 12"/>
          <p:cNvSpPr/>
          <p:nvPr/>
        </p:nvSpPr>
        <p:spPr>
          <a:xfrm>
            <a:off x="7452360" y="1298448"/>
            <a:ext cx="3931920" cy="3977639"/>
          </a:xfrm>
          <a:prstGeom prst="roundRect">
            <a:avLst>
              <a:gd name="adj" fmla="val 2000"/>
            </a:avLst>
          </a:prstGeom>
          <a:no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6382512"/>
            <a:ext cx="8229600" cy="256032"/>
          </a:xfrm>
          <a:prstGeom prst="rect">
            <a:avLst/>
          </a:prstGeom>
          <a:noFill/>
        </p:spPr>
        <p:txBody>
          <a:bodyPr wrap="square" lIns="0" tIns="0" rIns="0" bIns="0" anchor="t">
            <a:spAutoFit/>
          </a:bodyPr>
          <a:lstStyle/>
          <a:p>
            <a:pPr algn="l">
              <a:lnSpc>
                <a:spcPct val="125000"/>
              </a:lnSpc>
            </a:pPr>
            <a:r>
              <a:rPr sz="800" b="0" i="0" spc="200">
                <a:solidFill>
                  <a:srgbClr val="5C6B80"/>
                </a:solidFill>
                <a:latin typeface="Segoe UI"/>
              </a:rPr>
              <a:t>ROADASSIST BHARAT · SWE4004 CLOUD COMPUTING AND APPLICATIONS</a:t>
            </a:r>
          </a:p>
        </p:txBody>
      </p:sp>
      <p:sp>
        <p:nvSpPr>
          <p:cNvPr id="15" name="TextBox 1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01</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re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THE REAL-WORLD PROBLEM</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WHEN THE ROAD STOPS,</a:t>
            </a:r>
          </a:p>
          <a:p>
            <a:pPr algn="l">
              <a:lnSpc>
                <a:spcPct val="102000"/>
              </a:lnSpc>
            </a:pPr>
            <a:r>
              <a:rPr sz="3200" b="1" i="0">
                <a:solidFill>
                  <a:srgbClr val="F4F7FB"/>
                </a:solidFill>
                <a:latin typeface="Segoe UI Semibold"/>
              </a:rPr>
              <a:t>THE PROBLEM STARTS.</a:t>
            </a:r>
          </a:p>
        </p:txBody>
      </p:sp>
      <p:sp>
        <p:nvSpPr>
          <p:cNvPr id="5" name="Rounded Rectangle 4"/>
          <p:cNvSpPr/>
          <p:nvPr/>
        </p:nvSpPr>
        <p:spPr>
          <a:xfrm>
            <a:off x="777240" y="2514600"/>
            <a:ext cx="1673352" cy="1325880"/>
          </a:xfrm>
          <a:prstGeom prst="roundRect">
            <a:avLst>
              <a:gd name="adj" fmla="val 3500"/>
            </a:avLst>
          </a:prstGeom>
          <a:solidFill>
            <a:srgbClr val="0C1322"/>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BREAKDOWN</a:t>
            </a:r>
          </a:p>
          <a:p>
            <a:pPr algn="ctr">
              <a:lnSpc>
                <a:spcPct val="110000"/>
              </a:lnSpc>
            </a:pPr>
            <a:r>
              <a:rPr sz="850">
                <a:solidFill>
                  <a:srgbClr val="93A1B5"/>
                </a:solidFill>
                <a:latin typeface="Segoe UI"/>
              </a:rPr>
              <a:t>Flat tyre, dead battery,
overheating, no fuel</a:t>
            </a:r>
          </a:p>
        </p:txBody>
      </p:sp>
      <p:cxnSp>
        <p:nvCxnSpPr>
          <p:cNvPr id="6" name="Connector 5"/>
          <p:cNvCxnSpPr/>
          <p:nvPr/>
        </p:nvCxnSpPr>
        <p:spPr>
          <a:xfrm>
            <a:off x="2468880" y="3172968"/>
            <a:ext cx="100584"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7" name="Rounded Rectangle 6"/>
          <p:cNvSpPr/>
          <p:nvPr/>
        </p:nvSpPr>
        <p:spPr>
          <a:xfrm>
            <a:off x="2587752" y="2514600"/>
            <a:ext cx="1673352" cy="132588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UNCERTAINTY</a:t>
            </a:r>
          </a:p>
          <a:p>
            <a:pPr algn="ctr">
              <a:lnSpc>
                <a:spcPct val="110000"/>
              </a:lnSpc>
            </a:pPr>
            <a:r>
              <a:rPr sz="850">
                <a:solidFill>
                  <a:srgbClr val="93A1B5"/>
                </a:solidFill>
                <a:latin typeface="Segoe UI"/>
              </a:rPr>
              <a:t>What is wrong?
Is it safe to drive?</a:t>
            </a:r>
          </a:p>
        </p:txBody>
      </p:sp>
      <p:cxnSp>
        <p:nvCxnSpPr>
          <p:cNvPr id="8" name="Connector 7"/>
          <p:cNvCxnSpPr/>
          <p:nvPr/>
        </p:nvCxnSpPr>
        <p:spPr>
          <a:xfrm>
            <a:off x="4279392" y="3172968"/>
            <a:ext cx="100584"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4398264" y="2514600"/>
            <a:ext cx="1673352" cy="132588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FINDING HELP</a:t>
            </a:r>
          </a:p>
          <a:p>
            <a:pPr algn="ctr">
              <a:lnSpc>
                <a:spcPct val="110000"/>
              </a:lnSpc>
            </a:pPr>
            <a:r>
              <a:rPr sz="850">
                <a:solidFill>
                  <a:srgbClr val="93A1B5"/>
                </a:solidFill>
                <a:latin typeface="Segoe UI"/>
              </a:rPr>
              <a:t>Who is nearby?
Are they free?</a:t>
            </a:r>
          </a:p>
        </p:txBody>
      </p:sp>
      <p:cxnSp>
        <p:nvCxnSpPr>
          <p:cNvPr id="10" name="Connector 9"/>
          <p:cNvCxnSpPr/>
          <p:nvPr/>
        </p:nvCxnSpPr>
        <p:spPr>
          <a:xfrm>
            <a:off x="6089904" y="3172968"/>
            <a:ext cx="100584"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6208776" y="2514600"/>
            <a:ext cx="1673352" cy="13258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LOCATION</a:t>
            </a:r>
          </a:p>
          <a:p>
            <a:pPr algn="ctr">
              <a:lnSpc>
                <a:spcPct val="110000"/>
              </a:lnSpc>
            </a:pPr>
            <a:r>
              <a:rPr sz="850">
                <a:solidFill>
                  <a:srgbClr val="93A1B5"/>
                </a:solidFill>
                <a:latin typeface="Segoe UI"/>
              </a:rPr>
              <a:t>Describing where you are
on an unmarked road</a:t>
            </a:r>
          </a:p>
        </p:txBody>
      </p:sp>
      <p:cxnSp>
        <p:nvCxnSpPr>
          <p:cNvPr id="12" name="Connector 11"/>
          <p:cNvCxnSpPr/>
          <p:nvPr/>
        </p:nvCxnSpPr>
        <p:spPr>
          <a:xfrm>
            <a:off x="7900416" y="3172968"/>
            <a:ext cx="100584"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8019288" y="2514600"/>
            <a:ext cx="1673352" cy="13258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WAITING</a:t>
            </a:r>
          </a:p>
          <a:p>
            <a:pPr algn="ctr">
              <a:lnSpc>
                <a:spcPct val="110000"/>
              </a:lnSpc>
            </a:pPr>
            <a:r>
              <a:rPr sz="850">
                <a:solidFill>
                  <a:srgbClr val="93A1B5"/>
                </a:solidFill>
                <a:latin typeface="Segoe UI"/>
              </a:rPr>
              <a:t>No ETA, no visibility,
no progress</a:t>
            </a:r>
          </a:p>
        </p:txBody>
      </p:sp>
      <p:cxnSp>
        <p:nvCxnSpPr>
          <p:cNvPr id="14" name="Connector 13"/>
          <p:cNvCxnSpPr/>
          <p:nvPr/>
        </p:nvCxnSpPr>
        <p:spPr>
          <a:xfrm>
            <a:off x="9710928" y="3172968"/>
            <a:ext cx="100584"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9829800" y="2514600"/>
            <a:ext cx="1673352" cy="1325880"/>
          </a:xfrm>
          <a:prstGeom prst="roundRect">
            <a:avLst>
              <a:gd name="adj" fmla="val 3500"/>
            </a:avLst>
          </a:prstGeom>
          <a:solidFill>
            <a:srgbClr val="0C1322"/>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SAFETY</a:t>
            </a:r>
          </a:p>
          <a:p>
            <a:pPr algn="ctr">
              <a:lnSpc>
                <a:spcPct val="110000"/>
              </a:lnSpc>
            </a:pPr>
            <a:r>
              <a:rPr sz="850">
                <a:solidFill>
                  <a:srgbClr val="93A1B5"/>
                </a:solidFill>
                <a:latin typeface="Segoe UI"/>
              </a:rPr>
              <a:t>Roadside at night,
nobody informed</a:t>
            </a:r>
          </a:p>
        </p:txBody>
      </p:sp>
      <p:sp>
        <p:nvSpPr>
          <p:cNvPr id="16" name="TextBox 15"/>
          <p:cNvSpPr txBox="1"/>
          <p:nvPr/>
        </p:nvSpPr>
        <p:spPr>
          <a:xfrm>
            <a:off x="777240" y="4114800"/>
            <a:ext cx="10607040" cy="822960"/>
          </a:xfrm>
          <a:prstGeom prst="rect">
            <a:avLst/>
          </a:prstGeom>
          <a:noFill/>
        </p:spPr>
        <p:txBody>
          <a:bodyPr wrap="square" lIns="0" tIns="0" rIns="0" bIns="0" anchor="t">
            <a:spAutoFit/>
          </a:bodyPr>
          <a:lstStyle/>
          <a:p>
            <a:pPr algn="l">
              <a:lnSpc>
                <a:spcPct val="145000"/>
              </a:lnSpc>
            </a:pPr>
            <a:r>
              <a:rPr sz="1350" b="0" i="0">
                <a:solidFill>
                  <a:srgbClr val="93A1B5"/>
                </a:solidFill>
                <a:latin typeface="Segoe UI"/>
              </a:rPr>
              <a:t>Every one of these six failures is an information problem before it is a mechanical one.</a:t>
            </a:r>
          </a:p>
          <a:p>
            <a:pPr algn="l">
              <a:lnSpc>
                <a:spcPct val="145000"/>
              </a:lnSpc>
            </a:pPr>
            <a:r>
              <a:rPr sz="1350" b="0" i="0">
                <a:solidFill>
                  <a:srgbClr val="93A1B5"/>
                </a:solidFill>
                <a:latin typeface="Segoe UI"/>
              </a:rPr>
              <a:t>The driver cannot diagnose, cannot locate, cannot summon, and cannot see what happens next.</a:t>
            </a:r>
          </a:p>
        </p:txBody>
      </p:sp>
      <p:sp>
        <p:nvSpPr>
          <p:cNvPr id="17" name="Rounded Rectangle 16"/>
          <p:cNvSpPr/>
          <p:nvPr/>
        </p:nvSpPr>
        <p:spPr>
          <a:xfrm>
            <a:off x="777240" y="5029200"/>
            <a:ext cx="10607040" cy="868680"/>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1051560" y="5212080"/>
            <a:ext cx="10058400" cy="548640"/>
          </a:xfrm>
          <a:prstGeom prst="rect">
            <a:avLst/>
          </a:prstGeom>
          <a:noFill/>
        </p:spPr>
        <p:txBody>
          <a:bodyPr wrap="square" lIns="0" tIns="0" rIns="0" bIns="0" anchor="t">
            <a:spAutoFit/>
          </a:bodyPr>
          <a:lstStyle/>
          <a:p>
            <a:pPr algn="l">
              <a:lnSpc>
                <a:spcPct val="135000"/>
              </a:lnSpc>
            </a:pPr>
            <a:r>
              <a:rPr sz="1250" b="0" i="0">
                <a:solidFill>
                  <a:srgbClr val="F4F7FB"/>
                </a:solidFill>
                <a:latin typeface="Segoe UI"/>
              </a:rPr>
              <a:t>A cloud platform is the natural answer, because the information needed - who is nearby, what the fault is, where the vehicle is, who has been told - lives in different places and must be brought together in real time.</a:t>
            </a:r>
          </a:p>
        </p:txBody>
      </p:sp>
      <p:sp>
        <p:nvSpPr>
          <p:cNvPr id="19" name="TextBox 18"/>
          <p:cNvSpPr txBox="1"/>
          <p:nvPr/>
        </p:nvSpPr>
        <p:spPr>
          <a:xfrm>
            <a:off x="777240" y="6382512"/>
            <a:ext cx="8229600" cy="256032"/>
          </a:xfrm>
          <a:prstGeom prst="rect">
            <a:avLst/>
          </a:prstGeom>
          <a:noFill/>
        </p:spPr>
        <p:txBody>
          <a:bodyPr wrap="square" lIns="0" tIns="0" rIns="0" bIns="0" anchor="t">
            <a:spAutoFit/>
          </a:bodyPr>
          <a:lstStyle/>
          <a:p>
            <a:pPr algn="l">
              <a:lnSpc>
                <a:spcPct val="125000"/>
              </a:lnSpc>
            </a:pPr>
            <a:r>
              <a:rPr sz="800" b="0" i="0" spc="200">
                <a:solidFill>
                  <a:srgbClr val="5C6B80"/>
                </a:solidFill>
                <a:latin typeface="Segoe UI"/>
              </a:rPr>
              <a:t>ROADASSIST BHARAT · SWE4004 CLOUD COMPUTING AND APPLICATIONS</a:t>
            </a:r>
          </a:p>
        </p:txBody>
      </p:sp>
      <p:sp>
        <p:nvSpPr>
          <p:cNvPr id="20" name="TextBox 19"/>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02</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deep.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PROJECT VISION</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ONE PLATFORM. EVERY ROAD. EVERY RESPONSE.</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IMPLEMENTED</a:t>
            </a:r>
          </a:p>
        </p:txBody>
      </p:sp>
      <p:sp>
        <p:nvSpPr>
          <p:cNvPr id="6" name="Rounded Rectangle 5"/>
          <p:cNvSpPr/>
          <p:nvPr/>
        </p:nvSpPr>
        <p:spPr>
          <a:xfrm>
            <a:off x="3977639" y="2606040"/>
            <a:ext cx="4206240" cy="1325880"/>
          </a:xfrm>
          <a:prstGeom prst="roundRect">
            <a:avLst>
              <a:gd name="adj" fmla="val 3500"/>
            </a:avLst>
          </a:prstGeom>
          <a:solidFill>
            <a:srgbClr val="131D30"/>
          </a:solidFill>
          <a:ln w="2032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0" y="2816352"/>
            <a:ext cx="3931920" cy="365760"/>
          </a:xfrm>
          <a:prstGeom prst="rect">
            <a:avLst/>
          </a:prstGeom>
          <a:noFill/>
        </p:spPr>
        <p:txBody>
          <a:bodyPr wrap="square" lIns="0" tIns="0" rIns="0" bIns="0" anchor="t">
            <a:spAutoFit/>
          </a:bodyPr>
          <a:lstStyle/>
          <a:p>
            <a:pPr algn="ctr">
              <a:lnSpc>
                <a:spcPct val="125000"/>
              </a:lnSpc>
            </a:pPr>
            <a:r>
              <a:rPr sz="1450" b="1" i="0">
                <a:solidFill>
                  <a:srgbClr val="F4F7FB"/>
                </a:solidFill>
                <a:latin typeface="Segoe UI Semibold"/>
              </a:rPr>
              <a:t>ROADASSIST CLOUD PLATFORM</a:t>
            </a:r>
          </a:p>
        </p:txBody>
      </p:sp>
      <p:sp>
        <p:nvSpPr>
          <p:cNvPr id="8" name="TextBox 7"/>
          <p:cNvSpPr txBox="1"/>
          <p:nvPr/>
        </p:nvSpPr>
        <p:spPr>
          <a:xfrm>
            <a:off x="4114800" y="3200400"/>
            <a:ext cx="3931920" cy="548640"/>
          </a:xfrm>
          <a:prstGeom prst="rect">
            <a:avLst/>
          </a:prstGeom>
          <a:noFill/>
        </p:spPr>
        <p:txBody>
          <a:bodyPr wrap="square" lIns="0" tIns="0" rIns="0" bIns="0" anchor="t">
            <a:spAutoFit/>
          </a:bodyPr>
          <a:lstStyle/>
          <a:p>
            <a:pPr algn="ctr">
              <a:lnSpc>
                <a:spcPct val="130000"/>
              </a:lnSpc>
            </a:pPr>
            <a:r>
              <a:rPr sz="950" b="0" i="0">
                <a:solidFill>
                  <a:srgbClr val="22D3EE"/>
                </a:solidFill>
                <a:latin typeface="Consolas"/>
              </a:rPr>
              <a:t>Fastify API · PostgreSQL + PostGIS</a:t>
            </a:r>
          </a:p>
          <a:p>
            <a:pPr algn="ctr">
              <a:lnSpc>
                <a:spcPct val="130000"/>
              </a:lnSpc>
            </a:pPr>
            <a:r>
              <a:rPr sz="950" b="0" i="0">
                <a:solidFill>
                  <a:srgbClr val="22D3EE"/>
                </a:solidFill>
                <a:latin typeface="Consolas"/>
              </a:rPr>
              <a:t>58 routes · 61 tables · role-scoped access</a:t>
            </a:r>
          </a:p>
        </p:txBody>
      </p:sp>
      <p:sp>
        <p:nvSpPr>
          <p:cNvPr id="9" name="Rounded Rectangle 8"/>
          <p:cNvSpPr/>
          <p:nvPr/>
        </p:nvSpPr>
        <p:spPr>
          <a:xfrm>
            <a:off x="777240" y="2011680"/>
            <a:ext cx="2651760" cy="91440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CUSTOMER</a:t>
            </a:r>
          </a:p>
          <a:p>
            <a:pPr algn="ctr">
              <a:lnSpc>
                <a:spcPct val="110000"/>
              </a:lnSpc>
            </a:pPr>
            <a:r>
              <a:rPr sz="900">
                <a:solidFill>
                  <a:srgbClr val="93A1B5"/>
                </a:solidFill>
                <a:latin typeface="Segoe UI"/>
              </a:rPr>
              <a:t>PWA · offline-first</a:t>
            </a:r>
          </a:p>
        </p:txBody>
      </p:sp>
      <p:cxnSp>
        <p:nvCxnSpPr>
          <p:cNvPr id="10" name="Connector 9"/>
          <p:cNvCxnSpPr/>
          <p:nvPr/>
        </p:nvCxnSpPr>
        <p:spPr>
          <a:xfrm>
            <a:off x="3447288" y="2468880"/>
            <a:ext cx="512064" cy="795528"/>
          </a:xfrm>
          <a:prstGeom prst="line">
            <a:avLst/>
          </a:prstGeom>
          <a:ln w="14604">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7240" y="3127248"/>
            <a:ext cx="2651760" cy="9144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AI DIAGNOSIS</a:t>
            </a:r>
          </a:p>
          <a:p>
            <a:pPr algn="ctr">
              <a:lnSpc>
                <a:spcPct val="110000"/>
              </a:lnSpc>
            </a:pPr>
            <a:r>
              <a:rPr sz="900">
                <a:solidFill>
                  <a:srgbClr val="93A1B5"/>
                </a:solidFill>
                <a:latin typeface="Segoe UI"/>
              </a:rPr>
              <a:t>rules engine</a:t>
            </a:r>
          </a:p>
        </p:txBody>
      </p:sp>
      <p:cxnSp>
        <p:nvCxnSpPr>
          <p:cNvPr id="12" name="Connector 11"/>
          <p:cNvCxnSpPr/>
          <p:nvPr/>
        </p:nvCxnSpPr>
        <p:spPr>
          <a:xfrm flipV="1">
            <a:off x="3447288" y="3264408"/>
            <a:ext cx="512064" cy="320040"/>
          </a:xfrm>
          <a:prstGeom prst="line">
            <a:avLst/>
          </a:prstGeom>
          <a:ln w="14604">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4242816"/>
            <a:ext cx="2651760" cy="91440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MECHANIC</a:t>
            </a:r>
          </a:p>
          <a:p>
            <a:pPr algn="ctr">
              <a:lnSpc>
                <a:spcPct val="110000"/>
              </a:lnSpc>
            </a:pPr>
            <a:r>
              <a:rPr sz="900">
                <a:solidFill>
                  <a:srgbClr val="93A1B5"/>
                </a:solidFill>
                <a:latin typeface="Segoe UI"/>
              </a:rPr>
              <a:t>dispatch console</a:t>
            </a:r>
          </a:p>
        </p:txBody>
      </p:sp>
      <p:cxnSp>
        <p:nvCxnSpPr>
          <p:cNvPr id="14" name="Connector 13"/>
          <p:cNvCxnSpPr/>
          <p:nvPr/>
        </p:nvCxnSpPr>
        <p:spPr>
          <a:xfrm flipV="1">
            <a:off x="3447288" y="3264408"/>
            <a:ext cx="512064" cy="1435608"/>
          </a:xfrm>
          <a:prstGeom prst="line">
            <a:avLst/>
          </a:prstGeom>
          <a:ln w="14604">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732520" y="2011680"/>
            <a:ext cx="2651760" cy="91440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LIVE MAP</a:t>
            </a:r>
          </a:p>
          <a:p>
            <a:pPr algn="ctr">
              <a:lnSpc>
                <a:spcPct val="110000"/>
              </a:lnSpc>
            </a:pPr>
            <a:r>
              <a:rPr sz="900">
                <a:solidFill>
                  <a:srgbClr val="93A1B5"/>
                </a:solidFill>
                <a:latin typeface="Segoe UI"/>
              </a:rPr>
              <a:t>OpenStreetMap</a:t>
            </a:r>
          </a:p>
        </p:txBody>
      </p:sp>
      <p:cxnSp>
        <p:nvCxnSpPr>
          <p:cNvPr id="16" name="Connector 15"/>
          <p:cNvCxnSpPr/>
          <p:nvPr/>
        </p:nvCxnSpPr>
        <p:spPr>
          <a:xfrm flipV="1">
            <a:off x="8202168" y="2468880"/>
            <a:ext cx="512064" cy="795528"/>
          </a:xfrm>
          <a:prstGeom prst="line">
            <a:avLst/>
          </a:prstGeom>
          <a:ln w="14604">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732520" y="3127248"/>
            <a:ext cx="2651760" cy="914400"/>
          </a:xfrm>
          <a:prstGeom prst="roundRect">
            <a:avLst>
              <a:gd name="adj" fmla="val 3500"/>
            </a:avLst>
          </a:prstGeom>
          <a:solidFill>
            <a:srgbClr val="0C1322"/>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RAKSHA / SOS</a:t>
            </a:r>
          </a:p>
          <a:p>
            <a:pPr algn="ctr">
              <a:lnSpc>
                <a:spcPct val="110000"/>
              </a:lnSpc>
            </a:pPr>
            <a:r>
              <a:rPr sz="900">
                <a:solidFill>
                  <a:srgbClr val="93A1B5"/>
                </a:solidFill>
                <a:latin typeface="Segoe UI"/>
              </a:rPr>
              <a:t>emergency path</a:t>
            </a:r>
          </a:p>
        </p:txBody>
      </p:sp>
      <p:cxnSp>
        <p:nvCxnSpPr>
          <p:cNvPr id="18" name="Connector 17"/>
          <p:cNvCxnSpPr/>
          <p:nvPr/>
        </p:nvCxnSpPr>
        <p:spPr>
          <a:xfrm>
            <a:off x="8202168" y="3264408"/>
            <a:ext cx="512064" cy="320040"/>
          </a:xfrm>
          <a:prstGeom prst="line">
            <a:avLst/>
          </a:prstGeom>
          <a:ln w="14604">
            <a:solidFill>
              <a:srgbClr val="FF4D5E"/>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732520" y="4242816"/>
            <a:ext cx="2651760" cy="9144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AUTHORITY</a:t>
            </a:r>
          </a:p>
          <a:p>
            <a:pPr algn="ctr">
              <a:lnSpc>
                <a:spcPct val="110000"/>
              </a:lnSpc>
            </a:pPr>
            <a:r>
              <a:rPr sz="900">
                <a:solidFill>
                  <a:srgbClr val="93A1B5"/>
                </a:solidFill>
                <a:latin typeface="Segoe UI"/>
              </a:rPr>
              <a:t>road health</a:t>
            </a:r>
          </a:p>
        </p:txBody>
      </p:sp>
      <p:cxnSp>
        <p:nvCxnSpPr>
          <p:cNvPr id="20" name="Connector 19"/>
          <p:cNvCxnSpPr/>
          <p:nvPr/>
        </p:nvCxnSpPr>
        <p:spPr>
          <a:xfrm>
            <a:off x="8202168" y="3264408"/>
            <a:ext cx="512064" cy="1435608"/>
          </a:xfrm>
          <a:prstGeom prst="line">
            <a:avLst/>
          </a:prstGeom>
          <a:ln w="14604">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777240" y="5532120"/>
            <a:ext cx="10607040" cy="594360"/>
          </a:xfrm>
          <a:prstGeom prst="rect">
            <a:avLst/>
          </a:prstGeom>
          <a:noFill/>
        </p:spPr>
        <p:txBody>
          <a:bodyPr wrap="square" lIns="0" tIns="0" rIns="0" bIns="0" anchor="t">
            <a:spAutoFit/>
          </a:bodyPr>
          <a:lstStyle/>
          <a:p>
            <a:pPr algn="l">
              <a:lnSpc>
                <a:spcPct val="140000"/>
              </a:lnSpc>
            </a:pPr>
            <a:r>
              <a:rPr sz="1300" b="0" i="0">
                <a:solidFill>
                  <a:srgbClr val="93A1B5"/>
                </a:solidFill>
                <a:latin typeface="Segoe UI"/>
              </a:rPr>
              <a:t>The cloud platform is the backbone: the only component every actor talks to, and the only place that knows the whole truth about a booking, an incident or a vehicle.</a:t>
            </a:r>
          </a:p>
        </p:txBody>
      </p:sp>
      <p:sp>
        <p:nvSpPr>
          <p:cNvPr id="22" name="TextBox 21"/>
          <p:cNvSpPr txBox="1"/>
          <p:nvPr/>
        </p:nvSpPr>
        <p:spPr>
          <a:xfrm>
            <a:off x="777240" y="6382512"/>
            <a:ext cx="8229600" cy="256032"/>
          </a:xfrm>
          <a:prstGeom prst="rect">
            <a:avLst/>
          </a:prstGeom>
          <a:noFill/>
        </p:spPr>
        <p:txBody>
          <a:bodyPr wrap="square" lIns="0" tIns="0" rIns="0" bIns="0" anchor="t">
            <a:spAutoFit/>
          </a:bodyPr>
          <a:lstStyle/>
          <a:p>
            <a:pPr algn="l">
              <a:lnSpc>
                <a:spcPct val="125000"/>
              </a:lnSpc>
            </a:pPr>
            <a:r>
              <a:rPr sz="800" b="0" i="0" spc="200">
                <a:solidFill>
                  <a:srgbClr val="5C6B80"/>
                </a:solidFill>
                <a:latin typeface="Segoe UI"/>
              </a:rPr>
              <a:t>ROADASSIST BHARAT · SWE4004 CLOUD COMPUTING AND APPLICATIONS</a:t>
            </a:r>
          </a:p>
        </p:txBody>
      </p:sp>
      <p:sp>
        <p:nvSpPr>
          <p:cNvPr id="23" name="TextBox 22"/>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03</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1 · THE BRIDGE</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WHY ROADASSIST NEEDS THE CLOUD</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194560"/>
            <a:ext cx="246888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CUSTOMER</a:t>
            </a:r>
          </a:p>
        </p:txBody>
      </p:sp>
      <p:cxnSp>
        <p:nvCxnSpPr>
          <p:cNvPr id="7" name="Connector 6"/>
          <p:cNvCxnSpPr/>
          <p:nvPr/>
        </p:nvCxnSpPr>
        <p:spPr>
          <a:xfrm>
            <a:off x="2011680" y="2770632"/>
            <a:ext cx="0" cy="384048"/>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3429000" y="2194560"/>
            <a:ext cx="246888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MECHANIC</a:t>
            </a:r>
          </a:p>
        </p:txBody>
      </p:sp>
      <p:cxnSp>
        <p:nvCxnSpPr>
          <p:cNvPr id="9" name="Connector 8"/>
          <p:cNvCxnSpPr/>
          <p:nvPr/>
        </p:nvCxnSpPr>
        <p:spPr>
          <a:xfrm>
            <a:off x="4663440" y="2770632"/>
            <a:ext cx="0" cy="384048"/>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080760" y="2194560"/>
            <a:ext cx="246888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AUTHORITY</a:t>
            </a:r>
          </a:p>
        </p:txBody>
      </p:sp>
      <p:cxnSp>
        <p:nvCxnSpPr>
          <p:cNvPr id="11" name="Connector 10"/>
          <p:cNvCxnSpPr/>
          <p:nvPr/>
        </p:nvCxnSpPr>
        <p:spPr>
          <a:xfrm>
            <a:off x="7315200" y="2770632"/>
            <a:ext cx="0" cy="384048"/>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8732520" y="2194560"/>
            <a:ext cx="246888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WEBSITE / PWA</a:t>
            </a:r>
          </a:p>
        </p:txBody>
      </p:sp>
      <p:cxnSp>
        <p:nvCxnSpPr>
          <p:cNvPr id="13" name="Connector 12"/>
          <p:cNvCxnSpPr/>
          <p:nvPr/>
        </p:nvCxnSpPr>
        <p:spPr>
          <a:xfrm>
            <a:off x="9966960" y="2770632"/>
            <a:ext cx="0" cy="384048"/>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3182112"/>
            <a:ext cx="10607040" cy="1024128"/>
          </a:xfrm>
          <a:prstGeom prst="roundRect">
            <a:avLst>
              <a:gd name="adj" fmla="val 3500"/>
            </a:avLst>
          </a:prstGeom>
          <a:solidFill>
            <a:srgbClr val="131D30"/>
          </a:solidFill>
          <a:ln w="1905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914400" y="3319272"/>
            <a:ext cx="10332720" cy="320040"/>
          </a:xfrm>
          <a:prstGeom prst="rect">
            <a:avLst/>
          </a:prstGeom>
          <a:noFill/>
        </p:spPr>
        <p:txBody>
          <a:bodyPr wrap="square" lIns="0" tIns="0" rIns="0" bIns="0" anchor="t">
            <a:spAutoFit/>
          </a:bodyPr>
          <a:lstStyle/>
          <a:p>
            <a:pPr algn="ctr">
              <a:lnSpc>
                <a:spcPct val="125000"/>
              </a:lnSpc>
            </a:pPr>
            <a:r>
              <a:rPr sz="1400" b="1" i="0">
                <a:solidFill>
                  <a:srgbClr val="F4F7FB"/>
                </a:solidFill>
                <a:latin typeface="Segoe UI Semibold"/>
              </a:rPr>
              <a:t>CENTRAL CLOUD PLATFORM</a:t>
            </a:r>
          </a:p>
        </p:txBody>
      </p:sp>
      <p:sp>
        <p:nvSpPr>
          <p:cNvPr id="16" name="Rounded Rectangle 15"/>
          <p:cNvSpPr/>
          <p:nvPr/>
        </p:nvSpPr>
        <p:spPr>
          <a:xfrm>
            <a:off x="914400"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Centralised services</a:t>
            </a:r>
          </a:p>
        </p:txBody>
      </p:sp>
      <p:sp>
        <p:nvSpPr>
          <p:cNvPr id="17" name="Rounded Rectangle 16"/>
          <p:cNvSpPr/>
          <p:nvPr/>
        </p:nvSpPr>
        <p:spPr>
          <a:xfrm>
            <a:off x="2651760"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Anywhere access</a:t>
            </a:r>
          </a:p>
        </p:txBody>
      </p:sp>
      <p:sp>
        <p:nvSpPr>
          <p:cNvPr id="18" name="Rounded Rectangle 17"/>
          <p:cNvSpPr/>
          <p:nvPr/>
        </p:nvSpPr>
        <p:spPr>
          <a:xfrm>
            <a:off x="4389120"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Shared resources</a:t>
            </a:r>
          </a:p>
        </p:txBody>
      </p:sp>
      <p:sp>
        <p:nvSpPr>
          <p:cNvPr id="19" name="Rounded Rectangle 18"/>
          <p:cNvSpPr/>
          <p:nvPr/>
        </p:nvSpPr>
        <p:spPr>
          <a:xfrm>
            <a:off x="6126479"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Scalability</a:t>
            </a:r>
          </a:p>
        </p:txBody>
      </p:sp>
      <p:sp>
        <p:nvSpPr>
          <p:cNvPr id="20" name="Rounded Rectangle 19"/>
          <p:cNvSpPr/>
          <p:nvPr/>
        </p:nvSpPr>
        <p:spPr>
          <a:xfrm>
            <a:off x="7863840"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Availability</a:t>
            </a:r>
          </a:p>
        </p:txBody>
      </p:sp>
      <p:sp>
        <p:nvSpPr>
          <p:cNvPr id="21" name="Rounded Rectangle 20"/>
          <p:cNvSpPr/>
          <p:nvPr/>
        </p:nvSpPr>
        <p:spPr>
          <a:xfrm>
            <a:off x="9601200" y="3712463"/>
            <a:ext cx="1673352"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Real-time exchange</a:t>
            </a:r>
          </a:p>
        </p:txBody>
      </p:sp>
      <p:cxnSp>
        <p:nvCxnSpPr>
          <p:cNvPr id="22" name="Connector 21"/>
          <p:cNvCxnSpPr/>
          <p:nvPr/>
        </p:nvCxnSpPr>
        <p:spPr>
          <a:xfrm>
            <a:off x="2011680" y="4233672"/>
            <a:ext cx="0" cy="356616"/>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77240" y="4617720"/>
            <a:ext cx="246888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COMPUTE</a:t>
            </a:r>
          </a:p>
        </p:txBody>
      </p:sp>
      <p:cxnSp>
        <p:nvCxnSpPr>
          <p:cNvPr id="24" name="Connector 23"/>
          <p:cNvCxnSpPr/>
          <p:nvPr/>
        </p:nvCxnSpPr>
        <p:spPr>
          <a:xfrm>
            <a:off x="4663440" y="4233672"/>
            <a:ext cx="0" cy="356616"/>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3429000" y="4617720"/>
            <a:ext cx="246888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STORAGE</a:t>
            </a:r>
          </a:p>
        </p:txBody>
      </p:sp>
      <p:cxnSp>
        <p:nvCxnSpPr>
          <p:cNvPr id="26" name="Connector 25"/>
          <p:cNvCxnSpPr/>
          <p:nvPr/>
        </p:nvCxnSpPr>
        <p:spPr>
          <a:xfrm>
            <a:off x="7315200" y="4233672"/>
            <a:ext cx="0" cy="356616"/>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6080759" y="4617720"/>
            <a:ext cx="246888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NETWORK</a:t>
            </a:r>
          </a:p>
        </p:txBody>
      </p:sp>
      <p:cxnSp>
        <p:nvCxnSpPr>
          <p:cNvPr id="28" name="Connector 27"/>
          <p:cNvCxnSpPr/>
          <p:nvPr/>
        </p:nvCxnSpPr>
        <p:spPr>
          <a:xfrm>
            <a:off x="9966959" y="4233672"/>
            <a:ext cx="0" cy="356616"/>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732519" y="4617720"/>
            <a:ext cx="246888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DATA</a:t>
            </a:r>
          </a:p>
        </p:txBody>
      </p:sp>
      <p:sp>
        <p:nvSpPr>
          <p:cNvPr id="30" name="TextBox 29"/>
          <p:cNvSpPr txBox="1"/>
          <p:nvPr/>
        </p:nvSpPr>
        <p:spPr>
          <a:xfrm>
            <a:off x="777240" y="5440680"/>
            <a:ext cx="10607040" cy="640080"/>
          </a:xfrm>
          <a:prstGeom prst="rect">
            <a:avLst/>
          </a:prstGeom>
          <a:noFill/>
        </p:spPr>
        <p:txBody>
          <a:bodyPr wrap="square" lIns="0" tIns="0" rIns="0" bIns="0" anchor="t">
            <a:spAutoFit/>
          </a:bodyPr>
          <a:lstStyle/>
          <a:p>
            <a:pPr algn="l">
              <a:lnSpc>
                <a:spcPct val="140000"/>
              </a:lnSpc>
            </a:pPr>
            <a:r>
              <a:rPr sz="1300" b="0" i="0">
                <a:solidFill>
                  <a:srgbClr val="93A1B5"/>
                </a:solidFill>
                <a:latin typeface="Segoe UI"/>
              </a:rPr>
              <a:t>Without the cloud, each actor would hold its own copy of the truth and reconcile it later. With it, one authoritative service is reachable from any road, on any device, at any hour.</a:t>
            </a:r>
          </a:p>
        </p:txBody>
      </p:sp>
      <p:sp>
        <p:nvSpPr>
          <p:cNvPr id="31" name="Rounded Rectangle 30"/>
          <p:cNvSpPr/>
          <p:nvPr/>
        </p:nvSpPr>
        <p:spPr>
          <a:xfrm>
            <a:off x="777240"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M1 · UNDERSTANDING</a:t>
            </a:r>
          </a:p>
        </p:txBody>
      </p:sp>
      <p:sp>
        <p:nvSpPr>
          <p:cNvPr id="32" name="Rounded Rectangle 31"/>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3" name="Rounded Rectangle 32"/>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4" name="Rounded Rectangle 33"/>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5" name="TextBox 3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04</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ORIGINS · CONCEPTS · CHARACTERISTICS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MODULE 1 — UNDERSTANDING CLOUD COMPUTING</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148840"/>
            <a:ext cx="4983480" cy="3127248"/>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331720"/>
            <a:ext cx="4480560" cy="292608"/>
          </a:xfrm>
          <a:prstGeom prst="rect">
            <a:avLst/>
          </a:prstGeom>
          <a:noFill/>
        </p:spPr>
        <p:txBody>
          <a:bodyPr wrap="square" lIns="0" tIns="0" rIns="0" bIns="0" anchor="t">
            <a:spAutoFit/>
          </a:bodyPr>
          <a:lstStyle/>
          <a:p>
            <a:pPr algn="l">
              <a:lnSpc>
                <a:spcPct val="125000"/>
              </a:lnSpc>
            </a:pPr>
            <a:r>
              <a:rPr sz="1050" b="1" i="0" spc="180">
                <a:solidFill>
                  <a:srgbClr val="22D3EE"/>
                </a:solidFill>
                <a:latin typeface="Segoe UI"/>
              </a:rPr>
              <a:t>THE FIVE ESSENTIAL CHARACTERISTICS</a:t>
            </a:r>
          </a:p>
        </p:txBody>
      </p:sp>
      <p:sp>
        <p:nvSpPr>
          <p:cNvPr id="8" name="Rounded Rectangle 7"/>
          <p:cNvSpPr/>
          <p:nvPr/>
        </p:nvSpPr>
        <p:spPr>
          <a:xfrm>
            <a:off x="1005840" y="2761488"/>
            <a:ext cx="201168" cy="201168"/>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9" name="TextBox 8"/>
          <p:cNvSpPr txBox="1"/>
          <p:nvPr/>
        </p:nvSpPr>
        <p:spPr>
          <a:xfrm>
            <a:off x="1325880" y="2715768"/>
            <a:ext cx="4206240" cy="274320"/>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On-demand self-service</a:t>
            </a:r>
          </a:p>
        </p:txBody>
      </p:sp>
      <p:sp>
        <p:nvSpPr>
          <p:cNvPr id="10" name="TextBox 9"/>
          <p:cNvSpPr txBox="1"/>
          <p:nvPr/>
        </p:nvSpPr>
        <p:spPr>
          <a:xfrm>
            <a:off x="1325880" y="2944368"/>
            <a:ext cx="4206240" cy="310896"/>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A user signs in and books assistance; nobody provisions anything.</a:t>
            </a:r>
          </a:p>
        </p:txBody>
      </p:sp>
      <p:sp>
        <p:nvSpPr>
          <p:cNvPr id="11" name="Rounded Rectangle 10"/>
          <p:cNvSpPr/>
          <p:nvPr/>
        </p:nvSpPr>
        <p:spPr>
          <a:xfrm>
            <a:off x="1005840" y="3264408"/>
            <a:ext cx="201168" cy="201168"/>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2" name="TextBox 11"/>
          <p:cNvSpPr txBox="1"/>
          <p:nvPr/>
        </p:nvSpPr>
        <p:spPr>
          <a:xfrm>
            <a:off x="1325880" y="3218688"/>
            <a:ext cx="4206240" cy="274320"/>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Broad network access</a:t>
            </a:r>
          </a:p>
        </p:txBody>
      </p:sp>
      <p:sp>
        <p:nvSpPr>
          <p:cNvPr id="13" name="TextBox 12"/>
          <p:cNvSpPr txBox="1"/>
          <p:nvPr/>
        </p:nvSpPr>
        <p:spPr>
          <a:xfrm>
            <a:off x="1325880" y="3447288"/>
            <a:ext cx="4206240" cy="310896"/>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Reachable from any phone browser - the PWA needs no install.</a:t>
            </a:r>
          </a:p>
        </p:txBody>
      </p:sp>
      <p:sp>
        <p:nvSpPr>
          <p:cNvPr id="14" name="Rounded Rectangle 13"/>
          <p:cNvSpPr/>
          <p:nvPr/>
        </p:nvSpPr>
        <p:spPr>
          <a:xfrm>
            <a:off x="1005840" y="3767327"/>
            <a:ext cx="201168" cy="201168"/>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5" name="TextBox 14"/>
          <p:cNvSpPr txBox="1"/>
          <p:nvPr/>
        </p:nvSpPr>
        <p:spPr>
          <a:xfrm>
            <a:off x="1325880" y="3721607"/>
            <a:ext cx="4206240" cy="274320"/>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Resource pooling</a:t>
            </a:r>
          </a:p>
        </p:txBody>
      </p:sp>
      <p:sp>
        <p:nvSpPr>
          <p:cNvPr id="16" name="TextBox 15"/>
          <p:cNvSpPr txBox="1"/>
          <p:nvPr/>
        </p:nvSpPr>
        <p:spPr>
          <a:xfrm>
            <a:off x="1325880" y="3950207"/>
            <a:ext cx="4206240" cy="310896"/>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One platform, one database, one API serve every customer and mechanic.</a:t>
            </a:r>
          </a:p>
        </p:txBody>
      </p:sp>
      <p:sp>
        <p:nvSpPr>
          <p:cNvPr id="17" name="Rounded Rectangle 16"/>
          <p:cNvSpPr/>
          <p:nvPr/>
        </p:nvSpPr>
        <p:spPr>
          <a:xfrm>
            <a:off x="1005840" y="4270247"/>
            <a:ext cx="201168" cy="201168"/>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8" name="TextBox 17"/>
          <p:cNvSpPr txBox="1"/>
          <p:nvPr/>
        </p:nvSpPr>
        <p:spPr>
          <a:xfrm>
            <a:off x="1325880" y="4224527"/>
            <a:ext cx="4206240" cy="274320"/>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Rapid elasticity</a:t>
            </a:r>
          </a:p>
        </p:txBody>
      </p:sp>
      <p:sp>
        <p:nvSpPr>
          <p:cNvPr id="19" name="TextBox 18"/>
          <p:cNvSpPr txBox="1"/>
          <p:nvPr/>
        </p:nvSpPr>
        <p:spPr>
          <a:xfrm>
            <a:off x="1325880" y="4453127"/>
            <a:ext cx="4206240" cy="310896"/>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Capacity can follow demand; festival and monsoon peaks are not steady state.</a:t>
            </a:r>
          </a:p>
        </p:txBody>
      </p:sp>
      <p:sp>
        <p:nvSpPr>
          <p:cNvPr id="20" name="Rounded Rectangle 19"/>
          <p:cNvSpPr/>
          <p:nvPr/>
        </p:nvSpPr>
        <p:spPr>
          <a:xfrm>
            <a:off x="1005840" y="4773167"/>
            <a:ext cx="201168" cy="201168"/>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1" name="TextBox 20"/>
          <p:cNvSpPr txBox="1"/>
          <p:nvPr/>
        </p:nvSpPr>
        <p:spPr>
          <a:xfrm>
            <a:off x="1325880" y="4727447"/>
            <a:ext cx="4206240" cy="274320"/>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Measured service</a:t>
            </a:r>
          </a:p>
        </p:txBody>
      </p:sp>
      <p:sp>
        <p:nvSpPr>
          <p:cNvPr id="22" name="TextBox 21"/>
          <p:cNvSpPr txBox="1"/>
          <p:nvPr/>
        </p:nvSpPr>
        <p:spPr>
          <a:xfrm>
            <a:off x="1325880" y="4956047"/>
            <a:ext cx="4206240" cy="310896"/>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Usage is observable per request, which is what makes scaling decidable.</a:t>
            </a:r>
          </a:p>
        </p:txBody>
      </p:sp>
      <p:sp>
        <p:nvSpPr>
          <p:cNvPr id="23" name="Rounded Rectangle 22"/>
          <p:cNvSpPr/>
          <p:nvPr/>
        </p:nvSpPr>
        <p:spPr>
          <a:xfrm>
            <a:off x="6035040" y="2148840"/>
            <a:ext cx="5349240" cy="3127248"/>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263640" y="2331720"/>
            <a:ext cx="4937760" cy="292608"/>
          </a:xfrm>
          <a:prstGeom prst="rect">
            <a:avLst/>
          </a:prstGeom>
          <a:noFill/>
        </p:spPr>
        <p:txBody>
          <a:bodyPr wrap="square" lIns="0" tIns="0" rIns="0" bIns="0" anchor="t">
            <a:spAutoFit/>
          </a:bodyPr>
          <a:lstStyle/>
          <a:p>
            <a:pPr algn="l">
              <a:lnSpc>
                <a:spcPct val="125000"/>
              </a:lnSpc>
            </a:pPr>
            <a:r>
              <a:rPr sz="1050" b="1" i="0" spc="180">
                <a:solidFill>
                  <a:srgbClr val="2E7DFF"/>
                </a:solidFill>
                <a:latin typeface="Segoe UI"/>
              </a:rPr>
              <a:t>WHAT THE CLOUD SUPPLIES ROADASSIST</a:t>
            </a:r>
          </a:p>
        </p:txBody>
      </p:sp>
      <p:sp>
        <p:nvSpPr>
          <p:cNvPr id="25" name="Rounded Rectangle 24"/>
          <p:cNvSpPr/>
          <p:nvPr/>
        </p:nvSpPr>
        <p:spPr>
          <a:xfrm>
            <a:off x="7680960" y="2724912"/>
            <a:ext cx="2057400" cy="45720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50" b="1">
                <a:solidFill>
                  <a:srgbClr val="F4F7FB"/>
                </a:solidFill>
                <a:latin typeface="Segoe UI Semibold"/>
              </a:rPr>
              <a:t>CLOUD</a:t>
            </a:r>
          </a:p>
        </p:txBody>
      </p:sp>
      <p:sp>
        <p:nvSpPr>
          <p:cNvPr id="26" name="Rounded Rectangle 25"/>
          <p:cNvSpPr/>
          <p:nvPr/>
        </p:nvSpPr>
        <p:spPr>
          <a:xfrm>
            <a:off x="6263640" y="3401568"/>
            <a:ext cx="2286000" cy="603504"/>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COMPUTE</a:t>
            </a:r>
          </a:p>
          <a:p>
            <a:pPr algn="ctr">
              <a:lnSpc>
                <a:spcPct val="110000"/>
              </a:lnSpc>
            </a:pPr>
            <a:r>
              <a:rPr sz="850">
                <a:solidFill>
                  <a:srgbClr val="93A1B5"/>
                </a:solidFill>
                <a:latin typeface="Segoe UI"/>
              </a:rPr>
              <a:t>API + AI diagnosis</a:t>
            </a:r>
          </a:p>
        </p:txBody>
      </p:sp>
      <p:sp>
        <p:nvSpPr>
          <p:cNvPr id="27" name="Rounded Rectangle 26"/>
          <p:cNvSpPr/>
          <p:nvPr/>
        </p:nvSpPr>
        <p:spPr>
          <a:xfrm>
            <a:off x="8869680" y="3401568"/>
            <a:ext cx="2286000" cy="603504"/>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STORAGE</a:t>
            </a:r>
          </a:p>
          <a:p>
            <a:pPr algn="ctr">
              <a:lnSpc>
                <a:spcPct val="110000"/>
              </a:lnSpc>
            </a:pPr>
            <a:r>
              <a:rPr sz="850">
                <a:solidFill>
                  <a:srgbClr val="93A1B5"/>
                </a:solidFill>
                <a:latin typeface="Segoe UI"/>
              </a:rPr>
              <a:t>PostgreSQL + PostGIS</a:t>
            </a:r>
          </a:p>
        </p:txBody>
      </p:sp>
      <p:sp>
        <p:nvSpPr>
          <p:cNvPr id="28" name="Rounded Rectangle 27"/>
          <p:cNvSpPr/>
          <p:nvPr/>
        </p:nvSpPr>
        <p:spPr>
          <a:xfrm>
            <a:off x="6263640" y="4114800"/>
            <a:ext cx="2286000" cy="603504"/>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NETWORK</a:t>
            </a:r>
          </a:p>
          <a:p>
            <a:pPr algn="ctr">
              <a:lnSpc>
                <a:spcPct val="110000"/>
              </a:lnSpc>
            </a:pPr>
            <a:r>
              <a:rPr sz="850">
                <a:solidFill>
                  <a:srgbClr val="93A1B5"/>
                </a:solidFill>
                <a:latin typeface="Segoe UI"/>
              </a:rPr>
              <a:t>HTTPS + tile proxy</a:t>
            </a:r>
          </a:p>
        </p:txBody>
      </p:sp>
      <p:sp>
        <p:nvSpPr>
          <p:cNvPr id="29" name="Rounded Rectangle 28"/>
          <p:cNvSpPr/>
          <p:nvPr/>
        </p:nvSpPr>
        <p:spPr>
          <a:xfrm>
            <a:off x="8869680" y="4114800"/>
            <a:ext cx="2286000" cy="603504"/>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SERVICES</a:t>
            </a:r>
          </a:p>
          <a:p>
            <a:pPr algn="ctr">
              <a:lnSpc>
                <a:spcPct val="110000"/>
              </a:lnSpc>
            </a:pPr>
            <a:r>
              <a:rPr sz="850">
                <a:solidFill>
                  <a:srgbClr val="93A1B5"/>
                </a:solidFill>
                <a:latin typeface="Segoe UI"/>
              </a:rPr>
              <a:t>auth · booking · SOS</a:t>
            </a:r>
          </a:p>
        </p:txBody>
      </p:sp>
      <p:sp>
        <p:nvSpPr>
          <p:cNvPr id="30" name="Rounded Rectangle 29"/>
          <p:cNvSpPr/>
          <p:nvPr/>
        </p:nvSpPr>
        <p:spPr>
          <a:xfrm>
            <a:off x="7571231" y="4828032"/>
            <a:ext cx="2286000" cy="603504"/>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DATA</a:t>
            </a:r>
          </a:p>
          <a:p>
            <a:pPr algn="ctr">
              <a:lnSpc>
                <a:spcPct val="110000"/>
              </a:lnSpc>
            </a:pPr>
            <a:r>
              <a:rPr sz="850">
                <a:solidFill>
                  <a:srgbClr val="93A1B5"/>
                </a:solidFill>
                <a:latin typeface="Segoe UI"/>
              </a:rPr>
              <a:t>61 tables · audit chain</a:t>
            </a:r>
          </a:p>
        </p:txBody>
      </p:sp>
      <p:cxnSp>
        <p:nvCxnSpPr>
          <p:cNvPr id="31" name="Connector 30"/>
          <p:cNvCxnSpPr/>
          <p:nvPr/>
        </p:nvCxnSpPr>
        <p:spPr>
          <a:xfrm flipH="1">
            <a:off x="7406640" y="3200400"/>
            <a:ext cx="1097280" cy="182880"/>
          </a:xfrm>
          <a:prstGeom prst="line">
            <a:avLst/>
          </a:prstGeom>
          <a:ln w="1397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915400" y="3200400"/>
            <a:ext cx="1051560" cy="182880"/>
          </a:xfrm>
          <a:prstGeom prst="line">
            <a:avLst/>
          </a:prstGeom>
          <a:ln w="1397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777240" y="5440680"/>
            <a:ext cx="10607040" cy="548640"/>
          </a:xfrm>
          <a:prstGeom prst="rect">
            <a:avLst/>
          </a:prstGeom>
          <a:noFill/>
        </p:spPr>
        <p:txBody>
          <a:bodyPr wrap="square" lIns="0" tIns="0" rIns="0" bIns="0" anchor="t">
            <a:spAutoFit/>
          </a:bodyPr>
          <a:lstStyle/>
          <a:p>
            <a:pPr algn="l">
              <a:lnSpc>
                <a:spcPct val="140000"/>
              </a:lnSpc>
            </a:pPr>
            <a:r>
              <a:rPr sz="1200" b="0" i="0">
                <a:solidFill>
                  <a:srgbClr val="93A1B5"/>
                </a:solidFill>
                <a:latin typeface="Segoe UI"/>
              </a:rPr>
              <a:t>Cloud computing grew out of utility computing, grid computing and virtualisation. RoadAssist consumes it the way a home consumes electricity: on demand, metered, without owning the plant.</a:t>
            </a:r>
          </a:p>
        </p:txBody>
      </p:sp>
      <p:sp>
        <p:nvSpPr>
          <p:cNvPr id="34" name="Rounded Rectangle 33"/>
          <p:cNvSpPr/>
          <p:nvPr/>
        </p:nvSpPr>
        <p:spPr>
          <a:xfrm>
            <a:off x="777240"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M1 · UNDERSTANDING</a:t>
            </a:r>
          </a:p>
        </p:txBody>
      </p:sp>
      <p:sp>
        <p:nvSpPr>
          <p:cNvPr id="35" name="Rounded Rectangle 34"/>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6" name="Rounded Rectangle 35"/>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7" name="Rounded Rectangle 36"/>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8" name="TextBox 3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05</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1 · ROLES AND BOUNDARIES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WHO USES THE CLOUD?</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103120"/>
            <a:ext cx="10607040" cy="1170432"/>
          </a:xfrm>
          <a:prstGeom prst="roundRect">
            <a:avLst>
              <a:gd name="adj" fmla="val 3500"/>
            </a:avLst>
          </a:prstGeom>
          <a:solidFill>
            <a:srgbClr val="0C1322"/>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240280"/>
            <a:ext cx="3657600" cy="274320"/>
          </a:xfrm>
          <a:prstGeom prst="rect">
            <a:avLst/>
          </a:prstGeom>
          <a:noFill/>
        </p:spPr>
        <p:txBody>
          <a:bodyPr wrap="square" lIns="0" tIns="0" rIns="0" bIns="0" anchor="t">
            <a:spAutoFit/>
          </a:bodyPr>
          <a:lstStyle/>
          <a:p>
            <a:pPr algn="l">
              <a:lnSpc>
                <a:spcPct val="125000"/>
              </a:lnSpc>
            </a:pPr>
            <a:r>
              <a:rPr sz="1300" b="1" i="0">
                <a:solidFill>
                  <a:srgbClr val="2E7DFF"/>
                </a:solidFill>
                <a:latin typeface="Segoe UI Semibold"/>
              </a:rPr>
              <a:t>CLOUD PROVIDER</a:t>
            </a:r>
          </a:p>
        </p:txBody>
      </p:sp>
      <p:sp>
        <p:nvSpPr>
          <p:cNvPr id="8" name="TextBox 7"/>
          <p:cNvSpPr txBox="1"/>
          <p:nvPr/>
        </p:nvSpPr>
        <p:spPr>
          <a:xfrm>
            <a:off x="1005840" y="2514600"/>
            <a:ext cx="4023360" cy="640080"/>
          </a:xfrm>
          <a:prstGeom prst="rect">
            <a:avLst/>
          </a:prstGeom>
          <a:noFill/>
        </p:spPr>
        <p:txBody>
          <a:bodyPr wrap="square" lIns="0" tIns="0" rIns="0" bIns="0" anchor="t">
            <a:spAutoFit/>
          </a:bodyPr>
          <a:lstStyle/>
          <a:p>
            <a:pPr algn="l">
              <a:lnSpc>
                <a:spcPct val="130000"/>
              </a:lnSpc>
            </a:pPr>
            <a:r>
              <a:rPr sz="1000" b="0" i="0">
                <a:solidFill>
                  <a:srgbClr val="93A1B5"/>
                </a:solidFill>
                <a:latin typeface="Segoe UI"/>
              </a:rPr>
              <a:t>Owns and operates the physical estate: data centres,</a:t>
            </a:r>
          </a:p>
          <a:p>
            <a:pPr algn="l">
              <a:lnSpc>
                <a:spcPct val="130000"/>
              </a:lnSpc>
            </a:pPr>
            <a:r>
              <a:rPr sz="1000" b="0" i="0">
                <a:solidFill>
                  <a:srgbClr val="93A1B5"/>
                </a:solidFill>
                <a:latin typeface="Segoe UI"/>
              </a:rPr>
              <a:t>hardware, hypervisors, network fabric, storage arrays.</a:t>
            </a:r>
          </a:p>
        </p:txBody>
      </p:sp>
      <p:sp>
        <p:nvSpPr>
          <p:cNvPr id="9" name="Rounded Rectangle 8"/>
          <p:cNvSpPr/>
          <p:nvPr/>
        </p:nvSpPr>
        <p:spPr>
          <a:xfrm>
            <a:off x="5394960" y="2578608"/>
            <a:ext cx="1389888" cy="292608"/>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Physical servers</a:t>
            </a:r>
          </a:p>
        </p:txBody>
      </p:sp>
      <p:sp>
        <p:nvSpPr>
          <p:cNvPr id="10" name="Rounded Rectangle 9"/>
          <p:cNvSpPr/>
          <p:nvPr/>
        </p:nvSpPr>
        <p:spPr>
          <a:xfrm>
            <a:off x="6876288" y="2578608"/>
            <a:ext cx="1389888" cy="292608"/>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Hypervisor</a:t>
            </a:r>
          </a:p>
        </p:txBody>
      </p:sp>
      <p:sp>
        <p:nvSpPr>
          <p:cNvPr id="11" name="Rounded Rectangle 10"/>
          <p:cNvSpPr/>
          <p:nvPr/>
        </p:nvSpPr>
        <p:spPr>
          <a:xfrm>
            <a:off x="8357616" y="2578608"/>
            <a:ext cx="1389888" cy="292608"/>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Storage array</a:t>
            </a:r>
          </a:p>
        </p:txBody>
      </p:sp>
      <p:sp>
        <p:nvSpPr>
          <p:cNvPr id="12" name="Rounded Rectangle 11"/>
          <p:cNvSpPr/>
          <p:nvPr/>
        </p:nvSpPr>
        <p:spPr>
          <a:xfrm>
            <a:off x="9838944" y="2578608"/>
            <a:ext cx="1389888" cy="292608"/>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Network fabric</a:t>
            </a:r>
          </a:p>
        </p:txBody>
      </p:sp>
      <p:sp>
        <p:nvSpPr>
          <p:cNvPr id="13" name="TextBox 12"/>
          <p:cNvSpPr txBox="1"/>
          <p:nvPr/>
        </p:nvSpPr>
        <p:spPr>
          <a:xfrm>
            <a:off x="5394960" y="2944368"/>
            <a:ext cx="5852160" cy="274320"/>
          </a:xfrm>
          <a:prstGeom prst="rect">
            <a:avLst/>
          </a:prstGeom>
          <a:noFill/>
        </p:spPr>
        <p:txBody>
          <a:bodyPr wrap="square" lIns="0" tIns="0" rIns="0" bIns="0" anchor="t">
            <a:spAutoFit/>
          </a:bodyPr>
          <a:lstStyle/>
          <a:p>
            <a:pPr algn="l">
              <a:lnSpc>
                <a:spcPct val="125000"/>
              </a:lnSpc>
            </a:pPr>
            <a:r>
              <a:rPr sz="850" b="0" i="1">
                <a:solidFill>
                  <a:srgbClr val="5C6B80"/>
                </a:solidFill>
                <a:latin typeface="Segoe UI"/>
              </a:rPr>
              <a:t>Boundary of provider responsibility</a:t>
            </a:r>
          </a:p>
        </p:txBody>
      </p:sp>
      <p:cxnSp>
        <p:nvCxnSpPr>
          <p:cNvPr id="14" name="Connector 13"/>
          <p:cNvCxnSpPr/>
          <p:nvPr/>
        </p:nvCxnSpPr>
        <p:spPr>
          <a:xfrm>
            <a:off x="6080760" y="3310128"/>
            <a:ext cx="0" cy="237744"/>
          </a:xfrm>
          <a:prstGeom prst="line">
            <a:avLst/>
          </a:prstGeom>
          <a:ln w="1905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7240" y="3584448"/>
            <a:ext cx="10607040" cy="1170432"/>
          </a:xfrm>
          <a:prstGeom prst="roundRect">
            <a:avLst>
              <a:gd name="adj" fmla="val 3500"/>
            </a:avLst>
          </a:prstGeom>
          <a:solidFill>
            <a:srgbClr val="131D30"/>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721608"/>
            <a:ext cx="4023360" cy="274320"/>
          </a:xfrm>
          <a:prstGeom prst="rect">
            <a:avLst/>
          </a:prstGeom>
          <a:noFill/>
        </p:spPr>
        <p:txBody>
          <a:bodyPr wrap="square" lIns="0" tIns="0" rIns="0" bIns="0" anchor="t">
            <a:spAutoFit/>
          </a:bodyPr>
          <a:lstStyle/>
          <a:p>
            <a:pPr algn="l">
              <a:lnSpc>
                <a:spcPct val="125000"/>
              </a:lnSpc>
            </a:pPr>
            <a:r>
              <a:rPr sz="1300" b="1" i="0">
                <a:solidFill>
                  <a:srgbClr val="22D3EE"/>
                </a:solidFill>
                <a:latin typeface="Segoe UI Semibold"/>
              </a:rPr>
              <a:t>ROADASSIST PLATFORM  (cloud consumer, then provider)</a:t>
            </a:r>
          </a:p>
        </p:txBody>
      </p:sp>
      <p:sp>
        <p:nvSpPr>
          <p:cNvPr id="17" name="TextBox 16"/>
          <p:cNvSpPr txBox="1"/>
          <p:nvPr/>
        </p:nvSpPr>
        <p:spPr>
          <a:xfrm>
            <a:off x="1005840" y="3995928"/>
            <a:ext cx="4023360" cy="640080"/>
          </a:xfrm>
          <a:prstGeom prst="rect">
            <a:avLst/>
          </a:prstGeom>
          <a:noFill/>
        </p:spPr>
        <p:txBody>
          <a:bodyPr wrap="square" lIns="0" tIns="0" rIns="0" bIns="0" anchor="t">
            <a:spAutoFit/>
          </a:bodyPr>
          <a:lstStyle/>
          <a:p>
            <a:pPr algn="l">
              <a:lnSpc>
                <a:spcPct val="130000"/>
              </a:lnSpc>
            </a:pPr>
            <a:r>
              <a:rPr sz="1000" b="0" i="0">
                <a:solidFill>
                  <a:srgbClr val="93A1B5"/>
                </a:solidFill>
                <a:latin typeface="Segoe UI"/>
              </a:rPr>
              <a:t>Consumes provider resources; itself provides a</a:t>
            </a:r>
          </a:p>
          <a:p>
            <a:pPr algn="l">
              <a:lnSpc>
                <a:spcPct val="130000"/>
              </a:lnSpc>
            </a:pPr>
            <a:r>
              <a:rPr sz="1000" b="0" i="0">
                <a:solidFill>
                  <a:srgbClr val="93A1B5"/>
                </a:solidFill>
                <a:latin typeface="Segoe UI"/>
              </a:rPr>
              <a:t>service to its own users. A dual role.</a:t>
            </a:r>
          </a:p>
        </p:txBody>
      </p:sp>
      <p:sp>
        <p:nvSpPr>
          <p:cNvPr id="18" name="Rounded Rectangle 17"/>
          <p:cNvSpPr/>
          <p:nvPr/>
        </p:nvSpPr>
        <p:spPr>
          <a:xfrm>
            <a:off x="5394960" y="4059936"/>
            <a:ext cx="1389888" cy="292608"/>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Fastify API</a:t>
            </a:r>
          </a:p>
        </p:txBody>
      </p:sp>
      <p:sp>
        <p:nvSpPr>
          <p:cNvPr id="19" name="Rounded Rectangle 18"/>
          <p:cNvSpPr/>
          <p:nvPr/>
        </p:nvSpPr>
        <p:spPr>
          <a:xfrm>
            <a:off x="6876288" y="4059936"/>
            <a:ext cx="1389888" cy="292608"/>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Booking engine</a:t>
            </a:r>
          </a:p>
        </p:txBody>
      </p:sp>
      <p:sp>
        <p:nvSpPr>
          <p:cNvPr id="20" name="Rounded Rectangle 19"/>
          <p:cNvSpPr/>
          <p:nvPr/>
        </p:nvSpPr>
        <p:spPr>
          <a:xfrm>
            <a:off x="8357616" y="4059936"/>
            <a:ext cx="1389888" cy="292608"/>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AI rules</a:t>
            </a:r>
          </a:p>
        </p:txBody>
      </p:sp>
      <p:sp>
        <p:nvSpPr>
          <p:cNvPr id="21" name="Rounded Rectangle 20"/>
          <p:cNvSpPr/>
          <p:nvPr/>
        </p:nvSpPr>
        <p:spPr>
          <a:xfrm>
            <a:off x="9838944" y="4059936"/>
            <a:ext cx="1389888" cy="292608"/>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Auth + RBAC</a:t>
            </a:r>
          </a:p>
        </p:txBody>
      </p:sp>
      <p:sp>
        <p:nvSpPr>
          <p:cNvPr id="22" name="TextBox 21"/>
          <p:cNvSpPr txBox="1"/>
          <p:nvPr/>
        </p:nvSpPr>
        <p:spPr>
          <a:xfrm>
            <a:off x="5394960" y="4425696"/>
            <a:ext cx="5852160" cy="274320"/>
          </a:xfrm>
          <a:prstGeom prst="rect">
            <a:avLst/>
          </a:prstGeom>
          <a:noFill/>
        </p:spPr>
        <p:txBody>
          <a:bodyPr wrap="square" lIns="0" tIns="0" rIns="0" bIns="0" anchor="t">
            <a:spAutoFit/>
          </a:bodyPr>
          <a:lstStyle/>
          <a:p>
            <a:pPr algn="l">
              <a:lnSpc>
                <a:spcPct val="125000"/>
              </a:lnSpc>
            </a:pPr>
            <a:r>
              <a:rPr sz="850" b="0" i="1">
                <a:solidFill>
                  <a:srgbClr val="5C6B80"/>
                </a:solidFill>
                <a:latin typeface="Segoe UI"/>
              </a:rPr>
              <a:t>Boundary of application responsibility</a:t>
            </a:r>
          </a:p>
        </p:txBody>
      </p:sp>
      <p:cxnSp>
        <p:nvCxnSpPr>
          <p:cNvPr id="23" name="Connector 22"/>
          <p:cNvCxnSpPr/>
          <p:nvPr/>
        </p:nvCxnSpPr>
        <p:spPr>
          <a:xfrm>
            <a:off x="6080760" y="4791456"/>
            <a:ext cx="0" cy="237744"/>
          </a:xfrm>
          <a:prstGeom prst="line">
            <a:avLst/>
          </a:prstGeom>
          <a:ln w="1905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777240" y="5065776"/>
            <a:ext cx="10607040" cy="1005840"/>
          </a:xfrm>
          <a:prstGeom prst="roundRect">
            <a:avLst>
              <a:gd name="adj" fmla="val 3500"/>
            </a:avLst>
          </a:prstGeom>
          <a:solidFill>
            <a:srgbClr val="0C1322"/>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1005840" y="5193792"/>
            <a:ext cx="4023360" cy="274320"/>
          </a:xfrm>
          <a:prstGeom prst="rect">
            <a:avLst/>
          </a:prstGeom>
          <a:noFill/>
        </p:spPr>
        <p:txBody>
          <a:bodyPr wrap="square" lIns="0" tIns="0" rIns="0" bIns="0" anchor="t">
            <a:spAutoFit/>
          </a:bodyPr>
          <a:lstStyle/>
          <a:p>
            <a:pPr algn="l">
              <a:lnSpc>
                <a:spcPct val="125000"/>
              </a:lnSpc>
            </a:pPr>
            <a:r>
              <a:rPr sz="1300" b="1" i="0">
                <a:solidFill>
                  <a:srgbClr val="34D399"/>
                </a:solidFill>
                <a:latin typeface="Segoe UI Semibold"/>
              </a:rPr>
              <a:t>CLOUD CONSUMERS / END USERS</a:t>
            </a:r>
          </a:p>
        </p:txBody>
      </p:sp>
      <p:sp>
        <p:nvSpPr>
          <p:cNvPr id="26" name="TextBox 25"/>
          <p:cNvSpPr txBox="1"/>
          <p:nvPr/>
        </p:nvSpPr>
        <p:spPr>
          <a:xfrm>
            <a:off x="1005840" y="5468112"/>
            <a:ext cx="4023360" cy="457200"/>
          </a:xfrm>
          <a:prstGeom prst="rect">
            <a:avLst/>
          </a:prstGeom>
          <a:noFill/>
        </p:spPr>
        <p:txBody>
          <a:bodyPr wrap="square" lIns="0" tIns="0" rIns="0" bIns="0" anchor="t">
            <a:spAutoFit/>
          </a:bodyPr>
          <a:lstStyle/>
          <a:p>
            <a:pPr algn="l">
              <a:lnSpc>
                <a:spcPct val="125000"/>
              </a:lnSpc>
            </a:pPr>
            <a:r>
              <a:rPr sz="1000" b="0" i="0">
                <a:solidFill>
                  <a:srgbClr val="93A1B5"/>
                </a:solidFill>
                <a:latin typeface="Segoe UI"/>
              </a:rPr>
              <a:t>Seven roles exist in the database.</a:t>
            </a:r>
          </a:p>
        </p:txBody>
      </p:sp>
      <p:sp>
        <p:nvSpPr>
          <p:cNvPr id="27" name="Rounded Rectangle 26"/>
          <p:cNvSpPr/>
          <p:nvPr/>
        </p:nvSpPr>
        <p:spPr>
          <a:xfrm>
            <a:off x="5394960" y="5303520"/>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citizen</a:t>
            </a:r>
          </a:p>
        </p:txBody>
      </p:sp>
      <p:sp>
        <p:nvSpPr>
          <p:cNvPr id="28" name="Rounded Rectangle 27"/>
          <p:cNvSpPr/>
          <p:nvPr/>
        </p:nvSpPr>
        <p:spPr>
          <a:xfrm>
            <a:off x="6876288" y="5303520"/>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mechanic</a:t>
            </a:r>
          </a:p>
        </p:txBody>
      </p:sp>
      <p:sp>
        <p:nvSpPr>
          <p:cNvPr id="29" name="Rounded Rectangle 28"/>
          <p:cNvSpPr/>
          <p:nvPr/>
        </p:nvSpPr>
        <p:spPr>
          <a:xfrm>
            <a:off x="8357616" y="5303520"/>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admin</a:t>
            </a:r>
          </a:p>
        </p:txBody>
      </p:sp>
      <p:sp>
        <p:nvSpPr>
          <p:cNvPr id="30" name="Rounded Rectangle 29"/>
          <p:cNvSpPr/>
          <p:nvPr/>
        </p:nvSpPr>
        <p:spPr>
          <a:xfrm>
            <a:off x="9838944" y="5303520"/>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gov_officer</a:t>
            </a:r>
          </a:p>
        </p:txBody>
      </p:sp>
      <p:sp>
        <p:nvSpPr>
          <p:cNvPr id="31" name="Rounded Rectangle 30"/>
          <p:cNvSpPr/>
          <p:nvPr/>
        </p:nvSpPr>
        <p:spPr>
          <a:xfrm>
            <a:off x="5394960" y="5632704"/>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fleet_admin</a:t>
            </a:r>
          </a:p>
        </p:txBody>
      </p:sp>
      <p:sp>
        <p:nvSpPr>
          <p:cNvPr id="32" name="Rounded Rectangle 31"/>
          <p:cNvSpPr/>
          <p:nvPr/>
        </p:nvSpPr>
        <p:spPr>
          <a:xfrm>
            <a:off x="6876288" y="5632704"/>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fleet_driver</a:t>
            </a:r>
          </a:p>
        </p:txBody>
      </p:sp>
      <p:sp>
        <p:nvSpPr>
          <p:cNvPr id="33" name="Rounded Rectangle 32"/>
          <p:cNvSpPr/>
          <p:nvPr/>
        </p:nvSpPr>
        <p:spPr>
          <a:xfrm>
            <a:off x="8357616" y="5632704"/>
            <a:ext cx="1389888"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support</a:t>
            </a:r>
          </a:p>
        </p:txBody>
      </p:sp>
      <p:sp>
        <p:nvSpPr>
          <p:cNvPr id="34" name="Rounded Rectangle 33"/>
          <p:cNvSpPr/>
          <p:nvPr/>
        </p:nvSpPr>
        <p:spPr>
          <a:xfrm>
            <a:off x="777240"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M1 · UNDERSTANDING</a:t>
            </a:r>
          </a:p>
        </p:txBody>
      </p:sp>
      <p:sp>
        <p:nvSpPr>
          <p:cNvPr id="35" name="Rounded Rectangle 34"/>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6" name="Rounded Rectangle 35"/>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7" name="Rounded Rectangle 36"/>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8" name="TextBox 3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06</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1 · DELIVERY AND DEPLOYMENT MODELS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100" b="1" i="0">
                <a:solidFill>
                  <a:srgbClr val="F4F7FB"/>
                </a:solidFill>
                <a:latin typeface="Segoe UI Semibold"/>
              </a:rPr>
              <a:t>WHERE DOES ROADASSIST FIT?</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TextBox 5"/>
          <p:cNvSpPr txBox="1"/>
          <p:nvPr/>
        </p:nvSpPr>
        <p:spPr>
          <a:xfrm>
            <a:off x="777240" y="2029968"/>
            <a:ext cx="10607040" cy="274320"/>
          </a:xfrm>
          <a:prstGeom prst="rect">
            <a:avLst/>
          </a:prstGeom>
          <a:noFill/>
        </p:spPr>
        <p:txBody>
          <a:bodyPr wrap="square" lIns="0" tIns="0" rIns="0" bIns="0" anchor="t">
            <a:spAutoFit/>
          </a:bodyPr>
          <a:lstStyle/>
          <a:p>
            <a:pPr algn="l">
              <a:lnSpc>
                <a:spcPct val="125000"/>
              </a:lnSpc>
            </a:pPr>
            <a:r>
              <a:rPr sz="1050" b="0" i="1">
                <a:solidFill>
                  <a:srgbClr val="F5B14C"/>
                </a:solidFill>
                <a:latin typeface="Segoe UI"/>
              </a:rPr>
              <a:t>Architectural mapping. The project runs on local containers in development; no commercial cloud provider is used.</a:t>
            </a:r>
          </a:p>
        </p:txBody>
      </p:sp>
      <p:sp>
        <p:nvSpPr>
          <p:cNvPr id="7" name="TextBox 6"/>
          <p:cNvSpPr txBox="1"/>
          <p:nvPr/>
        </p:nvSpPr>
        <p:spPr>
          <a:xfrm>
            <a:off x="777240" y="2377440"/>
            <a:ext cx="1874519" cy="256032"/>
          </a:xfrm>
          <a:prstGeom prst="rect">
            <a:avLst/>
          </a:prstGeom>
          <a:noFill/>
        </p:spPr>
        <p:txBody>
          <a:bodyPr wrap="square" lIns="0" tIns="0" rIns="0" bIns="0" anchor="t">
            <a:spAutoFit/>
          </a:bodyPr>
          <a:lstStyle/>
          <a:p>
            <a:pPr algn="l">
              <a:lnSpc>
                <a:spcPct val="125000"/>
              </a:lnSpc>
            </a:pPr>
            <a:r>
              <a:rPr sz="950" b="1" i="0" spc="160">
                <a:solidFill>
                  <a:srgbClr val="5C6B80"/>
                </a:solidFill>
                <a:latin typeface="Segoe UI"/>
              </a:rPr>
              <a:t>MODEL</a:t>
            </a:r>
          </a:p>
        </p:txBody>
      </p:sp>
      <p:sp>
        <p:nvSpPr>
          <p:cNvPr id="8" name="TextBox 7"/>
          <p:cNvSpPr txBox="1"/>
          <p:nvPr/>
        </p:nvSpPr>
        <p:spPr>
          <a:xfrm>
            <a:off x="2743200" y="2377440"/>
            <a:ext cx="3017520" cy="256032"/>
          </a:xfrm>
          <a:prstGeom prst="rect">
            <a:avLst/>
          </a:prstGeom>
          <a:noFill/>
        </p:spPr>
        <p:txBody>
          <a:bodyPr wrap="square" lIns="0" tIns="0" rIns="0" bIns="0" anchor="t">
            <a:spAutoFit/>
          </a:bodyPr>
          <a:lstStyle/>
          <a:p>
            <a:pPr algn="l">
              <a:lnSpc>
                <a:spcPct val="125000"/>
              </a:lnSpc>
            </a:pPr>
            <a:r>
              <a:rPr sz="950" b="1" i="0" spc="160">
                <a:solidFill>
                  <a:srgbClr val="5C6B80"/>
                </a:solidFill>
                <a:latin typeface="Segoe UI"/>
              </a:rPr>
              <a:t>WHO MANAGES WHAT</a:t>
            </a:r>
          </a:p>
        </p:txBody>
      </p:sp>
      <p:sp>
        <p:nvSpPr>
          <p:cNvPr id="9" name="TextBox 8"/>
          <p:cNvSpPr txBox="1"/>
          <p:nvPr/>
        </p:nvSpPr>
        <p:spPr>
          <a:xfrm>
            <a:off x="5852160" y="2377440"/>
            <a:ext cx="3749039" cy="256032"/>
          </a:xfrm>
          <a:prstGeom prst="rect">
            <a:avLst/>
          </a:prstGeom>
          <a:noFill/>
        </p:spPr>
        <p:txBody>
          <a:bodyPr wrap="square" lIns="0" tIns="0" rIns="0" bIns="0" anchor="t">
            <a:spAutoFit/>
          </a:bodyPr>
          <a:lstStyle/>
          <a:p>
            <a:pPr algn="l">
              <a:lnSpc>
                <a:spcPct val="125000"/>
              </a:lnSpc>
            </a:pPr>
            <a:r>
              <a:rPr sz="950" b="1" i="0" spc="160">
                <a:solidFill>
                  <a:srgbClr val="5C6B80"/>
                </a:solidFill>
                <a:latin typeface="Segoe UI"/>
              </a:rPr>
              <a:t>ROADASSIST MAPPING</a:t>
            </a:r>
          </a:p>
        </p:txBody>
      </p:sp>
      <p:sp>
        <p:nvSpPr>
          <p:cNvPr id="10" name="TextBox 9"/>
          <p:cNvSpPr txBox="1"/>
          <p:nvPr/>
        </p:nvSpPr>
        <p:spPr>
          <a:xfrm>
            <a:off x="9692640" y="2377440"/>
            <a:ext cx="1691640" cy="256032"/>
          </a:xfrm>
          <a:prstGeom prst="rect">
            <a:avLst/>
          </a:prstGeom>
          <a:noFill/>
        </p:spPr>
        <p:txBody>
          <a:bodyPr wrap="square" lIns="0" tIns="0" rIns="0" bIns="0" anchor="t">
            <a:spAutoFit/>
          </a:bodyPr>
          <a:lstStyle/>
          <a:p>
            <a:pPr algn="l">
              <a:lnSpc>
                <a:spcPct val="125000"/>
              </a:lnSpc>
            </a:pPr>
            <a:r>
              <a:rPr sz="950" b="1" i="0" spc="160">
                <a:solidFill>
                  <a:srgbClr val="5C6B80"/>
                </a:solidFill>
                <a:latin typeface="Segoe UI"/>
              </a:rPr>
              <a:t>STATUS</a:t>
            </a:r>
          </a:p>
        </p:txBody>
      </p:sp>
      <p:sp>
        <p:nvSpPr>
          <p:cNvPr id="11" name="Rounded Rectangle 10"/>
          <p:cNvSpPr/>
          <p:nvPr/>
        </p:nvSpPr>
        <p:spPr>
          <a:xfrm>
            <a:off x="777240" y="2697480"/>
            <a:ext cx="10607040" cy="749808"/>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2916936"/>
            <a:ext cx="1645920" cy="320040"/>
          </a:xfrm>
          <a:prstGeom prst="rect">
            <a:avLst/>
          </a:prstGeom>
          <a:noFill/>
        </p:spPr>
        <p:txBody>
          <a:bodyPr wrap="square" lIns="0" tIns="0" rIns="0" bIns="0" anchor="t">
            <a:spAutoFit/>
          </a:bodyPr>
          <a:lstStyle/>
          <a:p>
            <a:pPr algn="l">
              <a:lnSpc>
                <a:spcPct val="125000"/>
              </a:lnSpc>
            </a:pPr>
            <a:r>
              <a:rPr sz="1700" b="1" i="0">
                <a:solidFill>
                  <a:srgbClr val="22D3EE"/>
                </a:solidFill>
                <a:latin typeface="Segoe UI Semibold"/>
              </a:rPr>
              <a:t>IaaS</a:t>
            </a:r>
          </a:p>
        </p:txBody>
      </p:sp>
      <p:sp>
        <p:nvSpPr>
          <p:cNvPr id="13" name="TextBox 12"/>
          <p:cNvSpPr txBox="1"/>
          <p:nvPr/>
        </p:nvSpPr>
        <p:spPr>
          <a:xfrm>
            <a:off x="2743200" y="2843784"/>
            <a:ext cx="301752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Provider gives virtual machines,</a:t>
            </a:r>
          </a:p>
          <a:p>
            <a:pPr algn="l">
              <a:lnSpc>
                <a:spcPct val="130000"/>
              </a:lnSpc>
            </a:pPr>
            <a:r>
              <a:rPr sz="950" b="0" i="0">
                <a:solidFill>
                  <a:srgbClr val="93A1B5"/>
                </a:solidFill>
                <a:latin typeface="Segoe UI"/>
              </a:rPr>
              <a:t>storage and network; you manage the OS up</a:t>
            </a:r>
          </a:p>
        </p:txBody>
      </p:sp>
      <p:sp>
        <p:nvSpPr>
          <p:cNvPr id="14" name="TextBox 13"/>
          <p:cNvSpPr txBox="1"/>
          <p:nvPr/>
        </p:nvSpPr>
        <p:spPr>
          <a:xfrm>
            <a:off x="5852160" y="2843784"/>
            <a:ext cx="3749039" cy="548640"/>
          </a:xfrm>
          <a:prstGeom prst="rect">
            <a:avLst/>
          </a:prstGeom>
          <a:noFill/>
        </p:spPr>
        <p:txBody>
          <a:bodyPr wrap="square" lIns="0" tIns="0" rIns="0" bIns="0" anchor="t">
            <a:spAutoFit/>
          </a:bodyPr>
          <a:lstStyle/>
          <a:p>
            <a:pPr algn="l">
              <a:lnSpc>
                <a:spcPct val="130000"/>
              </a:lnSpc>
            </a:pPr>
            <a:r>
              <a:rPr sz="950" b="0" i="0">
                <a:solidFill>
                  <a:srgbClr val="F4F7FB"/>
                </a:solidFill>
                <a:latin typeface="Segoe UI"/>
              </a:rPr>
              <a:t>Where the containers and database would</a:t>
            </a:r>
          </a:p>
          <a:p>
            <a:pPr algn="l">
              <a:lnSpc>
                <a:spcPct val="130000"/>
              </a:lnSpc>
            </a:pPr>
            <a:r>
              <a:rPr sz="950" b="0" i="0">
                <a:solidFill>
                  <a:srgbClr val="F4F7FB"/>
                </a:solidFill>
                <a:latin typeface="Segoe UI"/>
              </a:rPr>
              <a:t>run in a deployed environment</a:t>
            </a:r>
          </a:p>
        </p:txBody>
      </p:sp>
      <p:sp>
        <p:nvSpPr>
          <p:cNvPr id="15" name="Rounded Rectangle 14"/>
          <p:cNvSpPr/>
          <p:nvPr/>
        </p:nvSpPr>
        <p:spPr>
          <a:xfrm>
            <a:off x="9692640" y="2935224"/>
            <a:ext cx="150876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22D3EE"/>
                </a:solidFill>
                <a:latin typeface="Segoe UI"/>
              </a:rPr>
              <a:t>MAPPING</a:t>
            </a:r>
          </a:p>
        </p:txBody>
      </p:sp>
      <p:sp>
        <p:nvSpPr>
          <p:cNvPr id="16" name="Rounded Rectangle 15"/>
          <p:cNvSpPr/>
          <p:nvPr/>
        </p:nvSpPr>
        <p:spPr>
          <a:xfrm>
            <a:off x="777240" y="3538728"/>
            <a:ext cx="10607040" cy="749808"/>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60120" y="3758184"/>
            <a:ext cx="1645920" cy="320040"/>
          </a:xfrm>
          <a:prstGeom prst="rect">
            <a:avLst/>
          </a:prstGeom>
          <a:noFill/>
        </p:spPr>
        <p:txBody>
          <a:bodyPr wrap="square" lIns="0" tIns="0" rIns="0" bIns="0" anchor="t">
            <a:spAutoFit/>
          </a:bodyPr>
          <a:lstStyle/>
          <a:p>
            <a:pPr algn="l">
              <a:lnSpc>
                <a:spcPct val="125000"/>
              </a:lnSpc>
            </a:pPr>
            <a:r>
              <a:rPr sz="1700" b="1" i="0">
                <a:solidFill>
                  <a:srgbClr val="22D3EE"/>
                </a:solidFill>
                <a:latin typeface="Segoe UI Semibold"/>
              </a:rPr>
              <a:t>PaaS</a:t>
            </a:r>
          </a:p>
        </p:txBody>
      </p:sp>
      <p:sp>
        <p:nvSpPr>
          <p:cNvPr id="18" name="TextBox 17"/>
          <p:cNvSpPr txBox="1"/>
          <p:nvPr/>
        </p:nvSpPr>
        <p:spPr>
          <a:xfrm>
            <a:off x="2743200" y="3685032"/>
            <a:ext cx="301752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Provider also manages runtime and</a:t>
            </a:r>
          </a:p>
          <a:p>
            <a:pPr algn="l">
              <a:lnSpc>
                <a:spcPct val="130000"/>
              </a:lnSpc>
            </a:pPr>
            <a:r>
              <a:rPr sz="950" b="0" i="0">
                <a:solidFill>
                  <a:srgbClr val="93A1B5"/>
                </a:solidFill>
                <a:latin typeface="Segoe UI"/>
              </a:rPr>
              <a:t>scaling; you deploy code only</a:t>
            </a:r>
          </a:p>
        </p:txBody>
      </p:sp>
      <p:sp>
        <p:nvSpPr>
          <p:cNvPr id="19" name="TextBox 18"/>
          <p:cNvSpPr txBox="1"/>
          <p:nvPr/>
        </p:nvSpPr>
        <p:spPr>
          <a:xfrm>
            <a:off x="5852160" y="3685032"/>
            <a:ext cx="3749039" cy="548640"/>
          </a:xfrm>
          <a:prstGeom prst="rect">
            <a:avLst/>
          </a:prstGeom>
          <a:noFill/>
        </p:spPr>
        <p:txBody>
          <a:bodyPr wrap="square" lIns="0" tIns="0" rIns="0" bIns="0" anchor="t">
            <a:spAutoFit/>
          </a:bodyPr>
          <a:lstStyle/>
          <a:p>
            <a:pPr algn="l">
              <a:lnSpc>
                <a:spcPct val="130000"/>
              </a:lnSpc>
            </a:pPr>
            <a:r>
              <a:rPr sz="950" b="0" i="0">
                <a:solidFill>
                  <a:srgbClr val="F4F7FB"/>
                </a:solidFill>
                <a:latin typeface="Segoe UI"/>
              </a:rPr>
              <a:t>Fastify API could be deployed as a</a:t>
            </a:r>
          </a:p>
          <a:p>
            <a:pPr algn="l">
              <a:lnSpc>
                <a:spcPct val="130000"/>
              </a:lnSpc>
            </a:pPr>
            <a:r>
              <a:rPr sz="950" b="0" i="0">
                <a:solidFill>
                  <a:srgbClr val="F4F7FB"/>
                </a:solidFill>
                <a:latin typeface="Segoe UI"/>
              </a:rPr>
              <a:t>managed Node service</a:t>
            </a:r>
          </a:p>
        </p:txBody>
      </p:sp>
      <p:sp>
        <p:nvSpPr>
          <p:cNvPr id="20" name="Rounded Rectangle 19"/>
          <p:cNvSpPr/>
          <p:nvPr/>
        </p:nvSpPr>
        <p:spPr>
          <a:xfrm>
            <a:off x="9692640" y="3776472"/>
            <a:ext cx="150876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22D3EE"/>
                </a:solidFill>
                <a:latin typeface="Segoe UI"/>
              </a:rPr>
              <a:t>MAPPING</a:t>
            </a:r>
          </a:p>
        </p:txBody>
      </p:sp>
      <p:sp>
        <p:nvSpPr>
          <p:cNvPr id="21" name="Rounded Rectangle 20"/>
          <p:cNvSpPr/>
          <p:nvPr/>
        </p:nvSpPr>
        <p:spPr>
          <a:xfrm>
            <a:off x="777240" y="4379976"/>
            <a:ext cx="10607040" cy="749808"/>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60120" y="4599432"/>
            <a:ext cx="1645920" cy="320040"/>
          </a:xfrm>
          <a:prstGeom prst="rect">
            <a:avLst/>
          </a:prstGeom>
          <a:noFill/>
        </p:spPr>
        <p:txBody>
          <a:bodyPr wrap="square" lIns="0" tIns="0" rIns="0" bIns="0" anchor="t">
            <a:spAutoFit/>
          </a:bodyPr>
          <a:lstStyle/>
          <a:p>
            <a:pPr algn="l">
              <a:lnSpc>
                <a:spcPct val="125000"/>
              </a:lnSpc>
            </a:pPr>
            <a:r>
              <a:rPr sz="1700" b="1" i="0">
                <a:solidFill>
                  <a:srgbClr val="34D399"/>
                </a:solidFill>
                <a:latin typeface="Segoe UI Semibold"/>
              </a:rPr>
              <a:t>SaaS</a:t>
            </a:r>
          </a:p>
        </p:txBody>
      </p:sp>
      <p:sp>
        <p:nvSpPr>
          <p:cNvPr id="23" name="TextBox 22"/>
          <p:cNvSpPr txBox="1"/>
          <p:nvPr/>
        </p:nvSpPr>
        <p:spPr>
          <a:xfrm>
            <a:off x="2743200" y="4526280"/>
            <a:ext cx="301752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Consumer uses finished software</a:t>
            </a:r>
          </a:p>
          <a:p>
            <a:pPr algn="l">
              <a:lnSpc>
                <a:spcPct val="130000"/>
              </a:lnSpc>
            </a:pPr>
            <a:r>
              <a:rPr sz="950" b="0" i="0">
                <a:solidFill>
                  <a:srgbClr val="93A1B5"/>
                </a:solidFill>
                <a:latin typeface="Segoe UI"/>
              </a:rPr>
              <a:t>over the network</a:t>
            </a:r>
          </a:p>
        </p:txBody>
      </p:sp>
      <p:sp>
        <p:nvSpPr>
          <p:cNvPr id="24" name="TextBox 23"/>
          <p:cNvSpPr txBox="1"/>
          <p:nvPr/>
        </p:nvSpPr>
        <p:spPr>
          <a:xfrm>
            <a:off x="5852160" y="4526280"/>
            <a:ext cx="3749039" cy="548640"/>
          </a:xfrm>
          <a:prstGeom prst="rect">
            <a:avLst/>
          </a:prstGeom>
          <a:noFill/>
        </p:spPr>
        <p:txBody>
          <a:bodyPr wrap="square" lIns="0" tIns="0" rIns="0" bIns="0" anchor="t">
            <a:spAutoFit/>
          </a:bodyPr>
          <a:lstStyle/>
          <a:p>
            <a:pPr algn="l">
              <a:lnSpc>
                <a:spcPct val="130000"/>
              </a:lnSpc>
            </a:pPr>
            <a:r>
              <a:rPr sz="950" b="0" i="0">
                <a:solidFill>
                  <a:srgbClr val="F4F7FB"/>
                </a:solidFill>
                <a:latin typeface="Segoe UI"/>
              </a:rPr>
              <a:t>What the customer, mechanic and</a:t>
            </a:r>
          </a:p>
          <a:p>
            <a:pPr algn="l">
              <a:lnSpc>
                <a:spcPct val="130000"/>
              </a:lnSpc>
            </a:pPr>
            <a:r>
              <a:rPr sz="950" b="0" i="0">
                <a:solidFill>
                  <a:srgbClr val="F4F7FB"/>
                </a:solidFill>
                <a:latin typeface="Segoe UI"/>
              </a:rPr>
              <a:t>authority actually experience</a:t>
            </a:r>
          </a:p>
        </p:txBody>
      </p:sp>
      <p:sp>
        <p:nvSpPr>
          <p:cNvPr id="25" name="Rounded Rectangle 24"/>
          <p:cNvSpPr/>
          <p:nvPr/>
        </p:nvSpPr>
        <p:spPr>
          <a:xfrm>
            <a:off x="9692640" y="4617720"/>
            <a:ext cx="1508760"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34D399"/>
                </a:solidFill>
                <a:latin typeface="Segoe UI"/>
              </a:rPr>
              <a:t>IMPLEMENTED</a:t>
            </a:r>
          </a:p>
        </p:txBody>
      </p:sp>
      <p:sp>
        <p:nvSpPr>
          <p:cNvPr id="26" name="TextBox 25"/>
          <p:cNvSpPr txBox="1"/>
          <p:nvPr/>
        </p:nvSpPr>
        <p:spPr>
          <a:xfrm>
            <a:off x="777240" y="5285232"/>
            <a:ext cx="4937760" cy="274320"/>
          </a:xfrm>
          <a:prstGeom prst="rect">
            <a:avLst/>
          </a:prstGeom>
          <a:noFill/>
        </p:spPr>
        <p:txBody>
          <a:bodyPr wrap="square" lIns="0" tIns="0" rIns="0" bIns="0" anchor="t">
            <a:spAutoFit/>
          </a:bodyPr>
          <a:lstStyle/>
          <a:p>
            <a:pPr algn="l">
              <a:lnSpc>
                <a:spcPct val="125000"/>
              </a:lnSpc>
            </a:pPr>
            <a:r>
              <a:rPr sz="1000" b="1" i="0" spc="180">
                <a:solidFill>
                  <a:srgbClr val="2E7DFF"/>
                </a:solidFill>
                <a:latin typeface="Segoe UI"/>
              </a:rPr>
              <a:t>DEPLOYMENT MODELS</a:t>
            </a:r>
          </a:p>
        </p:txBody>
      </p:sp>
      <p:sp>
        <p:nvSpPr>
          <p:cNvPr id="27" name="Rounded Rectangle 26"/>
          <p:cNvSpPr/>
          <p:nvPr/>
        </p:nvSpPr>
        <p:spPr>
          <a:xfrm>
            <a:off x="777240" y="5559552"/>
            <a:ext cx="3429000" cy="65836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PUBLIC</a:t>
            </a:r>
          </a:p>
          <a:p>
            <a:pPr algn="ctr">
              <a:lnSpc>
                <a:spcPct val="110000"/>
              </a:lnSpc>
            </a:pPr>
            <a:r>
              <a:rPr sz="850">
                <a:solidFill>
                  <a:srgbClr val="93A1B5"/>
                </a:solidFill>
                <a:latin typeface="Segoe UI"/>
              </a:rPr>
              <a:t>Shared provider estate.
Lowest cost, least control.</a:t>
            </a:r>
          </a:p>
        </p:txBody>
      </p:sp>
      <p:sp>
        <p:nvSpPr>
          <p:cNvPr id="28" name="Rounded Rectangle 27"/>
          <p:cNvSpPr/>
          <p:nvPr/>
        </p:nvSpPr>
        <p:spPr>
          <a:xfrm>
            <a:off x="4370832" y="5559552"/>
            <a:ext cx="3429000" cy="65836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PRIVATE</a:t>
            </a:r>
          </a:p>
          <a:p>
            <a:pPr algn="ctr">
              <a:lnSpc>
                <a:spcPct val="110000"/>
              </a:lnSpc>
            </a:pPr>
            <a:r>
              <a:rPr sz="850">
                <a:solidFill>
                  <a:srgbClr val="93A1B5"/>
                </a:solidFill>
                <a:latin typeface="Segoe UI"/>
              </a:rPr>
              <a:t>Dedicated estate. Suits the
government / RAKSHA tenant.</a:t>
            </a:r>
          </a:p>
        </p:txBody>
      </p:sp>
      <p:sp>
        <p:nvSpPr>
          <p:cNvPr id="29" name="Rounded Rectangle 28"/>
          <p:cNvSpPr/>
          <p:nvPr/>
        </p:nvSpPr>
        <p:spPr>
          <a:xfrm>
            <a:off x="7964424" y="5559552"/>
            <a:ext cx="3429000" cy="658368"/>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HYBRID</a:t>
            </a:r>
          </a:p>
          <a:p>
            <a:pPr algn="ctr">
              <a:lnSpc>
                <a:spcPct val="110000"/>
              </a:lnSpc>
            </a:pPr>
            <a:r>
              <a:rPr sz="850">
                <a:solidFill>
                  <a:srgbClr val="93A1B5"/>
                </a:solidFill>
                <a:latin typeface="Segoe UI"/>
              </a:rPr>
              <a:t>Public for the citizen app,
private for authority data.</a:t>
            </a:r>
          </a:p>
        </p:txBody>
      </p:sp>
      <p:sp>
        <p:nvSpPr>
          <p:cNvPr id="30" name="Rounded Rectangle 29"/>
          <p:cNvSpPr/>
          <p:nvPr/>
        </p:nvSpPr>
        <p:spPr>
          <a:xfrm>
            <a:off x="777240"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M1 · UNDERSTANDING</a:t>
            </a:r>
          </a:p>
        </p:txBody>
      </p:sp>
      <p:sp>
        <p:nvSpPr>
          <p:cNvPr id="31" name="Rounded Rectangle 30"/>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2" name="Rounded Rectangle 31"/>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3" name="Rounded Rectangle 32"/>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4" name="TextBox 33"/>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07</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1 · GOALS, RISKS AND CHALLENGES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100" b="1" i="0">
                <a:solidFill>
                  <a:srgbClr val="F4F7FB"/>
                </a:solidFill>
                <a:latin typeface="Segoe UI Semibold"/>
              </a:rPr>
              <a:t>CLOUD BENEFITS VS CLOUD CHALLENGES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148840"/>
            <a:ext cx="5120640" cy="3749039"/>
          </a:xfrm>
          <a:prstGeom prst="roundRect">
            <a:avLst>
              <a:gd name="adj" fmla="val 3500"/>
            </a:avLst>
          </a:prstGeom>
          <a:solidFill>
            <a:srgbClr val="0C1322"/>
          </a:solidFill>
          <a:ln w="1524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331720"/>
            <a:ext cx="4572000" cy="292608"/>
          </a:xfrm>
          <a:prstGeom prst="rect">
            <a:avLst/>
          </a:prstGeom>
          <a:noFill/>
        </p:spPr>
        <p:txBody>
          <a:bodyPr wrap="square" lIns="0" tIns="0" rIns="0" bIns="0" anchor="t">
            <a:spAutoFit/>
          </a:bodyPr>
          <a:lstStyle/>
          <a:p>
            <a:pPr algn="l">
              <a:lnSpc>
                <a:spcPct val="125000"/>
              </a:lnSpc>
            </a:pPr>
            <a:r>
              <a:rPr sz="1300" b="1" i="0" spc="220">
                <a:solidFill>
                  <a:srgbClr val="34D399"/>
                </a:solidFill>
                <a:latin typeface="Segoe UI"/>
              </a:rPr>
              <a:t>BENEFITS</a:t>
            </a:r>
          </a:p>
        </p:txBody>
      </p:sp>
      <p:sp>
        <p:nvSpPr>
          <p:cNvPr id="8" name="TextBox 7"/>
          <p:cNvSpPr txBox="1"/>
          <p:nvPr/>
        </p:nvSpPr>
        <p:spPr>
          <a:xfrm>
            <a:off x="1005840" y="2743200"/>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Scalability</a:t>
            </a:r>
          </a:p>
        </p:txBody>
      </p:sp>
      <p:sp>
        <p:nvSpPr>
          <p:cNvPr id="9" name="TextBox 8"/>
          <p:cNvSpPr txBox="1"/>
          <p:nvPr/>
        </p:nvSpPr>
        <p:spPr>
          <a:xfrm>
            <a:off x="1005840" y="295351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One platform serves a city or a state without redesign.</a:t>
            </a:r>
          </a:p>
        </p:txBody>
      </p:sp>
      <p:sp>
        <p:nvSpPr>
          <p:cNvPr id="10" name="TextBox 9"/>
          <p:cNvSpPr txBox="1"/>
          <p:nvPr/>
        </p:nvSpPr>
        <p:spPr>
          <a:xfrm>
            <a:off x="1005840" y="3246120"/>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Availability</a:t>
            </a:r>
          </a:p>
        </p:txBody>
      </p:sp>
      <p:sp>
        <p:nvSpPr>
          <p:cNvPr id="11" name="TextBox 10"/>
          <p:cNvSpPr txBox="1"/>
          <p:nvPr/>
        </p:nvSpPr>
        <p:spPr>
          <a:xfrm>
            <a:off x="1005840" y="345643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A breakdown at 2am must reach a live service.</a:t>
            </a:r>
          </a:p>
        </p:txBody>
      </p:sp>
      <p:sp>
        <p:nvSpPr>
          <p:cNvPr id="12" name="TextBox 11"/>
          <p:cNvSpPr txBox="1"/>
          <p:nvPr/>
        </p:nvSpPr>
        <p:spPr>
          <a:xfrm>
            <a:off x="1005840" y="374903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Centralised services</a:t>
            </a:r>
          </a:p>
        </p:txBody>
      </p:sp>
      <p:sp>
        <p:nvSpPr>
          <p:cNvPr id="13" name="TextBox 12"/>
          <p:cNvSpPr txBox="1"/>
          <p:nvPr/>
        </p:nvSpPr>
        <p:spPr>
          <a:xfrm>
            <a:off x="1005840" y="395935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One authoritative booking state, not many copies.</a:t>
            </a:r>
          </a:p>
        </p:txBody>
      </p:sp>
      <p:sp>
        <p:nvSpPr>
          <p:cNvPr id="14" name="TextBox 13"/>
          <p:cNvSpPr txBox="1"/>
          <p:nvPr/>
        </p:nvSpPr>
        <p:spPr>
          <a:xfrm>
            <a:off x="1005840" y="425195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Remote access</a:t>
            </a:r>
          </a:p>
        </p:txBody>
      </p:sp>
      <p:sp>
        <p:nvSpPr>
          <p:cNvPr id="15" name="TextBox 14"/>
          <p:cNvSpPr txBox="1"/>
          <p:nvPr/>
        </p:nvSpPr>
        <p:spPr>
          <a:xfrm>
            <a:off x="1005840" y="446227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Any phone browser, no install, no app store.</a:t>
            </a:r>
          </a:p>
        </p:txBody>
      </p:sp>
      <p:sp>
        <p:nvSpPr>
          <p:cNvPr id="16" name="TextBox 15"/>
          <p:cNvSpPr txBox="1"/>
          <p:nvPr/>
        </p:nvSpPr>
        <p:spPr>
          <a:xfrm>
            <a:off x="1005840" y="475487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Resource sharing</a:t>
            </a:r>
          </a:p>
        </p:txBody>
      </p:sp>
      <p:sp>
        <p:nvSpPr>
          <p:cNvPr id="17" name="TextBox 16"/>
          <p:cNvSpPr txBox="1"/>
          <p:nvPr/>
        </p:nvSpPr>
        <p:spPr>
          <a:xfrm>
            <a:off x="1005840" y="496519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Customers, mechanics and authorities share one estate.</a:t>
            </a:r>
          </a:p>
        </p:txBody>
      </p:sp>
      <p:sp>
        <p:nvSpPr>
          <p:cNvPr id="18" name="TextBox 17"/>
          <p:cNvSpPr txBox="1"/>
          <p:nvPr/>
        </p:nvSpPr>
        <p:spPr>
          <a:xfrm>
            <a:off x="1005840" y="525779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Operational flexibility</a:t>
            </a:r>
          </a:p>
        </p:txBody>
      </p:sp>
      <p:sp>
        <p:nvSpPr>
          <p:cNvPr id="19" name="TextBox 18"/>
          <p:cNvSpPr txBox="1"/>
          <p:nvPr/>
        </p:nvSpPr>
        <p:spPr>
          <a:xfrm>
            <a:off x="1005840" y="546811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Providers are swappable behind adapters.</a:t>
            </a:r>
          </a:p>
        </p:txBody>
      </p:sp>
      <p:sp>
        <p:nvSpPr>
          <p:cNvPr id="20" name="Rounded Rectangle 19"/>
          <p:cNvSpPr/>
          <p:nvPr/>
        </p:nvSpPr>
        <p:spPr>
          <a:xfrm>
            <a:off x="6263640" y="2148840"/>
            <a:ext cx="5120640" cy="3749039"/>
          </a:xfrm>
          <a:prstGeom prst="roundRect">
            <a:avLst>
              <a:gd name="adj" fmla="val 3500"/>
            </a:avLst>
          </a:prstGeom>
          <a:solidFill>
            <a:srgbClr val="0C1322"/>
          </a:solidFill>
          <a:ln w="1524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492240" y="2331720"/>
            <a:ext cx="4572000" cy="292608"/>
          </a:xfrm>
          <a:prstGeom prst="rect">
            <a:avLst/>
          </a:prstGeom>
          <a:noFill/>
        </p:spPr>
        <p:txBody>
          <a:bodyPr wrap="square" lIns="0" tIns="0" rIns="0" bIns="0" anchor="t">
            <a:spAutoFit/>
          </a:bodyPr>
          <a:lstStyle/>
          <a:p>
            <a:pPr algn="l">
              <a:lnSpc>
                <a:spcPct val="125000"/>
              </a:lnSpc>
            </a:pPr>
            <a:r>
              <a:rPr sz="1300" b="1" i="0" spc="220">
                <a:solidFill>
                  <a:srgbClr val="FF4D5E"/>
                </a:solidFill>
                <a:latin typeface="Segoe UI"/>
              </a:rPr>
              <a:t>RISKS AND CHALLENGES</a:t>
            </a:r>
          </a:p>
        </p:txBody>
      </p:sp>
      <p:sp>
        <p:nvSpPr>
          <p:cNvPr id="22" name="TextBox 21"/>
          <p:cNvSpPr txBox="1"/>
          <p:nvPr/>
        </p:nvSpPr>
        <p:spPr>
          <a:xfrm>
            <a:off x="6492240" y="2743200"/>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Security</a:t>
            </a:r>
          </a:p>
        </p:txBody>
      </p:sp>
      <p:sp>
        <p:nvSpPr>
          <p:cNvPr id="23" name="TextBox 22"/>
          <p:cNvSpPr txBox="1"/>
          <p:nvPr/>
        </p:nvSpPr>
        <p:spPr>
          <a:xfrm>
            <a:off x="6492240" y="295351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Handled: OTP, rotating refresh tokens, resource-scoped RBAC.</a:t>
            </a:r>
          </a:p>
        </p:txBody>
      </p:sp>
      <p:sp>
        <p:nvSpPr>
          <p:cNvPr id="24" name="TextBox 23"/>
          <p:cNvSpPr txBox="1"/>
          <p:nvPr/>
        </p:nvSpPr>
        <p:spPr>
          <a:xfrm>
            <a:off x="6492240" y="3246120"/>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Privacy</a:t>
            </a:r>
          </a:p>
        </p:txBody>
      </p:sp>
      <p:sp>
        <p:nvSpPr>
          <p:cNvPr id="25" name="TextBox 24"/>
          <p:cNvSpPr txBox="1"/>
          <p:nvPr/>
        </p:nvSpPr>
        <p:spPr>
          <a:xfrm>
            <a:off x="6492240" y="345643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Medical data is break-glass only, and every read is logged.</a:t>
            </a:r>
          </a:p>
        </p:txBody>
      </p:sp>
      <p:sp>
        <p:nvSpPr>
          <p:cNvPr id="26" name="TextBox 25"/>
          <p:cNvSpPr txBox="1"/>
          <p:nvPr/>
        </p:nvSpPr>
        <p:spPr>
          <a:xfrm>
            <a:off x="6492240" y="374903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Network dependency</a:t>
            </a:r>
          </a:p>
        </p:txBody>
      </p:sp>
      <p:sp>
        <p:nvSpPr>
          <p:cNvPr id="27" name="TextBox 26"/>
          <p:cNvSpPr txBox="1"/>
          <p:nvPr/>
        </p:nvSpPr>
        <p:spPr>
          <a:xfrm>
            <a:off x="6492240" y="395935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Answered: offline-first PWA with an idempotent sync journal.</a:t>
            </a:r>
          </a:p>
        </p:txBody>
      </p:sp>
      <p:sp>
        <p:nvSpPr>
          <p:cNvPr id="28" name="TextBox 27"/>
          <p:cNvSpPr txBox="1"/>
          <p:nvPr/>
        </p:nvSpPr>
        <p:spPr>
          <a:xfrm>
            <a:off x="6492240" y="425195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Availability dependency</a:t>
            </a:r>
          </a:p>
        </p:txBody>
      </p:sp>
      <p:sp>
        <p:nvSpPr>
          <p:cNvPr id="29" name="TextBox 28"/>
          <p:cNvSpPr txBox="1"/>
          <p:nvPr/>
        </p:nvSpPr>
        <p:spPr>
          <a:xfrm>
            <a:off x="6492240" y="446227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An emergency path cannot fail silently - SOS never queues.</a:t>
            </a:r>
          </a:p>
        </p:txBody>
      </p:sp>
      <p:sp>
        <p:nvSpPr>
          <p:cNvPr id="30" name="TextBox 29"/>
          <p:cNvSpPr txBox="1"/>
          <p:nvPr/>
        </p:nvSpPr>
        <p:spPr>
          <a:xfrm>
            <a:off x="6492240" y="475487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Resource management</a:t>
            </a:r>
          </a:p>
        </p:txBody>
      </p:sp>
      <p:sp>
        <p:nvSpPr>
          <p:cNvPr id="31" name="TextBox 30"/>
          <p:cNvSpPr txBox="1"/>
          <p:nvPr/>
        </p:nvSpPr>
        <p:spPr>
          <a:xfrm>
            <a:off x="6492240" y="496519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Rate limits per number and per IP guard shared capacity.</a:t>
            </a:r>
          </a:p>
        </p:txBody>
      </p:sp>
      <p:sp>
        <p:nvSpPr>
          <p:cNvPr id="32" name="TextBox 31"/>
          <p:cNvSpPr txBox="1"/>
          <p:nvPr/>
        </p:nvSpPr>
        <p:spPr>
          <a:xfrm>
            <a:off x="6492240" y="5257799"/>
            <a:ext cx="4663440" cy="237744"/>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Data protection</a:t>
            </a:r>
          </a:p>
        </p:txBody>
      </p:sp>
      <p:sp>
        <p:nvSpPr>
          <p:cNvPr id="33" name="TextBox 32"/>
          <p:cNvSpPr txBox="1"/>
          <p:nvPr/>
        </p:nvSpPr>
        <p:spPr>
          <a:xfrm>
            <a:off x="6492240" y="5468112"/>
            <a:ext cx="4663440" cy="274320"/>
          </a:xfrm>
          <a:prstGeom prst="rect">
            <a:avLst/>
          </a:prstGeom>
          <a:noFill/>
        </p:spPr>
        <p:txBody>
          <a:bodyPr wrap="square" lIns="0" tIns="0" rIns="0" bIns="0" anchor="t">
            <a:spAutoFit/>
          </a:bodyPr>
          <a:lstStyle/>
          <a:p>
            <a:pPr algn="l">
              <a:lnSpc>
                <a:spcPct val="120000"/>
              </a:lnSpc>
            </a:pPr>
            <a:r>
              <a:rPr sz="900" b="0" i="0">
                <a:solidFill>
                  <a:srgbClr val="93A1B5"/>
                </a:solidFill>
                <a:latin typeface="Segoe UI"/>
              </a:rPr>
              <a:t>Hash-chained audit log makes tampering detectable.</a:t>
            </a:r>
          </a:p>
        </p:txBody>
      </p:sp>
      <p:sp>
        <p:nvSpPr>
          <p:cNvPr id="34" name="Rounded Rectangle 33"/>
          <p:cNvSpPr/>
          <p:nvPr/>
        </p:nvSpPr>
        <p:spPr>
          <a:xfrm>
            <a:off x="777240"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M1 · UNDERSTANDING</a:t>
            </a:r>
          </a:p>
        </p:txBody>
      </p:sp>
      <p:sp>
        <p:nvSpPr>
          <p:cNvPr id="35" name="Rounded Rectangle 34"/>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6" name="Rounded Rectangle 35"/>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7" name="Rounded Rectangle 36"/>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8" name="TextBox 3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08</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THE FIVE TECHNOLOGIES BENEATH EVERY CLOUD</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MODULE 2 — CLOUD ENABLING TECHNOLOGY</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331720"/>
            <a:ext cx="2011680" cy="150876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DATA CENTER</a:t>
            </a:r>
          </a:p>
          <a:p>
            <a:pPr algn="ctr">
              <a:lnSpc>
                <a:spcPct val="110000"/>
              </a:lnSpc>
            </a:pPr>
            <a:r>
              <a:rPr sz="900">
                <a:solidFill>
                  <a:srgbClr val="93A1B5"/>
                </a:solidFill>
                <a:latin typeface="Segoe UI"/>
              </a:rPr>
              <a:t>Physical estate:
compute, storage,
power, cooling</a:t>
            </a:r>
          </a:p>
        </p:txBody>
      </p:sp>
      <p:cxnSp>
        <p:nvCxnSpPr>
          <p:cNvPr id="7" name="Connector 6"/>
          <p:cNvCxnSpPr/>
          <p:nvPr/>
        </p:nvCxnSpPr>
        <p:spPr>
          <a:xfrm>
            <a:off x="1783080" y="3877056"/>
            <a:ext cx="0" cy="347472"/>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898648" y="2331720"/>
            <a:ext cx="2011680" cy="150876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VIRTUALIZATION</a:t>
            </a:r>
          </a:p>
          <a:p>
            <a:pPr algn="ctr">
              <a:lnSpc>
                <a:spcPct val="110000"/>
              </a:lnSpc>
            </a:pPr>
            <a:r>
              <a:rPr sz="900">
                <a:solidFill>
                  <a:srgbClr val="93A1B5"/>
                </a:solidFill>
                <a:latin typeface="Segoe UI"/>
              </a:rPr>
              <a:t>One physical host,
many isolated
runtimes</a:t>
            </a:r>
          </a:p>
        </p:txBody>
      </p:sp>
      <p:cxnSp>
        <p:nvCxnSpPr>
          <p:cNvPr id="9" name="Connector 8"/>
          <p:cNvCxnSpPr/>
          <p:nvPr/>
        </p:nvCxnSpPr>
        <p:spPr>
          <a:xfrm>
            <a:off x="3904487" y="3877056"/>
            <a:ext cx="0" cy="347472"/>
          </a:xfrm>
          <a:prstGeom prst="line">
            <a:avLst/>
          </a:prstGeom>
          <a:ln w="1524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020056" y="2331720"/>
            <a:ext cx="2011680" cy="150876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WEB TECHNOLOGY</a:t>
            </a:r>
          </a:p>
          <a:p>
            <a:pPr algn="ctr">
              <a:lnSpc>
                <a:spcPct val="110000"/>
              </a:lnSpc>
            </a:pPr>
            <a:r>
              <a:rPr sz="900">
                <a:solidFill>
                  <a:srgbClr val="93A1B5"/>
                </a:solidFill>
                <a:latin typeface="Segoe UI"/>
              </a:rPr>
              <a:t>HTTP, REST, the
browser as the
universal client</a:t>
            </a:r>
          </a:p>
        </p:txBody>
      </p:sp>
      <p:cxnSp>
        <p:nvCxnSpPr>
          <p:cNvPr id="11" name="Connector 10"/>
          <p:cNvCxnSpPr/>
          <p:nvPr/>
        </p:nvCxnSpPr>
        <p:spPr>
          <a:xfrm>
            <a:off x="6025896" y="3877056"/>
            <a:ext cx="0" cy="347472"/>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141464" y="2331720"/>
            <a:ext cx="2011680" cy="150876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MULTITENANCY</a:t>
            </a:r>
          </a:p>
          <a:p>
            <a:pPr algn="ctr">
              <a:lnSpc>
                <a:spcPct val="110000"/>
              </a:lnSpc>
            </a:pPr>
            <a:r>
              <a:rPr sz="900">
                <a:solidFill>
                  <a:srgbClr val="93A1B5"/>
                </a:solidFill>
                <a:latin typeface="Segoe UI"/>
              </a:rPr>
              <a:t>One instance,
many isolated
tenants</a:t>
            </a:r>
          </a:p>
        </p:txBody>
      </p:sp>
      <p:cxnSp>
        <p:nvCxnSpPr>
          <p:cNvPr id="13" name="Connector 12"/>
          <p:cNvCxnSpPr/>
          <p:nvPr/>
        </p:nvCxnSpPr>
        <p:spPr>
          <a:xfrm>
            <a:off x="8147304" y="3877056"/>
            <a:ext cx="0" cy="347472"/>
          </a:xfrm>
          <a:prstGeom prst="line">
            <a:avLst/>
          </a:prstGeom>
          <a:ln w="1524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262872" y="2331720"/>
            <a:ext cx="2011680" cy="150876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50" b="1">
                <a:solidFill>
                  <a:srgbClr val="F4F7FB"/>
                </a:solidFill>
                <a:latin typeface="Segoe UI Semibold"/>
              </a:rPr>
              <a:t>SERVICE TECH</a:t>
            </a:r>
          </a:p>
          <a:p>
            <a:pPr algn="ctr">
              <a:lnSpc>
                <a:spcPct val="110000"/>
              </a:lnSpc>
            </a:pPr>
            <a:r>
              <a:rPr sz="900">
                <a:solidFill>
                  <a:srgbClr val="93A1B5"/>
                </a:solidFill>
                <a:latin typeface="Segoe UI"/>
              </a:rPr>
              <a:t>Capabilities exposed
as independent
services</a:t>
            </a:r>
          </a:p>
        </p:txBody>
      </p:sp>
      <p:cxnSp>
        <p:nvCxnSpPr>
          <p:cNvPr id="15" name="Connector 14"/>
          <p:cNvCxnSpPr/>
          <p:nvPr/>
        </p:nvCxnSpPr>
        <p:spPr>
          <a:xfrm>
            <a:off x="10268712" y="3877056"/>
            <a:ext cx="0" cy="347472"/>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4251960"/>
            <a:ext cx="10607040" cy="868680"/>
          </a:xfrm>
          <a:prstGeom prst="roundRect">
            <a:avLst>
              <a:gd name="adj" fmla="val 3500"/>
            </a:avLst>
          </a:prstGeom>
          <a:solidFill>
            <a:srgbClr val="131D30"/>
          </a:solidFill>
          <a:ln w="1905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14400" y="4416552"/>
            <a:ext cx="10332720" cy="320040"/>
          </a:xfrm>
          <a:prstGeom prst="rect">
            <a:avLst/>
          </a:prstGeom>
          <a:noFill/>
        </p:spPr>
        <p:txBody>
          <a:bodyPr wrap="square" lIns="0" tIns="0" rIns="0" bIns="0" anchor="t">
            <a:spAutoFit/>
          </a:bodyPr>
          <a:lstStyle/>
          <a:p>
            <a:pPr algn="ctr">
              <a:lnSpc>
                <a:spcPct val="125000"/>
              </a:lnSpc>
            </a:pPr>
            <a:r>
              <a:rPr sz="1500" b="1" i="0">
                <a:solidFill>
                  <a:srgbClr val="F4F7FB"/>
                </a:solidFill>
                <a:latin typeface="Segoe UI Semibold"/>
              </a:rPr>
              <a:t>ROADASSIST BHARAT</a:t>
            </a:r>
          </a:p>
        </p:txBody>
      </p:sp>
      <p:sp>
        <p:nvSpPr>
          <p:cNvPr id="18" name="TextBox 17"/>
          <p:cNvSpPr txBox="1"/>
          <p:nvPr/>
        </p:nvSpPr>
        <p:spPr>
          <a:xfrm>
            <a:off x="914400" y="4736592"/>
            <a:ext cx="10332720" cy="274320"/>
          </a:xfrm>
          <a:prstGeom prst="rect">
            <a:avLst/>
          </a:prstGeom>
          <a:noFill/>
        </p:spPr>
        <p:txBody>
          <a:bodyPr wrap="square" lIns="0" tIns="0" rIns="0" bIns="0" anchor="t">
            <a:spAutoFit/>
          </a:bodyPr>
          <a:lstStyle/>
          <a:p>
            <a:pPr algn="ctr">
              <a:lnSpc>
                <a:spcPct val="125000"/>
              </a:lnSpc>
            </a:pPr>
            <a:r>
              <a:rPr sz="1050" b="0" i="0">
                <a:solidFill>
                  <a:srgbClr val="22D3EE"/>
                </a:solidFill>
                <a:latin typeface="Segoe UI"/>
              </a:rPr>
              <a:t>Customer PWA · Mechanic console · RAKSHA authority dashboard · Public site</a:t>
            </a:r>
          </a:p>
        </p:txBody>
      </p:sp>
      <p:sp>
        <p:nvSpPr>
          <p:cNvPr id="19" name="Rounded Rectangle 18"/>
          <p:cNvSpPr/>
          <p:nvPr/>
        </p:nvSpPr>
        <p:spPr>
          <a:xfrm>
            <a:off x="777240" y="5285232"/>
            <a:ext cx="2011680" cy="292608"/>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Web technology — IMPLEMENTED</a:t>
            </a:r>
          </a:p>
        </p:txBody>
      </p:sp>
      <p:sp>
        <p:nvSpPr>
          <p:cNvPr id="20" name="Rounded Rectangle 19"/>
          <p:cNvSpPr/>
          <p:nvPr/>
        </p:nvSpPr>
        <p:spPr>
          <a:xfrm>
            <a:off x="2898648" y="5285232"/>
            <a:ext cx="2011680" cy="292608"/>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Service technology — IMPLEMENTED</a:t>
            </a:r>
          </a:p>
        </p:txBody>
      </p:sp>
      <p:sp>
        <p:nvSpPr>
          <p:cNvPr id="21" name="Rounded Rectangle 20"/>
          <p:cNvSpPr/>
          <p:nvPr/>
        </p:nvSpPr>
        <p:spPr>
          <a:xfrm>
            <a:off x="5020055" y="5285232"/>
            <a:ext cx="2011680" cy="292608"/>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Multitenancy — SCHEMA PRESENT</a:t>
            </a:r>
          </a:p>
        </p:txBody>
      </p:sp>
      <p:sp>
        <p:nvSpPr>
          <p:cNvPr id="22" name="Rounded Rectangle 21"/>
          <p:cNvSpPr/>
          <p:nvPr/>
        </p:nvSpPr>
        <p:spPr>
          <a:xfrm>
            <a:off x="7141463" y="5285232"/>
            <a:ext cx="2011680" cy="292608"/>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Virtualization — CONTAINERS ONLY</a:t>
            </a:r>
          </a:p>
        </p:txBody>
      </p:sp>
      <p:sp>
        <p:nvSpPr>
          <p:cNvPr id="23" name="Rounded Rectangle 22"/>
          <p:cNvSpPr/>
          <p:nvPr/>
        </p:nvSpPr>
        <p:spPr>
          <a:xfrm>
            <a:off x="9262872" y="5285232"/>
            <a:ext cx="2011680" cy="292608"/>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2D3EE"/>
                </a:solidFill>
                <a:latin typeface="Segoe UI"/>
              </a:rPr>
              <a:t>Data center — PROVIDER LAYER</a:t>
            </a:r>
          </a:p>
        </p:txBody>
      </p:sp>
      <p:sp>
        <p:nvSpPr>
          <p:cNvPr id="24" name="TextBox 23"/>
          <p:cNvSpPr txBox="1"/>
          <p:nvPr/>
        </p:nvSpPr>
        <p:spPr>
          <a:xfrm>
            <a:off x="777240" y="5715000"/>
            <a:ext cx="10607040" cy="365760"/>
          </a:xfrm>
          <a:prstGeom prst="rect">
            <a:avLst/>
          </a:prstGeom>
          <a:noFill/>
        </p:spPr>
        <p:txBody>
          <a:bodyPr wrap="square" lIns="0" tIns="0" rIns="0" bIns="0" anchor="t">
            <a:spAutoFit/>
          </a:bodyPr>
          <a:lstStyle/>
          <a:p>
            <a:pPr algn="l">
              <a:lnSpc>
                <a:spcPct val="135000"/>
              </a:lnSpc>
            </a:pPr>
            <a:r>
              <a:rPr sz="1000" b="0" i="0">
                <a:solidFill>
                  <a:srgbClr val="5C6B80"/>
                </a:solidFill>
                <a:latin typeface="Segoe UI"/>
              </a:rPr>
              <a:t>Honest position: the top two are built into the application; multitenancy exists in the schema; virtualization is container-level, not a hypervisor we operate; the data centre belongs to whichever provider hosts it.</a:t>
            </a:r>
          </a:p>
        </p:txBody>
      </p:sp>
      <p:sp>
        <p:nvSpPr>
          <p:cNvPr id="25" name="Rounded Rectangle 24"/>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26" name="Rounded Rectangle 25"/>
          <p:cNvSpPr/>
          <p:nvPr/>
        </p:nvSpPr>
        <p:spPr>
          <a:xfrm>
            <a:off x="3319272"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M2 · ENABLING TECH</a:t>
            </a:r>
          </a:p>
        </p:txBody>
      </p:sp>
      <p:sp>
        <p:nvSpPr>
          <p:cNvPr id="27" name="Rounded Rectangle 26"/>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28" name="Rounded Rectangle 27"/>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09</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2 · DATA CENTER TECHNOLOGY</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100" b="1" i="0">
                <a:solidFill>
                  <a:srgbClr val="F4F7FB"/>
                </a:solidFill>
                <a:latin typeface="Segoe UI Semibold"/>
              </a:rPr>
              <a:t>THE CLOUD NEEDS A PHYSICAL FOUNDATION.</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pic>
        <p:nvPicPr>
          <p:cNvPr id="6" name="Picture 5" descr="_fit_dc.png"/>
          <p:cNvPicPr>
            <a:picLocks noChangeAspect="1"/>
          </p:cNvPicPr>
          <p:nvPr/>
        </p:nvPicPr>
        <p:blipFill>
          <a:blip r:embed="rId4"/>
          <a:stretch>
            <a:fillRect/>
          </a:stretch>
        </p:blipFill>
        <p:spPr>
          <a:xfrm>
            <a:off x="777240" y="2148840"/>
            <a:ext cx="5029200" cy="3017520"/>
          </a:xfrm>
          <a:prstGeom prst="rect">
            <a:avLst/>
          </a:prstGeom>
        </p:spPr>
      </p:pic>
      <p:sp>
        <p:nvSpPr>
          <p:cNvPr id="7" name="Rounded Rectangle 6"/>
          <p:cNvSpPr/>
          <p:nvPr/>
        </p:nvSpPr>
        <p:spPr>
          <a:xfrm>
            <a:off x="777240" y="2148840"/>
            <a:ext cx="5029200" cy="3017520"/>
          </a:xfrm>
          <a:prstGeom prst="roundRect">
            <a:avLst>
              <a:gd name="adj" fmla="val 2000"/>
            </a:avLst>
          </a:prstGeom>
          <a:no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7"/>
          <p:cNvSpPr/>
          <p:nvPr/>
        </p:nvSpPr>
        <p:spPr>
          <a:xfrm>
            <a:off x="6126480" y="2148840"/>
            <a:ext cx="5257800" cy="3017520"/>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2331720"/>
            <a:ext cx="4846320" cy="274320"/>
          </a:xfrm>
          <a:prstGeom prst="rect">
            <a:avLst/>
          </a:prstGeom>
          <a:noFill/>
        </p:spPr>
        <p:txBody>
          <a:bodyPr wrap="square" lIns="0" tIns="0" rIns="0" bIns="0" anchor="t">
            <a:spAutoFit/>
          </a:bodyPr>
          <a:lstStyle/>
          <a:p>
            <a:pPr algn="l">
              <a:lnSpc>
                <a:spcPct val="125000"/>
              </a:lnSpc>
            </a:pPr>
            <a:r>
              <a:rPr sz="1050" b="1" i="0" spc="180">
                <a:solidFill>
                  <a:srgbClr val="2E7DFF"/>
                </a:solidFill>
                <a:latin typeface="Segoe UI"/>
              </a:rPr>
              <a:t>WHAT A DATA CENTRE PROVIDES</a:t>
            </a:r>
          </a:p>
        </p:txBody>
      </p:sp>
      <p:sp>
        <p:nvSpPr>
          <p:cNvPr id="10" name="Rounded Rectangle 9"/>
          <p:cNvSpPr/>
          <p:nvPr/>
        </p:nvSpPr>
        <p:spPr>
          <a:xfrm>
            <a:off x="6355080" y="2752344"/>
            <a:ext cx="182880" cy="182880"/>
          </a:xfrm>
          <a:prstGeom prst="roundRect">
            <a:avLst>
              <a:gd name="adj" fmla="val 50000"/>
            </a:avLst>
          </a:prstGeom>
          <a:solidFill>
            <a:srgbClr val="2E7DFF"/>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1" name="TextBox 10"/>
          <p:cNvSpPr txBox="1"/>
          <p:nvPr/>
        </p:nvSpPr>
        <p:spPr>
          <a:xfrm>
            <a:off x="6656832" y="2706624"/>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Compute</a:t>
            </a:r>
          </a:p>
        </p:txBody>
      </p:sp>
      <p:sp>
        <p:nvSpPr>
          <p:cNvPr id="12" name="TextBox 11"/>
          <p:cNvSpPr txBox="1"/>
          <p:nvPr/>
        </p:nvSpPr>
        <p:spPr>
          <a:xfrm>
            <a:off x="6656832" y="2926080"/>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Racked servers running virtualized workloads</a:t>
            </a:r>
          </a:p>
        </p:txBody>
      </p:sp>
      <p:sp>
        <p:nvSpPr>
          <p:cNvPr id="13" name="Rounded Rectangle 12"/>
          <p:cNvSpPr/>
          <p:nvPr/>
        </p:nvSpPr>
        <p:spPr>
          <a:xfrm>
            <a:off x="6355080" y="3154679"/>
            <a:ext cx="182880" cy="182880"/>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4" name="TextBox 13"/>
          <p:cNvSpPr txBox="1"/>
          <p:nvPr/>
        </p:nvSpPr>
        <p:spPr>
          <a:xfrm>
            <a:off x="6656832" y="3108960"/>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Storage</a:t>
            </a:r>
          </a:p>
        </p:txBody>
      </p:sp>
      <p:sp>
        <p:nvSpPr>
          <p:cNvPr id="15" name="TextBox 14"/>
          <p:cNvSpPr txBox="1"/>
          <p:nvPr/>
        </p:nvSpPr>
        <p:spPr>
          <a:xfrm>
            <a:off x="6656832" y="3328416"/>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Disk arrays and storage networks</a:t>
            </a:r>
          </a:p>
        </p:txBody>
      </p:sp>
      <p:sp>
        <p:nvSpPr>
          <p:cNvPr id="16" name="Rounded Rectangle 15"/>
          <p:cNvSpPr/>
          <p:nvPr/>
        </p:nvSpPr>
        <p:spPr>
          <a:xfrm>
            <a:off x="6355080" y="3557015"/>
            <a:ext cx="182880" cy="182880"/>
          </a:xfrm>
          <a:prstGeom prst="roundRect">
            <a:avLst>
              <a:gd name="adj" fmla="val 50000"/>
            </a:avLst>
          </a:prstGeom>
          <a:solidFill>
            <a:srgbClr val="22D3EE"/>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17" name="TextBox 16"/>
          <p:cNvSpPr txBox="1"/>
          <p:nvPr/>
        </p:nvSpPr>
        <p:spPr>
          <a:xfrm>
            <a:off x="6656832" y="3511296"/>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Networking</a:t>
            </a:r>
          </a:p>
        </p:txBody>
      </p:sp>
      <p:sp>
        <p:nvSpPr>
          <p:cNvPr id="18" name="TextBox 17"/>
          <p:cNvSpPr txBox="1"/>
          <p:nvPr/>
        </p:nvSpPr>
        <p:spPr>
          <a:xfrm>
            <a:off x="6656832" y="3730752"/>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Switching fabric, routing, external links</a:t>
            </a:r>
          </a:p>
        </p:txBody>
      </p:sp>
      <p:sp>
        <p:nvSpPr>
          <p:cNvPr id="19" name="Rounded Rectangle 18"/>
          <p:cNvSpPr/>
          <p:nvPr/>
        </p:nvSpPr>
        <p:spPr>
          <a:xfrm>
            <a:off x="6355080" y="3959352"/>
            <a:ext cx="182880" cy="182880"/>
          </a:xfrm>
          <a:prstGeom prst="roundRect">
            <a:avLst>
              <a:gd name="adj" fmla="val 50000"/>
            </a:avLst>
          </a:prstGeom>
          <a:solidFill>
            <a:srgbClr val="34D399"/>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0" name="TextBox 19"/>
          <p:cNvSpPr txBox="1"/>
          <p:nvPr/>
        </p:nvSpPr>
        <p:spPr>
          <a:xfrm>
            <a:off x="6656832" y="3913632"/>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Power</a:t>
            </a:r>
          </a:p>
        </p:txBody>
      </p:sp>
      <p:sp>
        <p:nvSpPr>
          <p:cNvPr id="21" name="TextBox 20"/>
          <p:cNvSpPr txBox="1"/>
          <p:nvPr/>
        </p:nvSpPr>
        <p:spPr>
          <a:xfrm>
            <a:off x="6656832" y="4133087"/>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Redundant supply and battery / generator backup</a:t>
            </a:r>
          </a:p>
        </p:txBody>
      </p:sp>
      <p:sp>
        <p:nvSpPr>
          <p:cNvPr id="22" name="Rounded Rectangle 21"/>
          <p:cNvSpPr/>
          <p:nvPr/>
        </p:nvSpPr>
        <p:spPr>
          <a:xfrm>
            <a:off x="6355080" y="4361688"/>
            <a:ext cx="182880" cy="182880"/>
          </a:xfrm>
          <a:prstGeom prst="roundRect">
            <a:avLst>
              <a:gd name="adj" fmla="val 50000"/>
            </a:avLst>
          </a:prstGeom>
          <a:solidFill>
            <a:srgbClr val="34D399"/>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3" name="TextBox 22"/>
          <p:cNvSpPr txBox="1"/>
          <p:nvPr/>
        </p:nvSpPr>
        <p:spPr>
          <a:xfrm>
            <a:off x="6656832" y="4315968"/>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Cooling</a:t>
            </a:r>
          </a:p>
        </p:txBody>
      </p:sp>
      <p:sp>
        <p:nvSpPr>
          <p:cNvPr id="24" name="TextBox 23"/>
          <p:cNvSpPr txBox="1"/>
          <p:nvPr/>
        </p:nvSpPr>
        <p:spPr>
          <a:xfrm>
            <a:off x="6656832" y="4535424"/>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Thermal management that bounds density</a:t>
            </a:r>
          </a:p>
        </p:txBody>
      </p:sp>
      <p:sp>
        <p:nvSpPr>
          <p:cNvPr id="25" name="Rounded Rectangle 24"/>
          <p:cNvSpPr/>
          <p:nvPr/>
        </p:nvSpPr>
        <p:spPr>
          <a:xfrm>
            <a:off x="6355080" y="4764024"/>
            <a:ext cx="182880" cy="182880"/>
          </a:xfrm>
          <a:prstGeom prst="roundRect">
            <a:avLst>
              <a:gd name="adj" fmla="val 50000"/>
            </a:avLst>
          </a:prstGeom>
          <a:solidFill>
            <a:srgbClr val="F5B14C"/>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6" name="TextBox 25"/>
          <p:cNvSpPr txBox="1"/>
          <p:nvPr/>
        </p:nvSpPr>
        <p:spPr>
          <a:xfrm>
            <a:off x="6656832" y="4718304"/>
            <a:ext cx="4572000" cy="256032"/>
          </a:xfrm>
          <a:prstGeom prst="rect">
            <a:avLst/>
          </a:prstGeom>
          <a:noFill/>
        </p:spPr>
        <p:txBody>
          <a:bodyPr wrap="square" lIns="0" tIns="0" rIns="0" bIns="0" anchor="t">
            <a:spAutoFit/>
          </a:bodyPr>
          <a:lstStyle/>
          <a:p>
            <a:pPr algn="l">
              <a:lnSpc>
                <a:spcPct val="125000"/>
              </a:lnSpc>
            </a:pPr>
            <a:r>
              <a:rPr sz="1150" b="1" i="0">
                <a:solidFill>
                  <a:srgbClr val="F4F7FB"/>
                </a:solidFill>
                <a:latin typeface="Segoe UI"/>
              </a:rPr>
              <a:t>Monitoring</a:t>
            </a:r>
          </a:p>
        </p:txBody>
      </p:sp>
      <p:sp>
        <p:nvSpPr>
          <p:cNvPr id="27" name="TextBox 26"/>
          <p:cNvSpPr txBox="1"/>
          <p:nvPr/>
        </p:nvSpPr>
        <p:spPr>
          <a:xfrm>
            <a:off x="6656832" y="4937760"/>
            <a:ext cx="4572000" cy="256032"/>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Environmental and hardware telemetry</a:t>
            </a:r>
          </a:p>
        </p:txBody>
      </p:sp>
      <p:sp>
        <p:nvSpPr>
          <p:cNvPr id="28" name="Rounded Rectangle 27"/>
          <p:cNvSpPr/>
          <p:nvPr/>
        </p:nvSpPr>
        <p:spPr>
          <a:xfrm>
            <a:off x="777240" y="5349240"/>
            <a:ext cx="3200400" cy="56692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4F7FB"/>
                </a:solidFill>
                <a:latin typeface="Segoe UI Semibold"/>
              </a:rPr>
              <a:t>DATA CENTRE</a:t>
            </a:r>
          </a:p>
        </p:txBody>
      </p:sp>
      <p:cxnSp>
        <p:nvCxnSpPr>
          <p:cNvPr id="29" name="Connector 28"/>
          <p:cNvCxnSpPr/>
          <p:nvPr/>
        </p:nvCxnSpPr>
        <p:spPr>
          <a:xfrm>
            <a:off x="3995928" y="5632704"/>
            <a:ext cx="557784" cy="0"/>
          </a:xfrm>
          <a:prstGeom prst="line">
            <a:avLst/>
          </a:prstGeom>
          <a:ln w="1778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4572000" y="5349240"/>
            <a:ext cx="3200400" cy="56692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4F7FB"/>
                </a:solidFill>
                <a:latin typeface="Segoe UI Semibold"/>
              </a:rPr>
              <a:t>CLOUD RESOURCES</a:t>
            </a:r>
          </a:p>
        </p:txBody>
      </p:sp>
      <p:cxnSp>
        <p:nvCxnSpPr>
          <p:cNvPr id="31" name="Connector 30"/>
          <p:cNvCxnSpPr/>
          <p:nvPr/>
        </p:nvCxnSpPr>
        <p:spPr>
          <a:xfrm>
            <a:off x="7790688" y="5632704"/>
            <a:ext cx="557784" cy="0"/>
          </a:xfrm>
          <a:prstGeom prst="line">
            <a:avLst/>
          </a:prstGeom>
          <a:ln w="1778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8366760" y="5349240"/>
            <a:ext cx="3200400" cy="566928"/>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4F7FB"/>
                </a:solidFill>
                <a:latin typeface="Segoe UI Semibold"/>
              </a:rPr>
              <a:t>ROADASSIST SERVICES</a:t>
            </a:r>
          </a:p>
        </p:txBody>
      </p:sp>
      <p:sp>
        <p:nvSpPr>
          <p:cNvPr id="33" name="Rounded Rectangle 32"/>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4" name="Rounded Rectangle 33"/>
          <p:cNvSpPr/>
          <p:nvPr/>
        </p:nvSpPr>
        <p:spPr>
          <a:xfrm>
            <a:off x="3319272"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M2 · ENABLING TECH</a:t>
            </a:r>
          </a:p>
        </p:txBody>
      </p:sp>
      <p:sp>
        <p:nvSpPr>
          <p:cNvPr id="35" name="Rounded Rectangle 34"/>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6" name="Rounded Rectangle 35"/>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7" name="TextBox 36"/>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10</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2 · VIRTUALIZATION TECHNOLOGY</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ONE PHYSICAL SYSTEM. MULTIPLE VIRTUAL RESOURCES.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2194560" y="5138928"/>
            <a:ext cx="7772400" cy="658368"/>
          </a:xfrm>
          <a:prstGeom prst="roundRect">
            <a:avLst>
              <a:gd name="adj" fmla="val 3500"/>
            </a:avLst>
          </a:prstGeom>
          <a:solidFill>
            <a:srgbClr val="0C1322"/>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377440" y="5285232"/>
            <a:ext cx="7406640" cy="365760"/>
          </a:xfrm>
          <a:prstGeom prst="rect">
            <a:avLst/>
          </a:prstGeom>
          <a:noFill/>
        </p:spPr>
        <p:txBody>
          <a:bodyPr wrap="square" lIns="0" tIns="0" rIns="0" bIns="0" anchor="t">
            <a:spAutoFit/>
          </a:bodyPr>
          <a:lstStyle/>
          <a:p>
            <a:pPr algn="ctr">
              <a:lnSpc>
                <a:spcPct val="125000"/>
              </a:lnSpc>
            </a:pPr>
            <a:r>
              <a:rPr sz="1250" b="1" i="0">
                <a:solidFill>
                  <a:srgbClr val="F4F7FB"/>
                </a:solidFill>
                <a:latin typeface="Segoe UI Semibold"/>
              </a:rPr>
              <a:t>PHYSICAL SERVER   ·   CPU · MEMORY · DISK · NIC</a:t>
            </a:r>
          </a:p>
        </p:txBody>
      </p:sp>
      <p:sp>
        <p:nvSpPr>
          <p:cNvPr id="8" name="Rounded Rectangle 7"/>
          <p:cNvSpPr/>
          <p:nvPr/>
        </p:nvSpPr>
        <p:spPr>
          <a:xfrm>
            <a:off x="2194560" y="4315968"/>
            <a:ext cx="7772400" cy="658368"/>
          </a:xfrm>
          <a:prstGeom prst="roundRect">
            <a:avLst>
              <a:gd name="adj" fmla="val 3500"/>
            </a:avLst>
          </a:prstGeom>
          <a:solidFill>
            <a:srgbClr val="131D30"/>
          </a:solidFill>
          <a:ln w="1905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2377440" y="4462272"/>
            <a:ext cx="7406640" cy="365760"/>
          </a:xfrm>
          <a:prstGeom prst="rect">
            <a:avLst/>
          </a:prstGeom>
          <a:noFill/>
        </p:spPr>
        <p:txBody>
          <a:bodyPr wrap="square" lIns="0" tIns="0" rIns="0" bIns="0" anchor="t">
            <a:spAutoFit/>
          </a:bodyPr>
          <a:lstStyle/>
          <a:p>
            <a:pPr algn="ctr">
              <a:lnSpc>
                <a:spcPct val="125000"/>
              </a:lnSpc>
            </a:pPr>
            <a:r>
              <a:rPr sz="1250" b="1" i="0">
                <a:solidFill>
                  <a:srgbClr val="22D3EE"/>
                </a:solidFill>
                <a:latin typeface="Segoe UI Semibold"/>
              </a:rPr>
              <a:t>HYPERVISOR  /  VIRTUALIZATION LAYER</a:t>
            </a:r>
          </a:p>
        </p:txBody>
      </p:sp>
      <p:cxnSp>
        <p:nvCxnSpPr>
          <p:cNvPr id="10" name="Connector 9"/>
          <p:cNvCxnSpPr/>
          <p:nvPr/>
        </p:nvCxnSpPr>
        <p:spPr>
          <a:xfrm flipV="1">
            <a:off x="6080760" y="4992624"/>
            <a:ext cx="0" cy="128016"/>
          </a:xfrm>
          <a:prstGeom prst="line">
            <a:avLst/>
          </a:prstGeom>
          <a:ln w="1778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94560" y="3246120"/>
            <a:ext cx="2377440" cy="86868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VIRTUAL SERVER 1</a:t>
            </a:r>
          </a:p>
          <a:p>
            <a:pPr algn="ctr">
              <a:lnSpc>
                <a:spcPct val="110000"/>
              </a:lnSpc>
            </a:pPr>
            <a:r>
              <a:rPr sz="900">
                <a:solidFill>
                  <a:srgbClr val="93A1B5"/>
                </a:solidFill>
                <a:latin typeface="Segoe UI"/>
              </a:rPr>
              <a:t>API · auth · booking</a:t>
            </a:r>
          </a:p>
        </p:txBody>
      </p:sp>
      <p:cxnSp>
        <p:nvCxnSpPr>
          <p:cNvPr id="12" name="Connector 11"/>
          <p:cNvCxnSpPr/>
          <p:nvPr/>
        </p:nvCxnSpPr>
        <p:spPr>
          <a:xfrm flipV="1">
            <a:off x="3383280" y="4151376"/>
            <a:ext cx="0" cy="146304"/>
          </a:xfrm>
          <a:prstGeom prst="line">
            <a:avLst/>
          </a:prstGeom>
          <a:ln w="1524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4892040" y="3246120"/>
            <a:ext cx="2377440" cy="8686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VIRTUAL SERVER 2</a:t>
            </a:r>
          </a:p>
          <a:p>
            <a:pPr algn="ctr">
              <a:lnSpc>
                <a:spcPct val="110000"/>
              </a:lnSpc>
            </a:pPr>
            <a:r>
              <a:rPr sz="900">
                <a:solidFill>
                  <a:srgbClr val="93A1B5"/>
                </a:solidFill>
                <a:latin typeface="Segoe UI"/>
              </a:rPr>
              <a:t>AI diagnosis · rules</a:t>
            </a:r>
          </a:p>
        </p:txBody>
      </p:sp>
      <p:cxnSp>
        <p:nvCxnSpPr>
          <p:cNvPr id="14" name="Connector 13"/>
          <p:cNvCxnSpPr/>
          <p:nvPr/>
        </p:nvCxnSpPr>
        <p:spPr>
          <a:xfrm flipV="1">
            <a:off x="6080759" y="4151376"/>
            <a:ext cx="0" cy="146304"/>
          </a:xfrm>
          <a:prstGeom prst="line">
            <a:avLst/>
          </a:prstGeom>
          <a:ln w="1524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589520" y="3246120"/>
            <a:ext cx="237744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VIRTUAL SERVER 3</a:t>
            </a:r>
          </a:p>
          <a:p>
            <a:pPr algn="ctr">
              <a:lnSpc>
                <a:spcPct val="110000"/>
              </a:lnSpc>
            </a:pPr>
            <a:r>
              <a:rPr sz="900">
                <a:solidFill>
                  <a:srgbClr val="93A1B5"/>
                </a:solidFill>
                <a:latin typeface="Segoe UI"/>
              </a:rPr>
              <a:t>Map proxy · RAKSHA</a:t>
            </a:r>
          </a:p>
        </p:txBody>
      </p:sp>
      <p:cxnSp>
        <p:nvCxnSpPr>
          <p:cNvPr id="16" name="Connector 15"/>
          <p:cNvCxnSpPr/>
          <p:nvPr/>
        </p:nvCxnSpPr>
        <p:spPr>
          <a:xfrm flipV="1">
            <a:off x="8778240" y="4151376"/>
            <a:ext cx="0" cy="146304"/>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2194560"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AUTH</a:t>
            </a:r>
          </a:p>
        </p:txBody>
      </p:sp>
      <p:cxnSp>
        <p:nvCxnSpPr>
          <p:cNvPr id="18" name="Connector 17"/>
          <p:cNvCxnSpPr/>
          <p:nvPr/>
        </p:nvCxnSpPr>
        <p:spPr>
          <a:xfrm>
            <a:off x="2807208"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511296"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BOOKING</a:t>
            </a:r>
          </a:p>
        </p:txBody>
      </p:sp>
      <p:cxnSp>
        <p:nvCxnSpPr>
          <p:cNvPr id="20" name="Connector 19"/>
          <p:cNvCxnSpPr/>
          <p:nvPr/>
        </p:nvCxnSpPr>
        <p:spPr>
          <a:xfrm>
            <a:off x="4123944"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828031"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AI</a:t>
            </a:r>
          </a:p>
        </p:txBody>
      </p:sp>
      <p:cxnSp>
        <p:nvCxnSpPr>
          <p:cNvPr id="22" name="Connector 21"/>
          <p:cNvCxnSpPr/>
          <p:nvPr/>
        </p:nvCxnSpPr>
        <p:spPr>
          <a:xfrm>
            <a:off x="5440679"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144768"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MAP</a:t>
            </a:r>
          </a:p>
        </p:txBody>
      </p:sp>
      <p:cxnSp>
        <p:nvCxnSpPr>
          <p:cNvPr id="24" name="Connector 23"/>
          <p:cNvCxnSpPr/>
          <p:nvPr/>
        </p:nvCxnSpPr>
        <p:spPr>
          <a:xfrm>
            <a:off x="6757416"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7461504"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RAKSHA</a:t>
            </a:r>
          </a:p>
        </p:txBody>
      </p:sp>
      <p:cxnSp>
        <p:nvCxnSpPr>
          <p:cNvPr id="26" name="Connector 25"/>
          <p:cNvCxnSpPr/>
          <p:nvPr/>
        </p:nvCxnSpPr>
        <p:spPr>
          <a:xfrm>
            <a:off x="8074152"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778240" y="2606040"/>
            <a:ext cx="1234440" cy="384048"/>
          </a:xfrm>
          <a:prstGeom prst="roundRect">
            <a:avLst>
              <a:gd name="adj" fmla="val 50000"/>
            </a:avLst>
          </a:prstGeom>
          <a:solidFill>
            <a:srgbClr val="0C1322"/>
          </a:solidFill>
          <a:ln w="11430">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1000" b="1">
                <a:solidFill>
                  <a:srgbClr val="F4F7FB"/>
                </a:solidFill>
                <a:latin typeface="Segoe UI"/>
              </a:rPr>
              <a:t>SYNC</a:t>
            </a:r>
          </a:p>
        </p:txBody>
      </p:sp>
      <p:cxnSp>
        <p:nvCxnSpPr>
          <p:cNvPr id="28" name="Connector 27"/>
          <p:cNvCxnSpPr/>
          <p:nvPr/>
        </p:nvCxnSpPr>
        <p:spPr>
          <a:xfrm>
            <a:off x="9390888" y="3008376"/>
            <a:ext cx="0" cy="21031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777240" y="2148840"/>
            <a:ext cx="10607040" cy="384048"/>
          </a:xfrm>
          <a:prstGeom prst="roundRect">
            <a:avLst>
              <a:gd name="adj" fmla="val 3500"/>
            </a:avLst>
          </a:prstGeom>
          <a:solidFill>
            <a:srgbClr val="0C1322"/>
          </a:solidFill>
          <a:ln w="1397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0120" y="2231136"/>
            <a:ext cx="10241280" cy="274320"/>
          </a:xfrm>
          <a:prstGeom prst="rect">
            <a:avLst/>
          </a:prstGeom>
          <a:noFill/>
        </p:spPr>
        <p:txBody>
          <a:bodyPr wrap="square" lIns="0" tIns="0" rIns="0" bIns="0" anchor="t">
            <a:spAutoFit/>
          </a:bodyPr>
          <a:lstStyle/>
          <a:p>
            <a:pPr algn="l">
              <a:lnSpc>
                <a:spcPct val="125000"/>
              </a:lnSpc>
            </a:pPr>
            <a:r>
              <a:rPr sz="1000" b="0" i="0">
                <a:solidFill>
                  <a:srgbClr val="F5B14C"/>
                </a:solidFill>
                <a:latin typeface="Segoe UI"/>
              </a:rPr>
              <a:t>Honest scope: RoadAssist uses OS-level virtualization (Docker containers) in development. We do not operate a hypervisor — that layer belongs to the infrastructure provider.</a:t>
            </a:r>
          </a:p>
        </p:txBody>
      </p:sp>
      <p:sp>
        <p:nvSpPr>
          <p:cNvPr id="31" name="Rounded Rectangle 30"/>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2" name="Rounded Rectangle 31"/>
          <p:cNvSpPr/>
          <p:nvPr/>
        </p:nvSpPr>
        <p:spPr>
          <a:xfrm>
            <a:off x="3319272"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M2 · ENABLING TECH</a:t>
            </a:r>
          </a:p>
        </p:txBody>
      </p:sp>
      <p:sp>
        <p:nvSpPr>
          <p:cNvPr id="33" name="Rounded Rectangle 32"/>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4" name="Rounded Rectangle 33"/>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5" name="TextBox 3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11</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2 · WEB · MULTITENANT · SERVICE TECHNOLOGY</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FROM CLOUD INFRASTRUCTURE TO USER SERVICES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F5B14C"/>
                </a:solidFill>
                <a:latin typeface="Segoe UI"/>
              </a:rPr>
              <a:t>PARTIALLY IMPLEMENTED</a:t>
            </a:r>
          </a:p>
        </p:txBody>
      </p:sp>
      <p:sp>
        <p:nvSpPr>
          <p:cNvPr id="6" name="Rounded Rectangle 5"/>
          <p:cNvSpPr/>
          <p:nvPr/>
        </p:nvSpPr>
        <p:spPr>
          <a:xfrm>
            <a:off x="777240" y="2148840"/>
            <a:ext cx="3337560" cy="3703320"/>
          </a:xfrm>
          <a:prstGeom prst="roundRect">
            <a:avLst>
              <a:gd name="adj" fmla="val 3500"/>
            </a:avLst>
          </a:prstGeom>
          <a:solidFill>
            <a:srgbClr val="0C1322"/>
          </a:solidFill>
          <a:ln w="1524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304288"/>
            <a:ext cx="3017520" cy="274320"/>
          </a:xfrm>
          <a:prstGeom prst="rect">
            <a:avLst/>
          </a:prstGeom>
          <a:noFill/>
        </p:spPr>
        <p:txBody>
          <a:bodyPr wrap="square" lIns="0" tIns="0" rIns="0" bIns="0" anchor="t">
            <a:spAutoFit/>
          </a:bodyPr>
          <a:lstStyle/>
          <a:p>
            <a:pPr algn="l">
              <a:lnSpc>
                <a:spcPct val="125000"/>
              </a:lnSpc>
            </a:pPr>
            <a:r>
              <a:rPr sz="1150" b="1" i="0" spc="140">
                <a:solidFill>
                  <a:srgbClr val="34D399"/>
                </a:solidFill>
                <a:latin typeface="Segoe UI"/>
              </a:rPr>
              <a:t>WEB TECHNOLOGY</a:t>
            </a:r>
          </a:p>
        </p:txBody>
      </p:sp>
      <p:sp>
        <p:nvSpPr>
          <p:cNvPr id="8" name="Rounded Rectangle 7"/>
          <p:cNvSpPr/>
          <p:nvPr/>
        </p:nvSpPr>
        <p:spPr>
          <a:xfrm>
            <a:off x="960120" y="2606040"/>
            <a:ext cx="1371600" cy="256032"/>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IMPLEMENTED</a:t>
            </a:r>
          </a:p>
        </p:txBody>
      </p:sp>
      <p:sp>
        <p:nvSpPr>
          <p:cNvPr id="9" name="TextBox 8"/>
          <p:cNvSpPr txBox="1"/>
          <p:nvPr/>
        </p:nvSpPr>
        <p:spPr>
          <a:xfrm>
            <a:off x="960120" y="3017520"/>
            <a:ext cx="301752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HTTP / REST</a:t>
            </a:r>
          </a:p>
        </p:txBody>
      </p:sp>
      <p:sp>
        <p:nvSpPr>
          <p:cNvPr id="10" name="TextBox 9"/>
          <p:cNvSpPr txBox="1"/>
          <p:nvPr/>
        </p:nvSpPr>
        <p:spPr>
          <a:xfrm>
            <a:off x="960120" y="3227832"/>
            <a:ext cx="301752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58 JSON routes, uniform error envelope</a:t>
            </a:r>
          </a:p>
        </p:txBody>
      </p:sp>
      <p:sp>
        <p:nvSpPr>
          <p:cNvPr id="11" name="TextBox 10"/>
          <p:cNvSpPr txBox="1"/>
          <p:nvPr/>
        </p:nvSpPr>
        <p:spPr>
          <a:xfrm>
            <a:off x="960120" y="3703320"/>
            <a:ext cx="301752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Browser client</a:t>
            </a:r>
          </a:p>
        </p:txBody>
      </p:sp>
      <p:sp>
        <p:nvSpPr>
          <p:cNvPr id="12" name="TextBox 11"/>
          <p:cNvSpPr txBox="1"/>
          <p:nvPr/>
        </p:nvSpPr>
        <p:spPr>
          <a:xfrm>
            <a:off x="960120" y="3913631"/>
            <a:ext cx="301752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No install; the URL is the app</a:t>
            </a:r>
          </a:p>
        </p:txBody>
      </p:sp>
      <p:sp>
        <p:nvSpPr>
          <p:cNvPr id="13" name="TextBox 12"/>
          <p:cNvSpPr txBox="1"/>
          <p:nvPr/>
        </p:nvSpPr>
        <p:spPr>
          <a:xfrm>
            <a:off x="960120" y="4389120"/>
            <a:ext cx="301752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PWA</a:t>
            </a:r>
          </a:p>
        </p:txBody>
      </p:sp>
      <p:sp>
        <p:nvSpPr>
          <p:cNvPr id="14" name="TextBox 13"/>
          <p:cNvSpPr txBox="1"/>
          <p:nvPr/>
        </p:nvSpPr>
        <p:spPr>
          <a:xfrm>
            <a:off x="960120" y="4599431"/>
            <a:ext cx="301752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Manifest + service worker, installable</a:t>
            </a:r>
          </a:p>
        </p:txBody>
      </p:sp>
      <p:sp>
        <p:nvSpPr>
          <p:cNvPr id="15" name="TextBox 14"/>
          <p:cNvSpPr txBox="1"/>
          <p:nvPr/>
        </p:nvSpPr>
        <p:spPr>
          <a:xfrm>
            <a:off x="960120" y="5074920"/>
            <a:ext cx="301752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Offline shell</a:t>
            </a:r>
          </a:p>
        </p:txBody>
      </p:sp>
      <p:sp>
        <p:nvSpPr>
          <p:cNvPr id="16" name="TextBox 15"/>
          <p:cNvSpPr txBox="1"/>
          <p:nvPr/>
        </p:nvSpPr>
        <p:spPr>
          <a:xfrm>
            <a:off x="960120" y="5285231"/>
            <a:ext cx="301752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19 assets cached for a dead network</a:t>
            </a:r>
          </a:p>
        </p:txBody>
      </p:sp>
      <p:sp>
        <p:nvSpPr>
          <p:cNvPr id="17" name="Rounded Rectangle 16"/>
          <p:cNvSpPr/>
          <p:nvPr/>
        </p:nvSpPr>
        <p:spPr>
          <a:xfrm>
            <a:off x="4434840" y="2148840"/>
            <a:ext cx="3291840" cy="3703320"/>
          </a:xfrm>
          <a:prstGeom prst="roundRect">
            <a:avLst>
              <a:gd name="adj" fmla="val 3500"/>
            </a:avLst>
          </a:prstGeom>
          <a:solidFill>
            <a:srgbClr val="0C1322"/>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4617720" y="2304288"/>
            <a:ext cx="3017520" cy="274320"/>
          </a:xfrm>
          <a:prstGeom prst="rect">
            <a:avLst/>
          </a:prstGeom>
          <a:noFill/>
        </p:spPr>
        <p:txBody>
          <a:bodyPr wrap="square" lIns="0" tIns="0" rIns="0" bIns="0" anchor="t">
            <a:spAutoFit/>
          </a:bodyPr>
          <a:lstStyle/>
          <a:p>
            <a:pPr algn="l">
              <a:lnSpc>
                <a:spcPct val="125000"/>
              </a:lnSpc>
            </a:pPr>
            <a:r>
              <a:rPr sz="1150" b="1" i="0" spc="140">
                <a:solidFill>
                  <a:srgbClr val="F5B14C"/>
                </a:solidFill>
                <a:latin typeface="Segoe UI"/>
              </a:rPr>
              <a:t>MULTITENANT TECHNOLOGY</a:t>
            </a:r>
          </a:p>
        </p:txBody>
      </p:sp>
      <p:sp>
        <p:nvSpPr>
          <p:cNvPr id="19" name="Rounded Rectangle 18"/>
          <p:cNvSpPr/>
          <p:nvPr/>
        </p:nvSpPr>
        <p:spPr>
          <a:xfrm>
            <a:off x="4617720" y="2606040"/>
            <a:ext cx="1600200" cy="256032"/>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SCHEMA PRESENT</a:t>
            </a:r>
          </a:p>
        </p:txBody>
      </p:sp>
      <p:sp>
        <p:nvSpPr>
          <p:cNvPr id="20" name="TextBox 19"/>
          <p:cNvSpPr txBox="1"/>
          <p:nvPr/>
        </p:nvSpPr>
        <p:spPr>
          <a:xfrm>
            <a:off x="4617720" y="3017520"/>
            <a:ext cx="292608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One instance</a:t>
            </a:r>
          </a:p>
        </p:txBody>
      </p:sp>
      <p:sp>
        <p:nvSpPr>
          <p:cNvPr id="21" name="TextBox 20"/>
          <p:cNvSpPr txBox="1"/>
          <p:nvPr/>
        </p:nvSpPr>
        <p:spPr>
          <a:xfrm>
            <a:off x="4617720" y="3227832"/>
            <a:ext cx="292608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A single deployment serves every tenant</a:t>
            </a:r>
          </a:p>
        </p:txBody>
      </p:sp>
      <p:sp>
        <p:nvSpPr>
          <p:cNvPr id="22" name="TextBox 21"/>
          <p:cNvSpPr txBox="1"/>
          <p:nvPr/>
        </p:nvSpPr>
        <p:spPr>
          <a:xfrm>
            <a:off x="4617720" y="3703320"/>
            <a:ext cx="292608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Fleet tenancy</a:t>
            </a:r>
          </a:p>
        </p:txBody>
      </p:sp>
      <p:sp>
        <p:nvSpPr>
          <p:cNvPr id="23" name="TextBox 22"/>
          <p:cNvSpPr txBox="1"/>
          <p:nvPr/>
        </p:nvSpPr>
        <p:spPr>
          <a:xfrm>
            <a:off x="4617720" y="3913631"/>
            <a:ext cx="292608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fleets + fleet_members tables exist</a:t>
            </a:r>
          </a:p>
        </p:txBody>
      </p:sp>
      <p:sp>
        <p:nvSpPr>
          <p:cNvPr id="24" name="TextBox 23"/>
          <p:cNvSpPr txBox="1"/>
          <p:nvPr/>
        </p:nvSpPr>
        <p:spPr>
          <a:xfrm>
            <a:off x="4617720" y="4389120"/>
            <a:ext cx="292608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Gov tenancy</a:t>
            </a:r>
          </a:p>
        </p:txBody>
      </p:sp>
      <p:sp>
        <p:nvSpPr>
          <p:cNvPr id="25" name="TextBox 24"/>
          <p:cNvSpPr txBox="1"/>
          <p:nvPr/>
        </p:nvSpPr>
        <p:spPr>
          <a:xfrm>
            <a:off x="4617720" y="4599431"/>
            <a:ext cx="292608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gov_jurisdictions + gov_officers</a:t>
            </a:r>
          </a:p>
        </p:txBody>
      </p:sp>
      <p:sp>
        <p:nvSpPr>
          <p:cNvPr id="26" name="TextBox 25"/>
          <p:cNvSpPr txBox="1"/>
          <p:nvPr/>
        </p:nvSpPr>
        <p:spPr>
          <a:xfrm>
            <a:off x="4617720" y="5074920"/>
            <a:ext cx="2926080" cy="256032"/>
          </a:xfrm>
          <a:prstGeom prst="rect">
            <a:avLst/>
          </a:prstGeom>
          <a:noFill/>
        </p:spPr>
        <p:txBody>
          <a:bodyPr wrap="square" lIns="0" tIns="0" rIns="0" bIns="0" anchor="t">
            <a:spAutoFit/>
          </a:bodyPr>
          <a:lstStyle/>
          <a:p>
            <a:pPr algn="l">
              <a:lnSpc>
                <a:spcPct val="125000"/>
              </a:lnSpc>
            </a:pPr>
            <a:r>
              <a:rPr sz="1100" b="1" i="0">
                <a:solidFill>
                  <a:srgbClr val="F4F7FB"/>
                </a:solidFill>
                <a:latin typeface="Segoe UI"/>
              </a:rPr>
              <a:t>Isolation by role</a:t>
            </a:r>
          </a:p>
        </p:txBody>
      </p:sp>
      <p:sp>
        <p:nvSpPr>
          <p:cNvPr id="27" name="TextBox 26"/>
          <p:cNvSpPr txBox="1"/>
          <p:nvPr/>
        </p:nvSpPr>
        <p:spPr>
          <a:xfrm>
            <a:off x="4617720" y="5285231"/>
            <a:ext cx="2926080" cy="41148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Queries scoped to the caller, not the route</a:t>
            </a:r>
          </a:p>
        </p:txBody>
      </p:sp>
      <p:sp>
        <p:nvSpPr>
          <p:cNvPr id="28" name="Rounded Rectangle 27"/>
          <p:cNvSpPr/>
          <p:nvPr/>
        </p:nvSpPr>
        <p:spPr>
          <a:xfrm>
            <a:off x="8046720" y="2148840"/>
            <a:ext cx="3337560" cy="3703320"/>
          </a:xfrm>
          <a:prstGeom prst="roundRect">
            <a:avLst>
              <a:gd name="adj" fmla="val 3500"/>
            </a:avLst>
          </a:prstGeom>
          <a:solidFill>
            <a:srgbClr val="0C1322"/>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8229600" y="2304288"/>
            <a:ext cx="3017520" cy="274320"/>
          </a:xfrm>
          <a:prstGeom prst="rect">
            <a:avLst/>
          </a:prstGeom>
          <a:noFill/>
        </p:spPr>
        <p:txBody>
          <a:bodyPr wrap="square" lIns="0" tIns="0" rIns="0" bIns="0" anchor="t">
            <a:spAutoFit/>
          </a:bodyPr>
          <a:lstStyle/>
          <a:p>
            <a:pPr algn="l">
              <a:lnSpc>
                <a:spcPct val="125000"/>
              </a:lnSpc>
            </a:pPr>
            <a:r>
              <a:rPr sz="1150" b="1" i="0" spc="140">
                <a:solidFill>
                  <a:srgbClr val="22D3EE"/>
                </a:solidFill>
                <a:latin typeface="Segoe UI"/>
              </a:rPr>
              <a:t>SERVICE TECHNOLOGY</a:t>
            </a:r>
          </a:p>
        </p:txBody>
      </p:sp>
      <p:sp>
        <p:nvSpPr>
          <p:cNvPr id="30" name="Rounded Rectangle 29"/>
          <p:cNvSpPr/>
          <p:nvPr/>
        </p:nvSpPr>
        <p:spPr>
          <a:xfrm>
            <a:off x="8229600" y="2606040"/>
            <a:ext cx="1371600" cy="256032"/>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IMPLEMENTED</a:t>
            </a:r>
          </a:p>
        </p:txBody>
      </p:sp>
      <p:sp>
        <p:nvSpPr>
          <p:cNvPr id="31" name="Rounded Rectangle 30"/>
          <p:cNvSpPr/>
          <p:nvPr/>
        </p:nvSpPr>
        <p:spPr>
          <a:xfrm>
            <a:off x="8229600" y="299923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AUTH / OTP</a:t>
            </a:r>
          </a:p>
        </p:txBody>
      </p:sp>
      <p:sp>
        <p:nvSpPr>
          <p:cNvPr id="32" name="Rounded Rectangle 31"/>
          <p:cNvSpPr/>
          <p:nvPr/>
        </p:nvSpPr>
        <p:spPr>
          <a:xfrm>
            <a:off x="9765792" y="299923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BOOKING</a:t>
            </a:r>
          </a:p>
        </p:txBody>
      </p:sp>
      <p:sp>
        <p:nvSpPr>
          <p:cNvPr id="33" name="Rounded Rectangle 32"/>
          <p:cNvSpPr/>
          <p:nvPr/>
        </p:nvSpPr>
        <p:spPr>
          <a:xfrm>
            <a:off x="8229600" y="350215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AI DIAGNOSIS</a:t>
            </a:r>
          </a:p>
        </p:txBody>
      </p:sp>
      <p:sp>
        <p:nvSpPr>
          <p:cNvPr id="34" name="Rounded Rectangle 33"/>
          <p:cNvSpPr/>
          <p:nvPr/>
        </p:nvSpPr>
        <p:spPr>
          <a:xfrm>
            <a:off x="9765792" y="350215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MAP</a:t>
            </a:r>
          </a:p>
        </p:txBody>
      </p:sp>
      <p:sp>
        <p:nvSpPr>
          <p:cNvPr id="35" name="Rounded Rectangle 34"/>
          <p:cNvSpPr/>
          <p:nvPr/>
        </p:nvSpPr>
        <p:spPr>
          <a:xfrm>
            <a:off x="8229600" y="400507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RAKSHA / SOS</a:t>
            </a:r>
          </a:p>
        </p:txBody>
      </p:sp>
      <p:sp>
        <p:nvSpPr>
          <p:cNvPr id="36" name="Rounded Rectangle 35"/>
          <p:cNvSpPr/>
          <p:nvPr/>
        </p:nvSpPr>
        <p:spPr>
          <a:xfrm>
            <a:off x="9765792" y="400507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PAYMENT</a:t>
            </a:r>
          </a:p>
        </p:txBody>
      </p:sp>
      <p:sp>
        <p:nvSpPr>
          <p:cNvPr id="37" name="Rounded Rectangle 36"/>
          <p:cNvSpPr/>
          <p:nvPr/>
        </p:nvSpPr>
        <p:spPr>
          <a:xfrm>
            <a:off x="8229600" y="450799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OFFLINE SYNC</a:t>
            </a:r>
          </a:p>
        </p:txBody>
      </p:sp>
      <p:sp>
        <p:nvSpPr>
          <p:cNvPr id="38" name="Rounded Rectangle 37"/>
          <p:cNvSpPr/>
          <p:nvPr/>
        </p:nvSpPr>
        <p:spPr>
          <a:xfrm>
            <a:off x="9765792" y="4507992"/>
            <a:ext cx="1444752" cy="384048"/>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AUDIT</a:t>
            </a:r>
          </a:p>
        </p:txBody>
      </p:sp>
      <p:sp>
        <p:nvSpPr>
          <p:cNvPr id="39" name="TextBox 38"/>
          <p:cNvSpPr txBox="1"/>
          <p:nvPr/>
        </p:nvSpPr>
        <p:spPr>
          <a:xfrm>
            <a:off x="8229600" y="5230368"/>
            <a:ext cx="3017520" cy="50292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Each capability is an independently addressable service behind one API contract.</a:t>
            </a:r>
          </a:p>
        </p:txBody>
      </p:sp>
      <p:sp>
        <p:nvSpPr>
          <p:cNvPr id="40" name="Rounded Rectangle 39"/>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41" name="Rounded Rectangle 40"/>
          <p:cNvSpPr/>
          <p:nvPr/>
        </p:nvSpPr>
        <p:spPr>
          <a:xfrm>
            <a:off x="3319272"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M2 · ENABLING TECH</a:t>
            </a:r>
          </a:p>
        </p:txBody>
      </p:sp>
      <p:sp>
        <p:nvSpPr>
          <p:cNvPr id="42" name="Rounded Rectangle 41"/>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43" name="Rounded Rectangle 42"/>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44" name="TextBox 43"/>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12</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2 · SERVICE TECHNOLOGY IN PRACTICE</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CONSUMING A CLOUD SERVICE: PAYMENTS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IMPLEMENTED</a:t>
            </a:r>
          </a:p>
        </p:txBody>
      </p:sp>
      <p:sp>
        <p:nvSpPr>
          <p:cNvPr id="6" name="Rounded Rectangle 5"/>
          <p:cNvSpPr/>
          <p:nvPr/>
        </p:nvSpPr>
        <p:spPr>
          <a:xfrm>
            <a:off x="777240" y="2103120"/>
            <a:ext cx="5029200" cy="475488"/>
          </a:xfrm>
          <a:prstGeom prst="roundRect">
            <a:avLst>
              <a:gd name="adj" fmla="val 3500"/>
            </a:avLst>
          </a:prstGeom>
          <a:solidFill>
            <a:srgbClr val="131D30"/>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960120" y="2212848"/>
            <a:ext cx="4663440" cy="274320"/>
          </a:xfrm>
          <a:prstGeom prst="rect">
            <a:avLst/>
          </a:prstGeom>
          <a:noFill/>
        </p:spPr>
        <p:txBody>
          <a:bodyPr wrap="square" lIns="0" tIns="0" rIns="0" bIns="0" anchor="t">
            <a:spAutoFit/>
          </a:bodyPr>
          <a:lstStyle/>
          <a:p>
            <a:pPr algn="l">
              <a:lnSpc>
                <a:spcPct val="125000"/>
              </a:lnSpc>
            </a:pPr>
            <a:r>
              <a:rPr sz="1100" b="1" i="0">
                <a:solidFill>
                  <a:srgbClr val="34D399"/>
                </a:solidFill>
                <a:latin typeface="Segoe UI Semibold"/>
              </a:rPr>
              <a:t>ROADASSIST  —  cloud consumer</a:t>
            </a:r>
          </a:p>
        </p:txBody>
      </p:sp>
      <p:sp>
        <p:nvSpPr>
          <p:cNvPr id="8" name="Rounded Rectangle 7"/>
          <p:cNvSpPr/>
          <p:nvPr/>
        </p:nvSpPr>
        <p:spPr>
          <a:xfrm>
            <a:off x="777240" y="5138928"/>
            <a:ext cx="5029200" cy="475488"/>
          </a:xfrm>
          <a:prstGeom prst="roundRect">
            <a:avLst>
              <a:gd name="adj" fmla="val 3500"/>
            </a:avLst>
          </a:prstGeom>
          <a:solidFill>
            <a:srgbClr val="131D30"/>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960120" y="5248656"/>
            <a:ext cx="4663440" cy="274320"/>
          </a:xfrm>
          <a:prstGeom prst="rect">
            <a:avLst/>
          </a:prstGeom>
          <a:noFill/>
        </p:spPr>
        <p:txBody>
          <a:bodyPr wrap="square" lIns="0" tIns="0" rIns="0" bIns="0" anchor="t">
            <a:spAutoFit/>
          </a:bodyPr>
          <a:lstStyle/>
          <a:p>
            <a:pPr algn="l">
              <a:lnSpc>
                <a:spcPct val="125000"/>
              </a:lnSpc>
            </a:pPr>
            <a:r>
              <a:rPr sz="1100" b="1" i="0">
                <a:solidFill>
                  <a:srgbClr val="2E7DFF"/>
                </a:solidFill>
                <a:latin typeface="Segoe UI Semibold"/>
              </a:rPr>
              <a:t>RAZORPAY  —  cloud provider (SaaS)</a:t>
            </a:r>
          </a:p>
        </p:txBody>
      </p:sp>
      <p:sp>
        <p:nvSpPr>
          <p:cNvPr id="10" name="Rounded Rectangle 9"/>
          <p:cNvSpPr/>
          <p:nvPr/>
        </p:nvSpPr>
        <p:spPr>
          <a:xfrm>
            <a:off x="777240" y="2697480"/>
            <a:ext cx="502920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1  Invoice created</a:t>
            </a:r>
          </a:p>
          <a:p>
            <a:pPr algn="ctr">
              <a:lnSpc>
                <a:spcPct val="110000"/>
              </a:lnSpc>
            </a:pPr>
            <a:r>
              <a:rPr sz="800">
                <a:solidFill>
                  <a:srgbClr val="93A1B5"/>
                </a:solidFill>
                <a:latin typeface="Segoe UI"/>
              </a:rPr>
              <a:t>Amount is the invoice total.
Never read from the request.</a:t>
            </a:r>
          </a:p>
        </p:txBody>
      </p:sp>
      <p:cxnSp>
        <p:nvCxnSpPr>
          <p:cNvPr id="11" name="Connector 10"/>
          <p:cNvCxnSpPr/>
          <p:nvPr/>
        </p:nvCxnSpPr>
        <p:spPr>
          <a:xfrm>
            <a:off x="3291840" y="3264408"/>
            <a:ext cx="0" cy="36576"/>
          </a:xfrm>
          <a:prstGeom prst="line">
            <a:avLst/>
          </a:prstGeom>
          <a:ln w="1524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77240" y="3319272"/>
            <a:ext cx="502920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2  Create order</a:t>
            </a:r>
          </a:p>
          <a:p>
            <a:pPr algn="ctr">
              <a:lnSpc>
                <a:spcPct val="110000"/>
              </a:lnSpc>
            </a:pPr>
            <a:r>
              <a:rPr sz="800">
                <a:solidFill>
                  <a:srgbClr val="93A1B5"/>
                </a:solidFill>
                <a:latin typeface="Segoe UI"/>
              </a:rPr>
              <a:t>Server-to-server, HTTP Basic.
POST /v1/orders</a:t>
            </a:r>
          </a:p>
        </p:txBody>
      </p:sp>
      <p:cxnSp>
        <p:nvCxnSpPr>
          <p:cNvPr id="13" name="Connector 12"/>
          <p:cNvCxnSpPr/>
          <p:nvPr/>
        </p:nvCxnSpPr>
        <p:spPr>
          <a:xfrm>
            <a:off x="3291840" y="3886200"/>
            <a:ext cx="0" cy="36576"/>
          </a:xfrm>
          <a:prstGeom prst="line">
            <a:avLst/>
          </a:prstGeom>
          <a:ln w="1524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77240" y="3941064"/>
            <a:ext cx="502920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3  Checkout opens</a:t>
            </a:r>
          </a:p>
          <a:p>
            <a:pPr algn="ctr">
              <a:lnSpc>
                <a:spcPct val="110000"/>
              </a:lnSpc>
            </a:pPr>
            <a:r>
              <a:rPr sz="800">
                <a:solidFill>
                  <a:srgbClr val="93A1B5"/>
                </a:solidFill>
                <a:latin typeface="Segoe UI"/>
              </a:rPr>
              <a:t>Client gets the key ID only.
The key SECRET never leaves us.</a:t>
            </a:r>
          </a:p>
        </p:txBody>
      </p:sp>
      <p:cxnSp>
        <p:nvCxnSpPr>
          <p:cNvPr id="15" name="Connector 14"/>
          <p:cNvCxnSpPr/>
          <p:nvPr/>
        </p:nvCxnSpPr>
        <p:spPr>
          <a:xfrm>
            <a:off x="3291840" y="4507992"/>
            <a:ext cx="0" cy="36576"/>
          </a:xfrm>
          <a:prstGeom prst="line">
            <a:avLst/>
          </a:prstGeom>
          <a:ln w="1524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4562856"/>
            <a:ext cx="5029200" cy="54864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4  Signature verified</a:t>
            </a:r>
          </a:p>
          <a:p>
            <a:pPr algn="ctr">
              <a:lnSpc>
                <a:spcPct val="110000"/>
              </a:lnSpc>
            </a:pPr>
            <a:r>
              <a:rPr sz="800">
                <a:solidFill>
                  <a:srgbClr val="93A1B5"/>
                </a:solidFill>
                <a:latin typeface="Segoe UI"/>
              </a:rPr>
              <a:t>HMAC-SHA256(order|payment).
No match, no settlement.</a:t>
            </a:r>
          </a:p>
        </p:txBody>
      </p:sp>
      <p:sp>
        <p:nvSpPr>
          <p:cNvPr id="17" name="Rounded Rectangle 16"/>
          <p:cNvSpPr/>
          <p:nvPr/>
        </p:nvSpPr>
        <p:spPr>
          <a:xfrm>
            <a:off x="6035040" y="2103120"/>
            <a:ext cx="5349240" cy="1874519"/>
          </a:xfrm>
          <a:prstGeom prst="roundRect">
            <a:avLst>
              <a:gd name="adj" fmla="val 3500"/>
            </a:avLst>
          </a:prstGeom>
          <a:solidFill>
            <a:srgbClr val="0C1322"/>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6263640" y="2249424"/>
            <a:ext cx="4937760" cy="274320"/>
          </a:xfrm>
          <a:prstGeom prst="rect">
            <a:avLst/>
          </a:prstGeom>
          <a:noFill/>
        </p:spPr>
        <p:txBody>
          <a:bodyPr wrap="square" lIns="0" tIns="0" rIns="0" bIns="0" anchor="t">
            <a:spAutoFit/>
          </a:bodyPr>
          <a:lstStyle/>
          <a:p>
            <a:pPr algn="l">
              <a:lnSpc>
                <a:spcPct val="125000"/>
              </a:lnSpc>
            </a:pPr>
            <a:r>
              <a:rPr sz="1050" b="1" i="0" spc="140">
                <a:solidFill>
                  <a:srgbClr val="22D3EE"/>
                </a:solidFill>
                <a:latin typeface="Segoe UI"/>
              </a:rPr>
              <a:t>TWO SETTLEMENT PATHS — ON PURPOSE</a:t>
            </a:r>
          </a:p>
        </p:txBody>
      </p:sp>
      <p:sp>
        <p:nvSpPr>
          <p:cNvPr id="19" name="Rounded Rectangle 18"/>
          <p:cNvSpPr/>
          <p:nvPr/>
        </p:nvSpPr>
        <p:spPr>
          <a:xfrm>
            <a:off x="6263640" y="2578608"/>
            <a:ext cx="4892040" cy="548640"/>
          </a:xfrm>
          <a:prstGeom prst="roundRect">
            <a:avLst>
              <a:gd name="adj" fmla="val 3500"/>
            </a:avLst>
          </a:prstGeom>
          <a:solidFill>
            <a:srgbClr val="0C1322"/>
          </a:solidFill>
          <a:ln w="15875">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BROWSER CALLBACK</a:t>
            </a:r>
          </a:p>
          <a:p>
            <a:pPr algn="ctr">
              <a:lnSpc>
                <a:spcPct val="110000"/>
              </a:lnSpc>
            </a:pPr>
            <a:r>
              <a:rPr sz="800">
                <a:solidFill>
                  <a:srgbClr val="93A1B5"/>
                </a:solidFill>
                <a:latin typeface="Segoe UI"/>
              </a:rPr>
              <a:t>POST /v1/payments/:id/confirm — the client returns the signed payload</a:t>
            </a:r>
          </a:p>
        </p:txBody>
      </p:sp>
      <p:sp>
        <p:nvSpPr>
          <p:cNvPr id="20" name="Rounded Rectangle 19"/>
          <p:cNvSpPr/>
          <p:nvPr/>
        </p:nvSpPr>
        <p:spPr>
          <a:xfrm>
            <a:off x="6263640" y="3218688"/>
            <a:ext cx="4892040" cy="621792"/>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WEBHOOK  ·  the one that matters</a:t>
            </a:r>
          </a:p>
          <a:p>
            <a:pPr algn="ctr">
              <a:lnSpc>
                <a:spcPct val="110000"/>
              </a:lnSpc>
            </a:pPr>
            <a:r>
              <a:rPr sz="800">
                <a:solidFill>
                  <a:srgbClr val="93A1B5"/>
                </a:solidFill>
                <a:latin typeface="Segoe UI"/>
              </a:rPr>
              <a:t>POST /v1/webhooks/razorpay — signature over the raw body IS the auth</a:t>
            </a:r>
          </a:p>
        </p:txBody>
      </p:sp>
      <p:sp>
        <p:nvSpPr>
          <p:cNvPr id="21" name="Rounded Rectangle 20"/>
          <p:cNvSpPr/>
          <p:nvPr/>
        </p:nvSpPr>
        <p:spPr>
          <a:xfrm>
            <a:off x="6035040" y="4114800"/>
            <a:ext cx="5349240" cy="932688"/>
          </a:xfrm>
          <a:prstGeom prst="roundRect">
            <a:avLst>
              <a:gd name="adj" fmla="val 3500"/>
            </a:avLst>
          </a:prstGeom>
          <a:solidFill>
            <a:srgbClr val="0C1322"/>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263640" y="4242816"/>
            <a:ext cx="4937760" cy="274320"/>
          </a:xfrm>
          <a:prstGeom prst="rect">
            <a:avLst/>
          </a:prstGeom>
          <a:noFill/>
        </p:spPr>
        <p:txBody>
          <a:bodyPr wrap="square" lIns="0" tIns="0" rIns="0" bIns="0" anchor="t">
            <a:spAutoFit/>
          </a:bodyPr>
          <a:lstStyle/>
          <a:p>
            <a:pPr algn="l">
              <a:lnSpc>
                <a:spcPct val="125000"/>
              </a:lnSpc>
            </a:pPr>
            <a:r>
              <a:rPr sz="1050" b="1" i="0" spc="140">
                <a:solidFill>
                  <a:srgbClr val="F5B14C"/>
                </a:solidFill>
                <a:latin typeface="Segoe UI"/>
              </a:rPr>
              <a:t>WHY A WEBHOOK AT ALL?</a:t>
            </a:r>
          </a:p>
        </p:txBody>
      </p:sp>
      <p:sp>
        <p:nvSpPr>
          <p:cNvPr id="23" name="TextBox 22"/>
          <p:cNvSpPr txBox="1"/>
          <p:nvPr/>
        </p:nvSpPr>
        <p:spPr>
          <a:xfrm>
            <a:off x="6263640" y="4498848"/>
            <a:ext cx="4937760" cy="50292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A customer can pay and immediately close the tab, lose signal, or have the page killed. The money has still moved. The browser is not a reliable narrator, so settlement cannot depend on it.</a:t>
            </a:r>
          </a:p>
        </p:txBody>
      </p:sp>
      <p:sp>
        <p:nvSpPr>
          <p:cNvPr id="24" name="TextBox 23"/>
          <p:cNvSpPr txBox="1"/>
          <p:nvPr/>
        </p:nvSpPr>
        <p:spPr>
          <a:xfrm>
            <a:off x="6035040" y="5193792"/>
            <a:ext cx="5349240" cy="274320"/>
          </a:xfrm>
          <a:prstGeom prst="rect">
            <a:avLst/>
          </a:prstGeom>
          <a:noFill/>
        </p:spPr>
        <p:txBody>
          <a:bodyPr wrap="square" lIns="0" tIns="0" rIns="0" bIns="0" anchor="t">
            <a:spAutoFit/>
          </a:bodyPr>
          <a:lstStyle/>
          <a:p>
            <a:pPr algn="l">
              <a:lnSpc>
                <a:spcPct val="125000"/>
              </a:lnSpc>
            </a:pPr>
            <a:r>
              <a:rPr sz="1000" b="1" i="0" spc="140">
                <a:solidFill>
                  <a:srgbClr val="34D399"/>
                </a:solidFill>
                <a:latin typeface="Segoe UI"/>
              </a:rPr>
              <a:t>VERIFIED — 22 AUTOMATED CHECKS</a:t>
            </a:r>
          </a:p>
        </p:txBody>
      </p:sp>
      <p:sp>
        <p:nvSpPr>
          <p:cNvPr id="25" name="Rounded Rectangle 24"/>
          <p:cNvSpPr/>
          <p:nvPr/>
        </p:nvSpPr>
        <p:spPr>
          <a:xfrm>
            <a:off x="6035040" y="5468112"/>
            <a:ext cx="2606040" cy="310896"/>
          </a:xfrm>
          <a:prstGeom prst="roundRect">
            <a:avLst>
              <a:gd name="adj" fmla="val 50000"/>
            </a:avLst>
          </a:prstGeom>
          <a:solidFill>
            <a:srgbClr val="0C1322"/>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FF4D5E"/>
                </a:solidFill>
                <a:latin typeface="Segoe UI"/>
              </a:rPr>
              <a:t>Forged signature refused</a:t>
            </a:r>
          </a:p>
        </p:txBody>
      </p:sp>
      <p:sp>
        <p:nvSpPr>
          <p:cNvPr id="26" name="Rounded Rectangle 25"/>
          <p:cNvSpPr/>
          <p:nvPr/>
        </p:nvSpPr>
        <p:spPr>
          <a:xfrm>
            <a:off x="8759952" y="5468112"/>
            <a:ext cx="2606040" cy="310896"/>
          </a:xfrm>
          <a:prstGeom prst="roundRect">
            <a:avLst>
              <a:gd name="adj" fmla="val 50000"/>
            </a:avLst>
          </a:prstGeom>
          <a:solidFill>
            <a:srgbClr val="0C1322"/>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FF4D5E"/>
                </a:solidFill>
                <a:latin typeface="Segoe UI"/>
              </a:rPr>
              <a:t>Unsigned webhook 401</a:t>
            </a:r>
          </a:p>
        </p:txBody>
      </p:sp>
      <p:sp>
        <p:nvSpPr>
          <p:cNvPr id="27" name="Rounded Rectangle 26"/>
          <p:cNvSpPr/>
          <p:nvPr/>
        </p:nvSpPr>
        <p:spPr>
          <a:xfrm>
            <a:off x="6035040" y="5833872"/>
            <a:ext cx="2606040" cy="310896"/>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F5B14C"/>
                </a:solidFill>
                <a:latin typeface="Segoe UI"/>
              </a:rPr>
              <a:t>Amount mismatch refused</a:t>
            </a:r>
          </a:p>
        </p:txBody>
      </p:sp>
      <p:sp>
        <p:nvSpPr>
          <p:cNvPr id="28" name="Rounded Rectangle 27"/>
          <p:cNvSpPr/>
          <p:nvPr/>
        </p:nvSpPr>
        <p:spPr>
          <a:xfrm>
            <a:off x="8759952" y="5833872"/>
            <a:ext cx="2606040"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00" b="1">
                <a:solidFill>
                  <a:srgbClr val="34D399"/>
                </a:solidFill>
                <a:latin typeface="Segoe UI"/>
              </a:rPr>
              <a:t>Replay settles once</a:t>
            </a:r>
          </a:p>
        </p:txBody>
      </p:sp>
      <p:sp>
        <p:nvSpPr>
          <p:cNvPr id="29" name="Rounded Rectangle 28"/>
          <p:cNvSpPr/>
          <p:nvPr/>
        </p:nvSpPr>
        <p:spPr>
          <a:xfrm>
            <a:off x="777240" y="5888736"/>
            <a:ext cx="5029200" cy="310896"/>
          </a:xfrm>
          <a:prstGeom prst="roundRect">
            <a:avLst>
              <a:gd name="adj" fmla="val 3500"/>
            </a:avLst>
          </a:prstGeom>
          <a:solidFill>
            <a:srgbClr val="0C1322"/>
          </a:solidFill>
          <a:ln w="1270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960120" y="5961888"/>
            <a:ext cx="4663440" cy="219456"/>
          </a:xfrm>
          <a:prstGeom prst="rect">
            <a:avLst/>
          </a:prstGeom>
          <a:noFill/>
        </p:spPr>
        <p:txBody>
          <a:bodyPr wrap="square" lIns="0" tIns="0" rIns="0" bIns="0" anchor="t">
            <a:spAutoFit/>
          </a:bodyPr>
          <a:lstStyle/>
          <a:p>
            <a:pPr algn="l">
              <a:lnSpc>
                <a:spcPct val="125000"/>
              </a:lnSpc>
            </a:pPr>
            <a:r>
              <a:rPr sz="850" b="0" i="0">
                <a:solidFill>
                  <a:srgbClr val="F5B14C"/>
                </a:solidFill>
                <a:latin typeface="Segoe UI"/>
              </a:rPr>
              <a:t>Default provider is mock. Live keys need a KYC-verified account.</a:t>
            </a:r>
          </a:p>
        </p:txBody>
      </p:sp>
      <p:sp>
        <p:nvSpPr>
          <p:cNvPr id="31" name="Rounded Rectangle 30"/>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2" name="Rounded Rectangle 31"/>
          <p:cNvSpPr/>
          <p:nvPr/>
        </p:nvSpPr>
        <p:spPr>
          <a:xfrm>
            <a:off x="3319272"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M2 · ENABLING TECH</a:t>
            </a:r>
          </a:p>
        </p:txBody>
      </p:sp>
      <p:sp>
        <p:nvSpPr>
          <p:cNvPr id="33" name="Rounded Rectangle 32"/>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4" name="Rounded Rectangle 33"/>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5" name="TextBox 3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13</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THE FIVE BUILDING BLOCKS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MODULE 3 — CLOUD INFRASTRUCTURE MECHANISMS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377440"/>
            <a:ext cx="2011680" cy="1691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NETWORK
PERIMETER</a:t>
            </a:r>
          </a:p>
          <a:p>
            <a:pPr algn="ctr">
              <a:lnSpc>
                <a:spcPct val="110000"/>
              </a:lnSpc>
            </a:pPr>
            <a:r>
              <a:rPr sz="850">
                <a:solidFill>
                  <a:srgbClr val="93A1B5"/>
                </a:solidFill>
                <a:latin typeface="Segoe UI"/>
              </a:rPr>
              <a:t>Controlled boundary
between the internet
and internal services</a:t>
            </a:r>
          </a:p>
        </p:txBody>
      </p:sp>
      <p:sp>
        <p:nvSpPr>
          <p:cNvPr id="7" name="Rounded Rectangle 6"/>
          <p:cNvSpPr/>
          <p:nvPr/>
        </p:nvSpPr>
        <p:spPr>
          <a:xfrm>
            <a:off x="1161288" y="4160520"/>
            <a:ext cx="1243584" cy="256032"/>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PARTIAL</a:t>
            </a:r>
          </a:p>
        </p:txBody>
      </p:sp>
      <p:cxnSp>
        <p:nvCxnSpPr>
          <p:cNvPr id="8" name="Connector 7"/>
          <p:cNvCxnSpPr/>
          <p:nvPr/>
        </p:nvCxnSpPr>
        <p:spPr>
          <a:xfrm>
            <a:off x="1783080" y="4480560"/>
            <a:ext cx="0" cy="292608"/>
          </a:xfrm>
          <a:prstGeom prst="line">
            <a:avLst/>
          </a:prstGeom>
          <a:ln w="1397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2898648" y="2377440"/>
            <a:ext cx="2011680" cy="1691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VIRTUAL
SERVER</a:t>
            </a:r>
          </a:p>
          <a:p>
            <a:pPr algn="ctr">
              <a:lnSpc>
                <a:spcPct val="110000"/>
              </a:lnSpc>
            </a:pPr>
            <a:r>
              <a:rPr sz="850">
                <a:solidFill>
                  <a:srgbClr val="93A1B5"/>
                </a:solidFill>
                <a:latin typeface="Segoe UI"/>
              </a:rPr>
              <a:t>Virtualized compute
running platform
workloads</a:t>
            </a:r>
          </a:p>
        </p:txBody>
      </p:sp>
      <p:sp>
        <p:nvSpPr>
          <p:cNvPr id="10" name="Rounded Rectangle 9"/>
          <p:cNvSpPr/>
          <p:nvPr/>
        </p:nvSpPr>
        <p:spPr>
          <a:xfrm>
            <a:off x="3282696" y="4160520"/>
            <a:ext cx="1243584" cy="256032"/>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2D3EE"/>
                </a:solidFill>
                <a:latin typeface="Segoe UI"/>
              </a:rPr>
              <a:t>CONCEPT</a:t>
            </a:r>
          </a:p>
        </p:txBody>
      </p:sp>
      <p:cxnSp>
        <p:nvCxnSpPr>
          <p:cNvPr id="11" name="Connector 10"/>
          <p:cNvCxnSpPr/>
          <p:nvPr/>
        </p:nvCxnSpPr>
        <p:spPr>
          <a:xfrm>
            <a:off x="3904487" y="4480560"/>
            <a:ext cx="0" cy="292608"/>
          </a:xfrm>
          <a:prstGeom prst="line">
            <a:avLst/>
          </a:prstGeom>
          <a:ln w="1397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020056" y="2377440"/>
            <a:ext cx="2011680" cy="1691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CLOUD STORAGE
DEVICE</a:t>
            </a:r>
          </a:p>
          <a:p>
            <a:pPr algn="ctr">
              <a:lnSpc>
                <a:spcPct val="110000"/>
              </a:lnSpc>
            </a:pPr>
            <a:r>
              <a:rPr sz="850">
                <a:solidFill>
                  <a:srgbClr val="93A1B5"/>
                </a:solidFill>
                <a:latin typeface="Segoe UI"/>
              </a:rPr>
              <a:t>Persistent, addressable
storage for platform
data</a:t>
            </a:r>
          </a:p>
        </p:txBody>
      </p:sp>
      <p:sp>
        <p:nvSpPr>
          <p:cNvPr id="13" name="Rounded Rectangle 12"/>
          <p:cNvSpPr/>
          <p:nvPr/>
        </p:nvSpPr>
        <p:spPr>
          <a:xfrm>
            <a:off x="5404104" y="4160520"/>
            <a:ext cx="1243584" cy="256032"/>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PARTIAL</a:t>
            </a:r>
          </a:p>
        </p:txBody>
      </p:sp>
      <p:cxnSp>
        <p:nvCxnSpPr>
          <p:cNvPr id="14" name="Connector 13"/>
          <p:cNvCxnSpPr/>
          <p:nvPr/>
        </p:nvCxnSpPr>
        <p:spPr>
          <a:xfrm>
            <a:off x="6025896" y="4480560"/>
            <a:ext cx="0" cy="292608"/>
          </a:xfrm>
          <a:prstGeom prst="line">
            <a:avLst/>
          </a:prstGeom>
          <a:ln w="1397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141464" y="2377440"/>
            <a:ext cx="2011680" cy="169164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CLOUD USAGE
MONITOR</a:t>
            </a:r>
          </a:p>
          <a:p>
            <a:pPr algn="ctr">
              <a:lnSpc>
                <a:spcPct val="110000"/>
              </a:lnSpc>
            </a:pPr>
            <a:r>
              <a:rPr sz="850">
                <a:solidFill>
                  <a:srgbClr val="93A1B5"/>
                </a:solidFill>
                <a:latin typeface="Segoe UI"/>
              </a:rPr>
              <a:t>Collects usage and
performance data for
billing and scaling</a:t>
            </a:r>
          </a:p>
        </p:txBody>
      </p:sp>
      <p:sp>
        <p:nvSpPr>
          <p:cNvPr id="16" name="Rounded Rectangle 15"/>
          <p:cNvSpPr/>
          <p:nvPr/>
        </p:nvSpPr>
        <p:spPr>
          <a:xfrm>
            <a:off x="7525512" y="4160520"/>
            <a:ext cx="1243584" cy="256032"/>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PARTIAL</a:t>
            </a:r>
          </a:p>
        </p:txBody>
      </p:sp>
      <p:cxnSp>
        <p:nvCxnSpPr>
          <p:cNvPr id="17" name="Connector 16"/>
          <p:cNvCxnSpPr/>
          <p:nvPr/>
        </p:nvCxnSpPr>
        <p:spPr>
          <a:xfrm>
            <a:off x="8147304" y="4480560"/>
            <a:ext cx="0" cy="292608"/>
          </a:xfrm>
          <a:prstGeom prst="line">
            <a:avLst/>
          </a:prstGeom>
          <a:ln w="13970">
            <a:solidFill>
              <a:srgbClr val="F5B14C"/>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9262872" y="2377440"/>
            <a:ext cx="2011680" cy="1691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RESOURCE
REPLICATION</a:t>
            </a:r>
          </a:p>
          <a:p>
            <a:pPr algn="ctr">
              <a:lnSpc>
                <a:spcPct val="110000"/>
              </a:lnSpc>
            </a:pPr>
            <a:r>
              <a:rPr sz="850">
                <a:solidFill>
                  <a:srgbClr val="93A1B5"/>
                </a:solidFill>
                <a:latin typeface="Segoe UI"/>
              </a:rPr>
              <a:t>Multiple instances of
a resource for scale
and resilience</a:t>
            </a:r>
          </a:p>
        </p:txBody>
      </p:sp>
      <p:sp>
        <p:nvSpPr>
          <p:cNvPr id="19" name="Rounded Rectangle 18"/>
          <p:cNvSpPr/>
          <p:nvPr/>
        </p:nvSpPr>
        <p:spPr>
          <a:xfrm>
            <a:off x="9646920" y="4160520"/>
            <a:ext cx="1243584" cy="256032"/>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2D3EE"/>
                </a:solidFill>
                <a:latin typeface="Segoe UI"/>
              </a:rPr>
              <a:t>CONCEPT</a:t>
            </a:r>
          </a:p>
        </p:txBody>
      </p:sp>
      <p:cxnSp>
        <p:nvCxnSpPr>
          <p:cNvPr id="20" name="Connector 19"/>
          <p:cNvCxnSpPr/>
          <p:nvPr/>
        </p:nvCxnSpPr>
        <p:spPr>
          <a:xfrm>
            <a:off x="10268712" y="4480560"/>
            <a:ext cx="0" cy="292608"/>
          </a:xfrm>
          <a:prstGeom prst="line">
            <a:avLst/>
          </a:prstGeom>
          <a:ln w="1397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777240" y="4800600"/>
            <a:ext cx="10607040" cy="777240"/>
          </a:xfrm>
          <a:prstGeom prst="roundRect">
            <a:avLst>
              <a:gd name="adj" fmla="val 3500"/>
            </a:avLst>
          </a:prstGeom>
          <a:solidFill>
            <a:srgbClr val="131D30"/>
          </a:solidFill>
          <a:ln w="1905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914400" y="4956048"/>
            <a:ext cx="10332720" cy="320040"/>
          </a:xfrm>
          <a:prstGeom prst="rect">
            <a:avLst/>
          </a:prstGeom>
          <a:noFill/>
        </p:spPr>
        <p:txBody>
          <a:bodyPr wrap="square" lIns="0" tIns="0" rIns="0" bIns="0" anchor="t">
            <a:spAutoFit/>
          </a:bodyPr>
          <a:lstStyle/>
          <a:p>
            <a:pPr algn="ctr">
              <a:lnSpc>
                <a:spcPct val="125000"/>
              </a:lnSpc>
            </a:pPr>
            <a:r>
              <a:rPr sz="1400" b="1" i="0">
                <a:solidFill>
                  <a:srgbClr val="F4F7FB"/>
                </a:solidFill>
                <a:latin typeface="Segoe UI Semibold"/>
              </a:rPr>
              <a:t>ROADASSIST PLATFORM</a:t>
            </a:r>
          </a:p>
        </p:txBody>
      </p:sp>
      <p:sp>
        <p:nvSpPr>
          <p:cNvPr id="23" name="TextBox 22"/>
          <p:cNvSpPr txBox="1"/>
          <p:nvPr/>
        </p:nvSpPr>
        <p:spPr>
          <a:xfrm>
            <a:off x="914400" y="5266944"/>
            <a:ext cx="10332720" cy="274320"/>
          </a:xfrm>
          <a:prstGeom prst="rect">
            <a:avLst/>
          </a:prstGeom>
          <a:noFill/>
        </p:spPr>
        <p:txBody>
          <a:bodyPr wrap="square" lIns="0" tIns="0" rIns="0" bIns="0" anchor="t">
            <a:spAutoFit/>
          </a:bodyPr>
          <a:lstStyle/>
          <a:p>
            <a:pPr algn="ctr">
              <a:lnSpc>
                <a:spcPct val="125000"/>
              </a:lnSpc>
            </a:pPr>
            <a:r>
              <a:rPr sz="1000" b="0" i="0">
                <a:solidFill>
                  <a:srgbClr val="22D3EE"/>
                </a:solidFill>
                <a:latin typeface="Segoe UI"/>
              </a:rPr>
              <a:t>Each mechanism is examined next against what the project actually does</a:t>
            </a:r>
          </a:p>
        </p:txBody>
      </p:sp>
      <p:sp>
        <p:nvSpPr>
          <p:cNvPr id="24" name="TextBox 23"/>
          <p:cNvSpPr txBox="1"/>
          <p:nvPr/>
        </p:nvSpPr>
        <p:spPr>
          <a:xfrm>
            <a:off x="777240" y="5715000"/>
            <a:ext cx="10607040" cy="365760"/>
          </a:xfrm>
          <a:prstGeom prst="rect">
            <a:avLst/>
          </a:prstGeom>
          <a:noFill/>
        </p:spPr>
        <p:txBody>
          <a:bodyPr wrap="square" lIns="0" tIns="0" rIns="0" bIns="0" anchor="t">
            <a:spAutoFit/>
          </a:bodyPr>
          <a:lstStyle/>
          <a:p>
            <a:pPr algn="l">
              <a:lnSpc>
                <a:spcPct val="135000"/>
              </a:lnSpc>
            </a:pPr>
            <a:r>
              <a:rPr sz="950" b="0" i="0">
                <a:solidFill>
                  <a:srgbClr val="5C6B80"/>
                </a:solidFill>
                <a:latin typeface="Segoe UI"/>
              </a:rPr>
              <a:t>PARTIAL means a real but limited form exists — for example a health endpoint reporting database latency is a usage monitor, but not a full monitoring stack. CONCEPT means the mechanism is designed for, not built.</a:t>
            </a:r>
          </a:p>
        </p:txBody>
      </p:sp>
      <p:sp>
        <p:nvSpPr>
          <p:cNvPr id="25" name="Rounded Rectangle 24"/>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26" name="Rounded Rectangle 25"/>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27" name="Rounded Rectangle 26"/>
          <p:cNvSpPr/>
          <p:nvPr/>
        </p:nvSpPr>
        <p:spPr>
          <a:xfrm>
            <a:off x="5861304"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M3 · INFRASTRUCTURE</a:t>
            </a:r>
          </a:p>
        </p:txBody>
      </p:sp>
      <p:sp>
        <p:nvSpPr>
          <p:cNvPr id="28" name="Rounded Rectangle 27"/>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14</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3 · NETWORK PERIMETER</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100" b="1" i="0">
                <a:solidFill>
                  <a:srgbClr val="F4F7FB"/>
                </a:solidFill>
                <a:latin typeface="Segoe UI Semibold"/>
              </a:rPr>
              <a:t>PROTECTING THE CLOUD BOUNDARY</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F5B14C"/>
                </a:solidFill>
                <a:latin typeface="Segoe UI"/>
              </a:rPr>
              <a:t>PARTIALLY IMPLEMENTED</a:t>
            </a:r>
          </a:p>
        </p:txBody>
      </p:sp>
      <p:sp>
        <p:nvSpPr>
          <p:cNvPr id="6" name="Rounded Rectangle 5"/>
          <p:cNvSpPr/>
          <p:nvPr/>
        </p:nvSpPr>
        <p:spPr>
          <a:xfrm>
            <a:off x="2377440" y="2148840"/>
            <a:ext cx="7406640" cy="603504"/>
          </a:xfrm>
          <a:prstGeom prst="roundRect">
            <a:avLst>
              <a:gd name="adj" fmla="val 3500"/>
            </a:avLst>
          </a:prstGeom>
          <a:solidFill>
            <a:srgbClr val="0C1322"/>
          </a:solidFill>
          <a:ln w="1651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2606040" y="2221992"/>
            <a:ext cx="3108960" cy="274320"/>
          </a:xfrm>
          <a:prstGeom prst="rect">
            <a:avLst/>
          </a:prstGeom>
          <a:noFill/>
        </p:spPr>
        <p:txBody>
          <a:bodyPr wrap="square" lIns="0" tIns="0" rIns="0" bIns="0" anchor="t">
            <a:spAutoFit/>
          </a:bodyPr>
          <a:lstStyle/>
          <a:p>
            <a:pPr algn="l">
              <a:lnSpc>
                <a:spcPct val="125000"/>
              </a:lnSpc>
            </a:pPr>
            <a:r>
              <a:rPr sz="1200" b="1" i="0">
                <a:solidFill>
                  <a:srgbClr val="FF4D5E"/>
                </a:solidFill>
                <a:latin typeface="Segoe UI Semibold"/>
              </a:rPr>
              <a:t>INTERNET</a:t>
            </a:r>
          </a:p>
        </p:txBody>
      </p:sp>
      <p:sp>
        <p:nvSpPr>
          <p:cNvPr id="8" name="TextBox 7"/>
          <p:cNvSpPr txBox="1"/>
          <p:nvPr/>
        </p:nvSpPr>
        <p:spPr>
          <a:xfrm>
            <a:off x="2606040" y="2450592"/>
            <a:ext cx="6949440" cy="256032"/>
          </a:xfrm>
          <a:prstGeom prst="rect">
            <a:avLst/>
          </a:prstGeom>
          <a:noFill/>
        </p:spPr>
        <p:txBody>
          <a:bodyPr wrap="square" lIns="0" tIns="0" rIns="0" bIns="0" anchor="t">
            <a:spAutoFit/>
          </a:bodyPr>
          <a:lstStyle/>
          <a:p>
            <a:pPr algn="l">
              <a:lnSpc>
                <a:spcPct val="125000"/>
              </a:lnSpc>
            </a:pPr>
            <a:r>
              <a:rPr sz="950" b="0" i="0">
                <a:solidFill>
                  <a:srgbClr val="93A1B5"/>
                </a:solidFill>
                <a:latin typeface="Segoe UI"/>
              </a:rPr>
              <a:t>Untrusted. Any client, any network.</a:t>
            </a:r>
          </a:p>
        </p:txBody>
      </p:sp>
      <p:cxnSp>
        <p:nvCxnSpPr>
          <p:cNvPr id="9" name="Connector 8"/>
          <p:cNvCxnSpPr/>
          <p:nvPr/>
        </p:nvCxnSpPr>
        <p:spPr>
          <a:xfrm>
            <a:off x="6080760" y="2770632"/>
            <a:ext cx="0" cy="91440"/>
          </a:xfrm>
          <a:prstGeom prst="line">
            <a:avLst/>
          </a:prstGeom>
          <a:ln w="1524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2377440" y="2880360"/>
            <a:ext cx="7406640" cy="603504"/>
          </a:xfrm>
          <a:prstGeom prst="roundRect">
            <a:avLst>
              <a:gd name="adj" fmla="val 3500"/>
            </a:avLst>
          </a:prstGeom>
          <a:solidFill>
            <a:srgbClr val="0C1322"/>
          </a:solidFill>
          <a:ln w="1651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2606040" y="2953512"/>
            <a:ext cx="3108960" cy="274320"/>
          </a:xfrm>
          <a:prstGeom prst="rect">
            <a:avLst/>
          </a:prstGeom>
          <a:noFill/>
        </p:spPr>
        <p:txBody>
          <a:bodyPr wrap="square" lIns="0" tIns="0" rIns="0" bIns="0" anchor="t">
            <a:spAutoFit/>
          </a:bodyPr>
          <a:lstStyle/>
          <a:p>
            <a:pPr algn="l">
              <a:lnSpc>
                <a:spcPct val="125000"/>
              </a:lnSpc>
            </a:pPr>
            <a:r>
              <a:rPr sz="1200" b="1" i="0">
                <a:solidFill>
                  <a:srgbClr val="F5B14C"/>
                </a:solidFill>
                <a:latin typeface="Segoe UI Semibold"/>
              </a:rPr>
              <a:t>NETWORK PERIMETER</a:t>
            </a:r>
          </a:p>
        </p:txBody>
      </p:sp>
      <p:sp>
        <p:nvSpPr>
          <p:cNvPr id="12" name="TextBox 11"/>
          <p:cNvSpPr txBox="1"/>
          <p:nvPr/>
        </p:nvSpPr>
        <p:spPr>
          <a:xfrm>
            <a:off x="2606040" y="3182112"/>
            <a:ext cx="6949440" cy="256032"/>
          </a:xfrm>
          <a:prstGeom prst="rect">
            <a:avLst/>
          </a:prstGeom>
          <a:noFill/>
        </p:spPr>
        <p:txBody>
          <a:bodyPr wrap="square" lIns="0" tIns="0" rIns="0" bIns="0" anchor="t">
            <a:spAutoFit/>
          </a:bodyPr>
          <a:lstStyle/>
          <a:p>
            <a:pPr algn="l">
              <a:lnSpc>
                <a:spcPct val="125000"/>
              </a:lnSpc>
            </a:pPr>
            <a:r>
              <a:rPr sz="950" b="0" i="0">
                <a:solidFill>
                  <a:srgbClr val="93A1B5"/>
                </a:solidFill>
                <a:latin typeface="Segoe UI"/>
              </a:rPr>
              <a:t>TLS termination · trusted-proxy rules · rate limiting</a:t>
            </a:r>
          </a:p>
        </p:txBody>
      </p:sp>
      <p:cxnSp>
        <p:nvCxnSpPr>
          <p:cNvPr id="13" name="Connector 12"/>
          <p:cNvCxnSpPr/>
          <p:nvPr/>
        </p:nvCxnSpPr>
        <p:spPr>
          <a:xfrm>
            <a:off x="6080760" y="3502152"/>
            <a:ext cx="0" cy="91439"/>
          </a:xfrm>
          <a:prstGeom prst="line">
            <a:avLst/>
          </a:prstGeom>
          <a:ln w="1524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2377440" y="3611880"/>
            <a:ext cx="7406640" cy="603504"/>
          </a:xfrm>
          <a:prstGeom prst="roundRect">
            <a:avLst>
              <a:gd name="adj" fmla="val 3500"/>
            </a:avLst>
          </a:prstGeom>
          <a:solidFill>
            <a:srgbClr val="0C1322"/>
          </a:solidFill>
          <a:ln w="1651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606040" y="3685032"/>
            <a:ext cx="3108960" cy="274320"/>
          </a:xfrm>
          <a:prstGeom prst="rect">
            <a:avLst/>
          </a:prstGeom>
          <a:noFill/>
        </p:spPr>
        <p:txBody>
          <a:bodyPr wrap="square" lIns="0" tIns="0" rIns="0" bIns="0" anchor="t">
            <a:spAutoFit/>
          </a:bodyPr>
          <a:lstStyle/>
          <a:p>
            <a:pPr algn="l">
              <a:lnSpc>
                <a:spcPct val="125000"/>
              </a:lnSpc>
            </a:pPr>
            <a:r>
              <a:rPr sz="1200" b="1" i="0">
                <a:solidFill>
                  <a:srgbClr val="22D3EE"/>
                </a:solidFill>
                <a:latin typeface="Segoe UI Semibold"/>
              </a:rPr>
              <a:t>API GATEWAY</a:t>
            </a:r>
          </a:p>
        </p:txBody>
      </p:sp>
      <p:sp>
        <p:nvSpPr>
          <p:cNvPr id="16" name="TextBox 15"/>
          <p:cNvSpPr txBox="1"/>
          <p:nvPr/>
        </p:nvSpPr>
        <p:spPr>
          <a:xfrm>
            <a:off x="2606040" y="3913632"/>
            <a:ext cx="6949440" cy="256032"/>
          </a:xfrm>
          <a:prstGeom prst="rect">
            <a:avLst/>
          </a:prstGeom>
          <a:noFill/>
        </p:spPr>
        <p:txBody>
          <a:bodyPr wrap="square" lIns="0" tIns="0" rIns="0" bIns="0" anchor="t">
            <a:spAutoFit/>
          </a:bodyPr>
          <a:lstStyle/>
          <a:p>
            <a:pPr algn="l">
              <a:lnSpc>
                <a:spcPct val="125000"/>
              </a:lnSpc>
            </a:pPr>
            <a:r>
              <a:rPr sz="950" b="0" i="0">
                <a:solidFill>
                  <a:srgbClr val="93A1B5"/>
                </a:solidFill>
                <a:latin typeface="Segoe UI"/>
              </a:rPr>
              <a:t>Schema validation on every request (Zod)</a:t>
            </a:r>
          </a:p>
        </p:txBody>
      </p:sp>
      <p:cxnSp>
        <p:nvCxnSpPr>
          <p:cNvPr id="17" name="Connector 16"/>
          <p:cNvCxnSpPr/>
          <p:nvPr/>
        </p:nvCxnSpPr>
        <p:spPr>
          <a:xfrm>
            <a:off x="6080760" y="4233672"/>
            <a:ext cx="0" cy="91440"/>
          </a:xfrm>
          <a:prstGeom prst="line">
            <a:avLst/>
          </a:prstGeom>
          <a:ln w="1524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377440" y="4343400"/>
            <a:ext cx="7406640" cy="603504"/>
          </a:xfrm>
          <a:prstGeom prst="roundRect">
            <a:avLst>
              <a:gd name="adj" fmla="val 3500"/>
            </a:avLst>
          </a:prstGeom>
          <a:solidFill>
            <a:srgbClr val="0C1322"/>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606040" y="4416552"/>
            <a:ext cx="3108960" cy="274320"/>
          </a:xfrm>
          <a:prstGeom prst="rect">
            <a:avLst/>
          </a:prstGeom>
          <a:noFill/>
        </p:spPr>
        <p:txBody>
          <a:bodyPr wrap="square" lIns="0" tIns="0" rIns="0" bIns="0" anchor="t">
            <a:spAutoFit/>
          </a:bodyPr>
          <a:lstStyle/>
          <a:p>
            <a:pPr algn="l">
              <a:lnSpc>
                <a:spcPct val="125000"/>
              </a:lnSpc>
            </a:pPr>
            <a:r>
              <a:rPr sz="1200" b="1" i="0">
                <a:solidFill>
                  <a:srgbClr val="2E7DFF"/>
                </a:solidFill>
                <a:latin typeface="Segoe UI Semibold"/>
              </a:rPr>
              <a:t>APPLICATION SERVICES</a:t>
            </a:r>
          </a:p>
        </p:txBody>
      </p:sp>
      <p:sp>
        <p:nvSpPr>
          <p:cNvPr id="20" name="TextBox 19"/>
          <p:cNvSpPr txBox="1"/>
          <p:nvPr/>
        </p:nvSpPr>
        <p:spPr>
          <a:xfrm>
            <a:off x="2606040" y="4645152"/>
            <a:ext cx="6949440" cy="256032"/>
          </a:xfrm>
          <a:prstGeom prst="rect">
            <a:avLst/>
          </a:prstGeom>
          <a:noFill/>
        </p:spPr>
        <p:txBody>
          <a:bodyPr wrap="square" lIns="0" tIns="0" rIns="0" bIns="0" anchor="t">
            <a:spAutoFit/>
          </a:bodyPr>
          <a:lstStyle/>
          <a:p>
            <a:pPr algn="l">
              <a:lnSpc>
                <a:spcPct val="125000"/>
              </a:lnSpc>
            </a:pPr>
            <a:r>
              <a:rPr sz="950" b="0" i="0">
                <a:solidFill>
                  <a:srgbClr val="93A1B5"/>
                </a:solidFill>
                <a:latin typeface="Segoe UI"/>
              </a:rPr>
              <a:t>Authentication · role gate · resource-level ownership</a:t>
            </a:r>
          </a:p>
        </p:txBody>
      </p:sp>
      <p:cxnSp>
        <p:nvCxnSpPr>
          <p:cNvPr id="21" name="Connector 20"/>
          <p:cNvCxnSpPr/>
          <p:nvPr/>
        </p:nvCxnSpPr>
        <p:spPr>
          <a:xfrm>
            <a:off x="6080760" y="4965192"/>
            <a:ext cx="0" cy="91440"/>
          </a:xfrm>
          <a:prstGeom prst="line">
            <a:avLst/>
          </a:prstGeom>
          <a:ln w="1524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2377440" y="5074920"/>
            <a:ext cx="7406640" cy="603504"/>
          </a:xfrm>
          <a:prstGeom prst="roundRect">
            <a:avLst>
              <a:gd name="adj" fmla="val 3500"/>
            </a:avLst>
          </a:prstGeom>
          <a:solidFill>
            <a:srgbClr val="0C1322"/>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2606040" y="5148072"/>
            <a:ext cx="3108960" cy="274320"/>
          </a:xfrm>
          <a:prstGeom prst="rect">
            <a:avLst/>
          </a:prstGeom>
          <a:noFill/>
        </p:spPr>
        <p:txBody>
          <a:bodyPr wrap="square" lIns="0" tIns="0" rIns="0" bIns="0" anchor="t">
            <a:spAutoFit/>
          </a:bodyPr>
          <a:lstStyle/>
          <a:p>
            <a:pPr algn="l">
              <a:lnSpc>
                <a:spcPct val="125000"/>
              </a:lnSpc>
            </a:pPr>
            <a:r>
              <a:rPr sz="1200" b="1" i="0">
                <a:solidFill>
                  <a:srgbClr val="34D399"/>
                </a:solidFill>
                <a:latin typeface="Segoe UI Semibold"/>
              </a:rPr>
              <a:t>DATABASE</a:t>
            </a:r>
          </a:p>
        </p:txBody>
      </p:sp>
      <p:sp>
        <p:nvSpPr>
          <p:cNvPr id="24" name="TextBox 23"/>
          <p:cNvSpPr txBox="1"/>
          <p:nvPr/>
        </p:nvSpPr>
        <p:spPr>
          <a:xfrm>
            <a:off x="2606040" y="5376672"/>
            <a:ext cx="6949440" cy="256032"/>
          </a:xfrm>
          <a:prstGeom prst="rect">
            <a:avLst/>
          </a:prstGeom>
          <a:noFill/>
        </p:spPr>
        <p:txBody>
          <a:bodyPr wrap="square" lIns="0" tIns="0" rIns="0" bIns="0" anchor="t">
            <a:spAutoFit/>
          </a:bodyPr>
          <a:lstStyle/>
          <a:p>
            <a:pPr algn="l">
              <a:lnSpc>
                <a:spcPct val="125000"/>
              </a:lnSpc>
            </a:pPr>
            <a:r>
              <a:rPr sz="950" b="0" i="0">
                <a:solidFill>
                  <a:srgbClr val="93A1B5"/>
                </a:solidFill>
                <a:latin typeface="Segoe UI"/>
              </a:rPr>
              <a:t>Parameterised queries · append-only audit chain</a:t>
            </a:r>
          </a:p>
        </p:txBody>
      </p:sp>
      <p:sp>
        <p:nvSpPr>
          <p:cNvPr id="25" name="Rounded Rectangle 24"/>
          <p:cNvSpPr/>
          <p:nvPr/>
        </p:nvSpPr>
        <p:spPr>
          <a:xfrm>
            <a:off x="777240" y="2148840"/>
            <a:ext cx="1417320" cy="3529584"/>
          </a:xfrm>
          <a:prstGeom prst="roundRect">
            <a:avLst>
              <a:gd name="adj" fmla="val 3500"/>
            </a:avLst>
          </a:prstGeom>
          <a:solidFill>
            <a:srgbClr val="070B14"/>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68680" y="3291840"/>
            <a:ext cx="1234440" cy="1097280"/>
          </a:xfrm>
          <a:prstGeom prst="rect">
            <a:avLst/>
          </a:prstGeom>
          <a:noFill/>
        </p:spPr>
        <p:txBody>
          <a:bodyPr wrap="square" lIns="0" tIns="0" rIns="0" bIns="0" anchor="t">
            <a:spAutoFit/>
          </a:bodyPr>
          <a:lstStyle/>
          <a:p>
            <a:pPr algn="ctr">
              <a:lnSpc>
                <a:spcPct val="150000"/>
              </a:lnSpc>
            </a:pPr>
            <a:r>
              <a:rPr sz="1100" b="1" i="0" spc="140">
                <a:solidFill>
                  <a:srgbClr val="22D3EE"/>
                </a:solidFill>
                <a:latin typeface="Segoe UI"/>
              </a:rPr>
              <a:t>DEFENCE</a:t>
            </a:r>
          </a:p>
          <a:p>
            <a:pPr algn="ctr">
              <a:lnSpc>
                <a:spcPct val="150000"/>
              </a:lnSpc>
            </a:pPr>
            <a:r>
              <a:rPr sz="1100" b="1" i="0" spc="140">
                <a:solidFill>
                  <a:srgbClr val="22D3EE"/>
                </a:solidFill>
                <a:latin typeface="Segoe UI"/>
              </a:rPr>
              <a:t>IN</a:t>
            </a:r>
          </a:p>
          <a:p>
            <a:pPr algn="ctr">
              <a:lnSpc>
                <a:spcPct val="150000"/>
              </a:lnSpc>
            </a:pPr>
            <a:r>
              <a:rPr sz="1100" b="1" i="0" spc="140">
                <a:solidFill>
                  <a:srgbClr val="22D3EE"/>
                </a:solidFill>
                <a:latin typeface="Segoe UI"/>
              </a:rPr>
              <a:t>DEPTH</a:t>
            </a:r>
          </a:p>
        </p:txBody>
      </p:sp>
      <p:sp>
        <p:nvSpPr>
          <p:cNvPr id="27" name="Rounded Rectangle 26"/>
          <p:cNvSpPr/>
          <p:nvPr/>
        </p:nvSpPr>
        <p:spPr>
          <a:xfrm>
            <a:off x="9966960" y="2148840"/>
            <a:ext cx="1417320" cy="3529584"/>
          </a:xfrm>
          <a:prstGeom prst="roundRect">
            <a:avLst>
              <a:gd name="adj" fmla="val 3500"/>
            </a:avLst>
          </a:prstGeom>
          <a:solidFill>
            <a:srgbClr val="070B14"/>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10058400" y="2514600"/>
            <a:ext cx="1234440" cy="384048"/>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OTP</a:t>
            </a:r>
          </a:p>
        </p:txBody>
      </p:sp>
      <p:sp>
        <p:nvSpPr>
          <p:cNvPr id="29" name="Rounded Rectangle 28"/>
          <p:cNvSpPr/>
          <p:nvPr/>
        </p:nvSpPr>
        <p:spPr>
          <a:xfrm>
            <a:off x="10058400" y="3172968"/>
            <a:ext cx="1234440" cy="384048"/>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JWT</a:t>
            </a:r>
          </a:p>
        </p:txBody>
      </p:sp>
      <p:sp>
        <p:nvSpPr>
          <p:cNvPr id="30" name="Rounded Rectangle 29"/>
          <p:cNvSpPr/>
          <p:nvPr/>
        </p:nvSpPr>
        <p:spPr>
          <a:xfrm>
            <a:off x="10058400" y="3831335"/>
            <a:ext cx="1234440" cy="384048"/>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RBAC</a:t>
            </a:r>
          </a:p>
        </p:txBody>
      </p:sp>
      <p:sp>
        <p:nvSpPr>
          <p:cNvPr id="31" name="Rounded Rectangle 30"/>
          <p:cNvSpPr/>
          <p:nvPr/>
        </p:nvSpPr>
        <p:spPr>
          <a:xfrm>
            <a:off x="10058400" y="4489704"/>
            <a:ext cx="1234440" cy="384048"/>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OWNER</a:t>
            </a:r>
          </a:p>
        </p:txBody>
      </p:sp>
      <p:sp>
        <p:nvSpPr>
          <p:cNvPr id="32" name="Rounded Rectangle 31"/>
          <p:cNvSpPr/>
          <p:nvPr/>
        </p:nvSpPr>
        <p:spPr>
          <a:xfrm>
            <a:off x="10058400" y="5148072"/>
            <a:ext cx="1234440" cy="384048"/>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AUDIT</a:t>
            </a:r>
          </a:p>
        </p:txBody>
      </p:sp>
      <p:sp>
        <p:nvSpPr>
          <p:cNvPr id="33" name="TextBox 32"/>
          <p:cNvSpPr txBox="1"/>
          <p:nvPr/>
        </p:nvSpPr>
        <p:spPr>
          <a:xfrm>
            <a:off x="777240" y="5806440"/>
            <a:ext cx="10607040" cy="365760"/>
          </a:xfrm>
          <a:prstGeom prst="rect">
            <a:avLst/>
          </a:prstGeom>
          <a:noFill/>
        </p:spPr>
        <p:txBody>
          <a:bodyPr wrap="square" lIns="0" tIns="0" rIns="0" bIns="0" anchor="t">
            <a:spAutoFit/>
          </a:bodyPr>
          <a:lstStyle/>
          <a:p>
            <a:pPr algn="l">
              <a:lnSpc>
                <a:spcPct val="135000"/>
              </a:lnSpc>
            </a:pPr>
            <a:r>
              <a:rPr sz="1000" b="0" i="0">
                <a:solidFill>
                  <a:srgbClr val="F5B14C"/>
                </a:solidFill>
                <a:latin typeface="Segoe UI"/>
              </a:rPr>
              <a:t>Verified: a forged X-Forwarded-For header from an untrusted peer is ignored, so the per-IP rate limit cannot be bypassed. No specific firewall product or cloud provider service is claimed.</a:t>
            </a:r>
          </a:p>
        </p:txBody>
      </p:sp>
      <p:sp>
        <p:nvSpPr>
          <p:cNvPr id="34" name="Rounded Rectangle 33"/>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5" name="Rounded Rectangle 34"/>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6" name="Rounded Rectangle 35"/>
          <p:cNvSpPr/>
          <p:nvPr/>
        </p:nvSpPr>
        <p:spPr>
          <a:xfrm>
            <a:off x="5861304"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M3 · INFRASTRUCTURE</a:t>
            </a:r>
          </a:p>
        </p:txBody>
      </p:sp>
      <p:sp>
        <p:nvSpPr>
          <p:cNvPr id="37" name="Rounded Rectangle 36"/>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8" name="TextBox 3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15</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3 · VIRTUAL SERVER</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VIRTUAL COMPUTE FOR ROADASSIST SERVICES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4023360" y="5230368"/>
            <a:ext cx="4114800" cy="566928"/>
          </a:xfrm>
          <a:prstGeom prst="roundRect">
            <a:avLst>
              <a:gd name="adj" fmla="val 3500"/>
            </a:avLst>
          </a:prstGeom>
          <a:solidFill>
            <a:srgbClr val="0C1322"/>
          </a:solidFill>
          <a:ln w="15875">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PHYSICAL INFRASTRUCTURE</a:t>
            </a:r>
          </a:p>
          <a:p>
            <a:pPr algn="ctr">
              <a:lnSpc>
                <a:spcPct val="110000"/>
              </a:lnSpc>
            </a:pPr>
            <a:r>
              <a:rPr sz="850">
                <a:solidFill>
                  <a:srgbClr val="93A1B5"/>
                </a:solidFill>
                <a:latin typeface="Segoe UI"/>
              </a:rPr>
              <a:t>provider-owned estate</a:t>
            </a:r>
          </a:p>
        </p:txBody>
      </p:sp>
      <p:cxnSp>
        <p:nvCxnSpPr>
          <p:cNvPr id="7" name="Connector 6"/>
          <p:cNvCxnSpPr/>
          <p:nvPr/>
        </p:nvCxnSpPr>
        <p:spPr>
          <a:xfrm flipV="1">
            <a:off x="6080760" y="5029200"/>
            <a:ext cx="0" cy="182880"/>
          </a:xfrm>
          <a:prstGeom prst="line">
            <a:avLst/>
          </a:prstGeom>
          <a:ln w="1651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4023360" y="4407408"/>
            <a:ext cx="4114800" cy="56692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4F7FB"/>
                </a:solidFill>
                <a:latin typeface="Segoe UI Semibold"/>
              </a:rPr>
              <a:t>VIRTUAL SERVER</a:t>
            </a:r>
          </a:p>
          <a:p>
            <a:pPr algn="ctr">
              <a:lnSpc>
                <a:spcPct val="110000"/>
              </a:lnSpc>
            </a:pPr>
            <a:r>
              <a:rPr sz="850">
                <a:solidFill>
                  <a:srgbClr val="93A1B5"/>
                </a:solidFill>
                <a:latin typeface="Segoe UI"/>
              </a:rPr>
              <a:t>isolated, allocatable compute unit</a:t>
            </a:r>
          </a:p>
        </p:txBody>
      </p:sp>
      <p:cxnSp>
        <p:nvCxnSpPr>
          <p:cNvPr id="9" name="Connector 8"/>
          <p:cNvCxnSpPr/>
          <p:nvPr/>
        </p:nvCxnSpPr>
        <p:spPr>
          <a:xfrm flipV="1">
            <a:off x="6080760" y="4206240"/>
            <a:ext cx="0" cy="182880"/>
          </a:xfrm>
          <a:prstGeom prst="line">
            <a:avLst/>
          </a:prstGeom>
          <a:ln w="1651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023360" y="3584448"/>
            <a:ext cx="4114800" cy="56692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200" b="1">
                <a:solidFill>
                  <a:srgbClr val="F4F7FB"/>
                </a:solidFill>
                <a:latin typeface="Segoe UI Semibold"/>
              </a:rPr>
              <a:t>API RUNTIME</a:t>
            </a:r>
          </a:p>
          <a:p>
            <a:pPr algn="ctr">
              <a:lnSpc>
                <a:spcPct val="110000"/>
              </a:lnSpc>
            </a:pPr>
            <a:r>
              <a:rPr sz="850">
                <a:solidFill>
                  <a:srgbClr val="93A1B5"/>
                </a:solidFill>
                <a:latin typeface="Segoe UI"/>
              </a:rPr>
              <a:t>Fastify · Node · stateless per request</a:t>
            </a:r>
          </a:p>
        </p:txBody>
      </p:sp>
      <p:sp>
        <p:nvSpPr>
          <p:cNvPr id="11" name="Rounded Rectangle 10"/>
          <p:cNvSpPr/>
          <p:nvPr/>
        </p:nvSpPr>
        <p:spPr>
          <a:xfrm>
            <a:off x="777240" y="2487168"/>
            <a:ext cx="169164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AUTH</a:t>
            </a:r>
          </a:p>
        </p:txBody>
      </p:sp>
      <p:cxnSp>
        <p:nvCxnSpPr>
          <p:cNvPr id="12" name="Connector 11"/>
          <p:cNvCxnSpPr/>
          <p:nvPr/>
        </p:nvCxnSpPr>
        <p:spPr>
          <a:xfrm>
            <a:off x="1618488" y="3054096"/>
            <a:ext cx="4462272" cy="512064"/>
          </a:xfrm>
          <a:prstGeom prst="line">
            <a:avLst/>
          </a:prstGeom>
          <a:ln w="1270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606040" y="2487168"/>
            <a:ext cx="169164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BOOKING</a:t>
            </a:r>
          </a:p>
        </p:txBody>
      </p:sp>
      <p:cxnSp>
        <p:nvCxnSpPr>
          <p:cNvPr id="14" name="Connector 13"/>
          <p:cNvCxnSpPr/>
          <p:nvPr/>
        </p:nvCxnSpPr>
        <p:spPr>
          <a:xfrm>
            <a:off x="3447288" y="3054096"/>
            <a:ext cx="2633472" cy="512064"/>
          </a:xfrm>
          <a:prstGeom prst="line">
            <a:avLst/>
          </a:prstGeom>
          <a:ln w="1270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434840" y="2487168"/>
            <a:ext cx="169164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AI</a:t>
            </a:r>
          </a:p>
        </p:txBody>
      </p:sp>
      <p:cxnSp>
        <p:nvCxnSpPr>
          <p:cNvPr id="16" name="Connector 15"/>
          <p:cNvCxnSpPr/>
          <p:nvPr/>
        </p:nvCxnSpPr>
        <p:spPr>
          <a:xfrm>
            <a:off x="5276088" y="3054096"/>
            <a:ext cx="804672" cy="51206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989320" y="2487168"/>
            <a:ext cx="169164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MAP</a:t>
            </a:r>
          </a:p>
        </p:txBody>
      </p:sp>
      <p:cxnSp>
        <p:nvCxnSpPr>
          <p:cNvPr id="18" name="Connector 17"/>
          <p:cNvCxnSpPr/>
          <p:nvPr/>
        </p:nvCxnSpPr>
        <p:spPr>
          <a:xfrm flipH="1">
            <a:off x="6080760" y="3054096"/>
            <a:ext cx="749808" cy="51206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7543800" y="2487168"/>
            <a:ext cx="1691640" cy="548640"/>
          </a:xfrm>
          <a:prstGeom prst="roundRect">
            <a:avLst>
              <a:gd name="adj" fmla="val 3500"/>
            </a:avLst>
          </a:prstGeom>
          <a:solidFill>
            <a:srgbClr val="0C1322"/>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RAKSHA</a:t>
            </a:r>
          </a:p>
        </p:txBody>
      </p:sp>
      <p:cxnSp>
        <p:nvCxnSpPr>
          <p:cNvPr id="20" name="Connector 19"/>
          <p:cNvCxnSpPr/>
          <p:nvPr/>
        </p:nvCxnSpPr>
        <p:spPr>
          <a:xfrm flipH="1">
            <a:off x="6080760" y="3054096"/>
            <a:ext cx="2304288" cy="512064"/>
          </a:xfrm>
          <a:prstGeom prst="line">
            <a:avLst/>
          </a:prstGeom>
          <a:ln w="12700">
            <a:solidFill>
              <a:srgbClr val="FF4D5E"/>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55480" y="2487168"/>
            <a:ext cx="169164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SYNC</a:t>
            </a:r>
          </a:p>
        </p:txBody>
      </p:sp>
      <p:cxnSp>
        <p:nvCxnSpPr>
          <p:cNvPr id="22" name="Connector 21"/>
          <p:cNvCxnSpPr/>
          <p:nvPr/>
        </p:nvCxnSpPr>
        <p:spPr>
          <a:xfrm flipH="1">
            <a:off x="6080760" y="3054096"/>
            <a:ext cx="4315968" cy="512064"/>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777240" y="5943600"/>
            <a:ext cx="10607040" cy="292608"/>
          </a:xfrm>
          <a:prstGeom prst="roundRect">
            <a:avLst>
              <a:gd name="adj" fmla="val 3500"/>
            </a:avLst>
          </a:prstGeom>
          <a:solidFill>
            <a:srgbClr val="0C1322"/>
          </a:solidFill>
          <a:ln w="1270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5989320"/>
            <a:ext cx="10241280" cy="228600"/>
          </a:xfrm>
          <a:prstGeom prst="rect">
            <a:avLst/>
          </a:prstGeom>
          <a:noFill/>
        </p:spPr>
        <p:txBody>
          <a:bodyPr wrap="square" lIns="0" tIns="0" rIns="0" bIns="0" anchor="t">
            <a:spAutoFit/>
          </a:bodyPr>
          <a:lstStyle/>
          <a:p>
            <a:pPr algn="l">
              <a:lnSpc>
                <a:spcPct val="125000"/>
              </a:lnSpc>
            </a:pPr>
            <a:r>
              <a:rPr sz="900" b="0" i="0">
                <a:solidFill>
                  <a:srgbClr val="F5B14C"/>
                </a:solidFill>
                <a:latin typeface="Segoe UI"/>
              </a:rPr>
              <a:t>Architectural concept. Today the API runs as a single Node process; the isolation boundary shown is the deployment target, not current infrastructure.</a:t>
            </a:r>
          </a:p>
        </p:txBody>
      </p:sp>
      <p:sp>
        <p:nvSpPr>
          <p:cNvPr id="25" name="Rounded Rectangle 24"/>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26" name="Rounded Rectangle 25"/>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27" name="Rounded Rectangle 26"/>
          <p:cNvSpPr/>
          <p:nvPr/>
        </p:nvSpPr>
        <p:spPr>
          <a:xfrm>
            <a:off x="5861304"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M3 · INFRASTRUCTURE</a:t>
            </a:r>
          </a:p>
        </p:txBody>
      </p:sp>
      <p:sp>
        <p:nvSpPr>
          <p:cNvPr id="28" name="Rounded Rectangle 27"/>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16</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3 · CLOUD STORAGE DEVICE AND RESOURCE REPLICATION</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DATA MUST BE AVAILABLE WHEN USERS NEED IT.</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F5B14C"/>
                </a:solidFill>
                <a:latin typeface="Segoe UI"/>
              </a:rPr>
              <a:t>PARTIALLY IMPLEMENTED</a:t>
            </a:r>
          </a:p>
        </p:txBody>
      </p:sp>
      <p:sp>
        <p:nvSpPr>
          <p:cNvPr id="6" name="Rounded Rectangle 5"/>
          <p:cNvSpPr/>
          <p:nvPr/>
        </p:nvSpPr>
        <p:spPr>
          <a:xfrm>
            <a:off x="777240" y="2148840"/>
            <a:ext cx="4846320" cy="3703320"/>
          </a:xfrm>
          <a:prstGeom prst="roundRect">
            <a:avLst>
              <a:gd name="adj" fmla="val 3500"/>
            </a:avLst>
          </a:prstGeom>
          <a:solidFill>
            <a:srgbClr val="0C1322"/>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313432"/>
            <a:ext cx="4389120" cy="274320"/>
          </a:xfrm>
          <a:prstGeom prst="rect">
            <a:avLst/>
          </a:prstGeom>
          <a:noFill/>
        </p:spPr>
        <p:txBody>
          <a:bodyPr wrap="square" lIns="0" tIns="0" rIns="0" bIns="0" anchor="t">
            <a:spAutoFit/>
          </a:bodyPr>
          <a:lstStyle/>
          <a:p>
            <a:pPr algn="l">
              <a:lnSpc>
                <a:spcPct val="125000"/>
              </a:lnSpc>
            </a:pPr>
            <a:r>
              <a:rPr sz="1100" b="1" i="0" spc="150">
                <a:solidFill>
                  <a:srgbClr val="22D3EE"/>
                </a:solidFill>
                <a:latin typeface="Segoe UI"/>
              </a:rPr>
              <a:t>CLOUD STORAGE — WHAT WE HOLD</a:t>
            </a:r>
          </a:p>
        </p:txBody>
      </p:sp>
      <p:sp>
        <p:nvSpPr>
          <p:cNvPr id="8" name="Rounded Rectangle 7"/>
          <p:cNvSpPr/>
          <p:nvPr/>
        </p:nvSpPr>
        <p:spPr>
          <a:xfrm>
            <a:off x="1005840" y="2615184"/>
            <a:ext cx="1371600" cy="256032"/>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IMPLEMENTED</a:t>
            </a:r>
          </a:p>
        </p:txBody>
      </p:sp>
      <p:sp>
        <p:nvSpPr>
          <p:cNvPr id="9" name="TextBox 8"/>
          <p:cNvSpPr txBox="1"/>
          <p:nvPr/>
        </p:nvSpPr>
        <p:spPr>
          <a:xfrm>
            <a:off x="1005840" y="3017520"/>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Identity &amp; sessions</a:t>
            </a:r>
          </a:p>
        </p:txBody>
      </p:sp>
      <p:sp>
        <p:nvSpPr>
          <p:cNvPr id="10" name="TextBox 9"/>
          <p:cNvSpPr txBox="1"/>
          <p:nvPr/>
        </p:nvSpPr>
        <p:spPr>
          <a:xfrm>
            <a:off x="1005840" y="3209544"/>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users, roles, sessions, otp_challenges</a:t>
            </a:r>
          </a:p>
        </p:txBody>
      </p:sp>
      <p:sp>
        <p:nvSpPr>
          <p:cNvPr id="11" name="TextBox 10"/>
          <p:cNvSpPr txBox="1"/>
          <p:nvPr/>
        </p:nvSpPr>
        <p:spPr>
          <a:xfrm>
            <a:off x="1005840" y="3419856"/>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Vehicle data</a:t>
            </a:r>
          </a:p>
        </p:txBody>
      </p:sp>
      <p:sp>
        <p:nvSpPr>
          <p:cNvPr id="12" name="TextBox 11"/>
          <p:cNvSpPr txBox="1"/>
          <p:nvPr/>
        </p:nvSpPr>
        <p:spPr>
          <a:xfrm>
            <a:off x="1005840" y="3611879"/>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vehicles, user_vehicles, documents</a:t>
            </a:r>
          </a:p>
        </p:txBody>
      </p:sp>
      <p:sp>
        <p:nvSpPr>
          <p:cNvPr id="13" name="TextBox 12"/>
          <p:cNvSpPr txBox="1"/>
          <p:nvPr/>
        </p:nvSpPr>
        <p:spPr>
          <a:xfrm>
            <a:off x="1005840" y="3822191"/>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Booking records</a:t>
            </a:r>
          </a:p>
        </p:txBody>
      </p:sp>
      <p:sp>
        <p:nvSpPr>
          <p:cNvPr id="14" name="TextBox 13"/>
          <p:cNvSpPr txBox="1"/>
          <p:nvPr/>
        </p:nvSpPr>
        <p:spPr>
          <a:xfrm>
            <a:off x="1005840" y="4014215"/>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bookings, booking_events, offers</a:t>
            </a:r>
          </a:p>
        </p:txBody>
      </p:sp>
      <p:sp>
        <p:nvSpPr>
          <p:cNvPr id="15" name="TextBox 14"/>
          <p:cNvSpPr txBox="1"/>
          <p:nvPr/>
        </p:nvSpPr>
        <p:spPr>
          <a:xfrm>
            <a:off x="1005840" y="4224528"/>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Service &amp; money</a:t>
            </a:r>
          </a:p>
        </p:txBody>
      </p:sp>
      <p:sp>
        <p:nvSpPr>
          <p:cNvPr id="16" name="TextBox 15"/>
          <p:cNvSpPr txBox="1"/>
          <p:nvPr/>
        </p:nvSpPr>
        <p:spPr>
          <a:xfrm>
            <a:off x="1005840" y="4416552"/>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invoices, payments, reviews</a:t>
            </a:r>
          </a:p>
        </p:txBody>
      </p:sp>
      <p:sp>
        <p:nvSpPr>
          <p:cNvPr id="17" name="TextBox 16"/>
          <p:cNvSpPr txBox="1"/>
          <p:nvPr/>
        </p:nvSpPr>
        <p:spPr>
          <a:xfrm>
            <a:off x="1005840" y="4626864"/>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Emergency</a:t>
            </a:r>
          </a:p>
        </p:txBody>
      </p:sp>
      <p:sp>
        <p:nvSpPr>
          <p:cNvPr id="18" name="TextBox 17"/>
          <p:cNvSpPr txBox="1"/>
          <p:nvPr/>
        </p:nvSpPr>
        <p:spPr>
          <a:xfrm>
            <a:off x="1005840" y="4818888"/>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incidents, responses, emergency_contacts</a:t>
            </a:r>
          </a:p>
        </p:txBody>
      </p:sp>
      <p:sp>
        <p:nvSpPr>
          <p:cNvPr id="19" name="TextBox 18"/>
          <p:cNvSpPr txBox="1"/>
          <p:nvPr/>
        </p:nvSpPr>
        <p:spPr>
          <a:xfrm>
            <a:off x="1005840" y="5029200"/>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RAKSHA operations</a:t>
            </a:r>
          </a:p>
        </p:txBody>
      </p:sp>
      <p:sp>
        <p:nvSpPr>
          <p:cNvPr id="20" name="TextBox 19"/>
          <p:cNvSpPr txBox="1"/>
          <p:nvPr/>
        </p:nvSpPr>
        <p:spPr>
          <a:xfrm>
            <a:off x="1005840" y="5221224"/>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edge_devices, detections, road_segments</a:t>
            </a:r>
          </a:p>
        </p:txBody>
      </p:sp>
      <p:sp>
        <p:nvSpPr>
          <p:cNvPr id="21" name="TextBox 20"/>
          <p:cNvSpPr txBox="1"/>
          <p:nvPr/>
        </p:nvSpPr>
        <p:spPr>
          <a:xfrm>
            <a:off x="1005840" y="5431536"/>
            <a:ext cx="43891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Audit</a:t>
            </a:r>
          </a:p>
        </p:txBody>
      </p:sp>
      <p:sp>
        <p:nvSpPr>
          <p:cNvPr id="22" name="TextBox 21"/>
          <p:cNvSpPr txBox="1"/>
          <p:nvPr/>
        </p:nvSpPr>
        <p:spPr>
          <a:xfrm>
            <a:off x="1005840" y="5623560"/>
            <a:ext cx="4389120" cy="237744"/>
          </a:xfrm>
          <a:prstGeom prst="rect">
            <a:avLst/>
          </a:prstGeom>
          <a:noFill/>
        </p:spPr>
        <p:txBody>
          <a:bodyPr wrap="square" lIns="0" tIns="0" rIns="0" bIns="0" anchor="t">
            <a:spAutoFit/>
          </a:bodyPr>
          <a:lstStyle/>
          <a:p>
            <a:pPr algn="l">
              <a:lnSpc>
                <a:spcPct val="125000"/>
              </a:lnSpc>
            </a:pPr>
            <a:r>
              <a:rPr sz="850" b="0" i="0">
                <a:solidFill>
                  <a:srgbClr val="93A1B5"/>
                </a:solidFill>
                <a:latin typeface="Consolas"/>
              </a:rPr>
              <a:t>hash-chained, append-only, tamper-evident</a:t>
            </a:r>
          </a:p>
        </p:txBody>
      </p:sp>
      <p:sp>
        <p:nvSpPr>
          <p:cNvPr id="23" name="Rounded Rectangle 22"/>
          <p:cNvSpPr/>
          <p:nvPr/>
        </p:nvSpPr>
        <p:spPr>
          <a:xfrm>
            <a:off x="5943600" y="2148840"/>
            <a:ext cx="5440680" cy="3703320"/>
          </a:xfrm>
          <a:prstGeom prst="roundRect">
            <a:avLst>
              <a:gd name="adj" fmla="val 3500"/>
            </a:avLst>
          </a:prstGeom>
          <a:solidFill>
            <a:srgbClr val="0C1322"/>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6172200" y="2313432"/>
            <a:ext cx="4937760" cy="274320"/>
          </a:xfrm>
          <a:prstGeom prst="rect">
            <a:avLst/>
          </a:prstGeom>
          <a:noFill/>
        </p:spPr>
        <p:txBody>
          <a:bodyPr wrap="square" lIns="0" tIns="0" rIns="0" bIns="0" anchor="t">
            <a:spAutoFit/>
          </a:bodyPr>
          <a:lstStyle/>
          <a:p>
            <a:pPr algn="l">
              <a:lnSpc>
                <a:spcPct val="125000"/>
              </a:lnSpc>
            </a:pPr>
            <a:r>
              <a:rPr sz="1100" b="1" i="0" spc="150">
                <a:solidFill>
                  <a:srgbClr val="F5B14C"/>
                </a:solidFill>
                <a:latin typeface="Segoe UI"/>
              </a:rPr>
              <a:t>RESOURCE REPLICATION</a:t>
            </a:r>
          </a:p>
        </p:txBody>
      </p:sp>
      <p:sp>
        <p:nvSpPr>
          <p:cNvPr id="25" name="Rounded Rectangle 24"/>
          <p:cNvSpPr/>
          <p:nvPr/>
        </p:nvSpPr>
        <p:spPr>
          <a:xfrm>
            <a:off x="6172200" y="2615184"/>
            <a:ext cx="2194560" cy="256032"/>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ARCHITECTURAL CONCEPT</a:t>
            </a:r>
          </a:p>
        </p:txBody>
      </p:sp>
      <p:sp>
        <p:nvSpPr>
          <p:cNvPr id="26" name="Rounded Rectangle 25"/>
          <p:cNvSpPr/>
          <p:nvPr/>
        </p:nvSpPr>
        <p:spPr>
          <a:xfrm>
            <a:off x="7680960" y="3054096"/>
            <a:ext cx="2011680" cy="54864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PRIMARY</a:t>
            </a:r>
          </a:p>
          <a:p>
            <a:pPr algn="ctr">
              <a:lnSpc>
                <a:spcPct val="110000"/>
              </a:lnSpc>
            </a:pPr>
            <a:r>
              <a:rPr sz="800">
                <a:solidFill>
                  <a:srgbClr val="93A1B5"/>
                </a:solidFill>
                <a:latin typeface="Segoe UI"/>
              </a:rPr>
              <a:t>authoritative writes</a:t>
            </a:r>
          </a:p>
        </p:txBody>
      </p:sp>
      <p:cxnSp>
        <p:nvCxnSpPr>
          <p:cNvPr id="27" name="Connector 26"/>
          <p:cNvCxnSpPr/>
          <p:nvPr/>
        </p:nvCxnSpPr>
        <p:spPr>
          <a:xfrm>
            <a:off x="8686800" y="3621024"/>
            <a:ext cx="0" cy="292608"/>
          </a:xfrm>
          <a:prstGeom prst="line">
            <a:avLst/>
          </a:prstGeom>
          <a:ln w="16510">
            <a:solidFill>
              <a:srgbClr val="F5B14C"/>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8" name="TextBox 27"/>
          <p:cNvSpPr txBox="1"/>
          <p:nvPr/>
        </p:nvSpPr>
        <p:spPr>
          <a:xfrm>
            <a:off x="8796528" y="3657600"/>
            <a:ext cx="2377440" cy="219456"/>
          </a:xfrm>
          <a:prstGeom prst="rect">
            <a:avLst/>
          </a:prstGeom>
          <a:noFill/>
        </p:spPr>
        <p:txBody>
          <a:bodyPr wrap="square" lIns="0" tIns="0" rIns="0" bIns="0" anchor="t">
            <a:spAutoFit/>
          </a:bodyPr>
          <a:lstStyle/>
          <a:p>
            <a:pPr algn="l">
              <a:lnSpc>
                <a:spcPct val="125000"/>
              </a:lnSpc>
            </a:pPr>
            <a:r>
              <a:rPr sz="800" b="0" i="1">
                <a:solidFill>
                  <a:srgbClr val="F5B14C"/>
                </a:solidFill>
                <a:latin typeface="Segoe UI"/>
              </a:rPr>
              <a:t>replication stream</a:t>
            </a:r>
          </a:p>
        </p:txBody>
      </p:sp>
      <p:sp>
        <p:nvSpPr>
          <p:cNvPr id="29" name="Rounded Rectangle 28"/>
          <p:cNvSpPr/>
          <p:nvPr/>
        </p:nvSpPr>
        <p:spPr>
          <a:xfrm>
            <a:off x="6172200" y="3950208"/>
            <a:ext cx="228600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REPLICA A</a:t>
            </a:r>
          </a:p>
          <a:p>
            <a:pPr algn="ctr">
              <a:lnSpc>
                <a:spcPct val="110000"/>
              </a:lnSpc>
            </a:pPr>
            <a:r>
              <a:rPr sz="800">
                <a:solidFill>
                  <a:srgbClr val="93A1B5"/>
                </a:solidFill>
                <a:latin typeface="Segoe UI"/>
              </a:rPr>
              <a:t>read scale-out</a:t>
            </a:r>
          </a:p>
        </p:txBody>
      </p:sp>
      <p:sp>
        <p:nvSpPr>
          <p:cNvPr id="30" name="Rounded Rectangle 29"/>
          <p:cNvSpPr/>
          <p:nvPr/>
        </p:nvSpPr>
        <p:spPr>
          <a:xfrm>
            <a:off x="8869680" y="3950208"/>
            <a:ext cx="2286000" cy="54864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REPLICA B</a:t>
            </a:r>
          </a:p>
          <a:p>
            <a:pPr algn="ctr">
              <a:lnSpc>
                <a:spcPct val="110000"/>
              </a:lnSpc>
            </a:pPr>
            <a:r>
              <a:rPr sz="800">
                <a:solidFill>
                  <a:srgbClr val="93A1B5"/>
                </a:solidFill>
                <a:latin typeface="Segoe UI"/>
              </a:rPr>
              <a:t>failover standby</a:t>
            </a:r>
          </a:p>
        </p:txBody>
      </p:sp>
      <p:cxnSp>
        <p:nvCxnSpPr>
          <p:cNvPr id="31" name="Connector 30"/>
          <p:cNvCxnSpPr/>
          <p:nvPr/>
        </p:nvCxnSpPr>
        <p:spPr>
          <a:xfrm flipH="1">
            <a:off x="7315200" y="3621024"/>
            <a:ext cx="1371600" cy="310896"/>
          </a:xfrm>
          <a:prstGeom prst="line">
            <a:avLst/>
          </a:prstGeom>
          <a:ln w="13970">
            <a:solidFill>
              <a:srgbClr val="F5B14C"/>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2" name="Rounded Rectangle 31"/>
          <p:cNvSpPr/>
          <p:nvPr/>
        </p:nvSpPr>
        <p:spPr>
          <a:xfrm>
            <a:off x="7680960" y="4864608"/>
            <a:ext cx="201168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BACKUP</a:t>
            </a:r>
          </a:p>
          <a:p>
            <a:pPr algn="ctr">
              <a:lnSpc>
                <a:spcPct val="110000"/>
              </a:lnSpc>
            </a:pPr>
            <a:r>
              <a:rPr sz="800">
                <a:solidFill>
                  <a:srgbClr val="93A1B5"/>
                </a:solidFill>
                <a:latin typeface="Segoe UI"/>
              </a:rPr>
              <a:t>point-in-time restore</a:t>
            </a:r>
          </a:p>
        </p:txBody>
      </p:sp>
      <p:cxnSp>
        <p:nvCxnSpPr>
          <p:cNvPr id="33" name="Connector 32"/>
          <p:cNvCxnSpPr/>
          <p:nvPr/>
        </p:nvCxnSpPr>
        <p:spPr>
          <a:xfrm>
            <a:off x="8686800" y="4517136"/>
            <a:ext cx="0" cy="329184"/>
          </a:xfrm>
          <a:prstGeom prst="line">
            <a:avLst/>
          </a:prstGeom>
          <a:ln w="13970">
            <a:solidFill>
              <a:srgbClr val="2E7DFF"/>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6172200" y="5504688"/>
            <a:ext cx="4937760" cy="274320"/>
          </a:xfrm>
          <a:prstGeom prst="rect">
            <a:avLst/>
          </a:prstGeom>
          <a:noFill/>
        </p:spPr>
        <p:txBody>
          <a:bodyPr wrap="square" lIns="0" tIns="0" rIns="0" bIns="0" anchor="t">
            <a:spAutoFit/>
          </a:bodyPr>
          <a:lstStyle/>
          <a:p>
            <a:pPr algn="l">
              <a:lnSpc>
                <a:spcPct val="125000"/>
              </a:lnSpc>
            </a:pPr>
            <a:r>
              <a:rPr sz="900" b="0" i="0">
                <a:solidFill>
                  <a:srgbClr val="F5B14C"/>
                </a:solidFill>
                <a:latin typeface="Segoe UI"/>
              </a:rPr>
              <a:t>Today: a single PostgreSQL instance. No replica is configured — stated, not implied.</a:t>
            </a:r>
          </a:p>
        </p:txBody>
      </p:sp>
      <p:sp>
        <p:nvSpPr>
          <p:cNvPr id="35" name="Rounded Rectangle 34"/>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6" name="Rounded Rectangle 35"/>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7" name="Rounded Rectangle 36"/>
          <p:cNvSpPr/>
          <p:nvPr/>
        </p:nvSpPr>
        <p:spPr>
          <a:xfrm>
            <a:off x="5861304"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M3 · INFRASTRUCTURE</a:t>
            </a:r>
          </a:p>
        </p:txBody>
      </p:sp>
      <p:sp>
        <p:nvSpPr>
          <p:cNvPr id="38" name="Rounded Rectangle 37"/>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39" name="TextBox 3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17</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3 · CLOUD USAGE MONITOR</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OBSERVE. MEASURE. OPTIMIZE.</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F5B14C"/>
                </a:solidFill>
                <a:latin typeface="Segoe UI"/>
              </a:rPr>
              <a:t>PARTIALLY IMPLEMENTED</a:t>
            </a:r>
          </a:p>
        </p:txBody>
      </p:sp>
      <p:sp>
        <p:nvSpPr>
          <p:cNvPr id="6" name="TextBox 5"/>
          <p:cNvSpPr txBox="1"/>
          <p:nvPr/>
        </p:nvSpPr>
        <p:spPr>
          <a:xfrm>
            <a:off x="777240" y="2029968"/>
            <a:ext cx="10607040" cy="274320"/>
          </a:xfrm>
          <a:prstGeom prst="rect">
            <a:avLst/>
          </a:prstGeom>
          <a:noFill/>
        </p:spPr>
        <p:txBody>
          <a:bodyPr wrap="square" lIns="0" tIns="0" rIns="0" bIns="0" anchor="t">
            <a:spAutoFit/>
          </a:bodyPr>
          <a:lstStyle/>
          <a:p>
            <a:pPr algn="l">
              <a:lnSpc>
                <a:spcPct val="125000"/>
              </a:lnSpc>
            </a:pPr>
            <a:r>
              <a:rPr sz="1000" b="0" i="1">
                <a:solidFill>
                  <a:srgbClr val="F5B14C"/>
                </a:solidFill>
                <a:latin typeface="Segoe UI"/>
              </a:rPr>
              <a:t>Cloud usage monitoring architecture. Metric values below are illustrative of the mechanism — no measurements are claimed.</a:t>
            </a:r>
          </a:p>
        </p:txBody>
      </p:sp>
      <p:sp>
        <p:nvSpPr>
          <p:cNvPr id="7" name="Rounded Rectangle 6"/>
          <p:cNvSpPr/>
          <p:nvPr/>
        </p:nvSpPr>
        <p:spPr>
          <a:xfrm>
            <a:off x="777240" y="2395728"/>
            <a:ext cx="2560320" cy="868680"/>
          </a:xfrm>
          <a:prstGeom prst="roundRect">
            <a:avLst>
              <a:gd name="adj" fmla="val 3500"/>
            </a:avLst>
          </a:prstGeom>
          <a:solidFill>
            <a:srgbClr val="0C1322"/>
          </a:solidFill>
          <a:ln w="1397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941832" y="2505456"/>
            <a:ext cx="2194560" cy="237744"/>
          </a:xfrm>
          <a:prstGeom prst="rect">
            <a:avLst/>
          </a:prstGeom>
          <a:noFill/>
        </p:spPr>
        <p:txBody>
          <a:bodyPr wrap="square" lIns="0" tIns="0" rIns="0" bIns="0" anchor="t">
            <a:spAutoFit/>
          </a:bodyPr>
          <a:lstStyle/>
          <a:p>
            <a:pPr algn="l">
              <a:lnSpc>
                <a:spcPct val="125000"/>
              </a:lnSpc>
            </a:pPr>
            <a:r>
              <a:rPr sz="1000" b="1" i="0" spc="140">
                <a:solidFill>
                  <a:srgbClr val="2E7DFF"/>
                </a:solidFill>
                <a:latin typeface="Segoe UI"/>
              </a:rPr>
              <a:t>CPU</a:t>
            </a:r>
          </a:p>
        </p:txBody>
      </p:sp>
      <p:sp>
        <p:nvSpPr>
          <p:cNvPr id="9" name="TextBox 8"/>
          <p:cNvSpPr txBox="1"/>
          <p:nvPr/>
        </p:nvSpPr>
        <p:spPr>
          <a:xfrm>
            <a:off x="941832" y="2743200"/>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compute pressure</a:t>
            </a:r>
          </a:p>
        </p:txBody>
      </p:sp>
      <p:sp>
        <p:nvSpPr>
          <p:cNvPr id="10" name="Rectangle 9"/>
          <p:cNvSpPr/>
          <p:nvPr/>
        </p:nvSpPr>
        <p:spPr>
          <a:xfrm>
            <a:off x="941832" y="3108960"/>
            <a:ext cx="146304" cy="54864"/>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1188720" y="2991145"/>
            <a:ext cx="146304" cy="172678"/>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Rectangle 11"/>
          <p:cNvSpPr/>
          <p:nvPr/>
        </p:nvSpPr>
        <p:spPr>
          <a:xfrm>
            <a:off x="1435608" y="2928740"/>
            <a:ext cx="146304" cy="235083"/>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1682496" y="2951096"/>
            <a:ext cx="146304" cy="212727"/>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1929384" y="3047697"/>
            <a:ext cx="146304" cy="116126"/>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2176272" y="3044808"/>
            <a:ext cx="146304" cy="119015"/>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Rectangle 15"/>
          <p:cNvSpPr/>
          <p:nvPr/>
        </p:nvSpPr>
        <p:spPr>
          <a:xfrm>
            <a:off x="2423160" y="2949566"/>
            <a:ext cx="146304" cy="214257"/>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670048" y="2929289"/>
            <a:ext cx="146304" cy="234534"/>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2916936" y="2993513"/>
            <a:ext cx="146304" cy="170310"/>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ounded Rectangle 18"/>
          <p:cNvSpPr/>
          <p:nvPr/>
        </p:nvSpPr>
        <p:spPr>
          <a:xfrm>
            <a:off x="3474720" y="2395728"/>
            <a:ext cx="2560320" cy="868680"/>
          </a:xfrm>
          <a:prstGeom prst="roundRect">
            <a:avLst>
              <a:gd name="adj" fmla="val 3500"/>
            </a:avLst>
          </a:prstGeom>
          <a:solidFill>
            <a:srgbClr val="0C1322"/>
          </a:solidFill>
          <a:ln w="1397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3639312" y="2505456"/>
            <a:ext cx="2194560" cy="237744"/>
          </a:xfrm>
          <a:prstGeom prst="rect">
            <a:avLst/>
          </a:prstGeom>
          <a:noFill/>
        </p:spPr>
        <p:txBody>
          <a:bodyPr wrap="square" lIns="0" tIns="0" rIns="0" bIns="0" anchor="t">
            <a:spAutoFit/>
          </a:bodyPr>
          <a:lstStyle/>
          <a:p>
            <a:pPr algn="l">
              <a:lnSpc>
                <a:spcPct val="125000"/>
              </a:lnSpc>
            </a:pPr>
            <a:r>
              <a:rPr sz="1000" b="1" i="0" spc="140">
                <a:solidFill>
                  <a:srgbClr val="2E7DFF"/>
                </a:solidFill>
                <a:latin typeface="Segoe UI"/>
              </a:rPr>
              <a:t>MEMORY</a:t>
            </a:r>
          </a:p>
        </p:txBody>
      </p:sp>
      <p:sp>
        <p:nvSpPr>
          <p:cNvPr id="21" name="TextBox 20"/>
          <p:cNvSpPr txBox="1"/>
          <p:nvPr/>
        </p:nvSpPr>
        <p:spPr>
          <a:xfrm>
            <a:off x="3639312" y="2743200"/>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working set</a:t>
            </a:r>
          </a:p>
        </p:txBody>
      </p:sp>
      <p:sp>
        <p:nvSpPr>
          <p:cNvPr id="22" name="Rectangle 21"/>
          <p:cNvSpPr/>
          <p:nvPr/>
        </p:nvSpPr>
        <p:spPr>
          <a:xfrm>
            <a:off x="3639312" y="2932744"/>
            <a:ext cx="146304" cy="231079"/>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886200" y="2942667"/>
            <a:ext cx="146304" cy="221156"/>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ectangle 23"/>
          <p:cNvSpPr/>
          <p:nvPr/>
        </p:nvSpPr>
        <p:spPr>
          <a:xfrm>
            <a:off x="4133088" y="3030800"/>
            <a:ext cx="146304" cy="133023"/>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4379976" y="3062226"/>
            <a:ext cx="146304" cy="101597"/>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4626864" y="2959313"/>
            <a:ext cx="146304" cy="204510"/>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4873752" y="2926781"/>
            <a:ext cx="146304" cy="237042"/>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ectangle 27"/>
          <p:cNvSpPr/>
          <p:nvPr/>
        </p:nvSpPr>
        <p:spPr>
          <a:xfrm>
            <a:off x="5120640" y="2979930"/>
            <a:ext cx="146304" cy="183893"/>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5367528" y="3093764"/>
            <a:ext cx="146304" cy="70059"/>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ectangle 29"/>
          <p:cNvSpPr/>
          <p:nvPr/>
        </p:nvSpPr>
        <p:spPr>
          <a:xfrm>
            <a:off x="5614416" y="3003174"/>
            <a:ext cx="146304" cy="160649"/>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6172200" y="2395728"/>
            <a:ext cx="2560320" cy="868680"/>
          </a:xfrm>
          <a:prstGeom prst="roundRect">
            <a:avLst>
              <a:gd name="adj" fmla="val 3500"/>
            </a:avLst>
          </a:prstGeom>
          <a:solidFill>
            <a:srgbClr val="0C1322"/>
          </a:solidFill>
          <a:ln w="1397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6336792" y="2505456"/>
            <a:ext cx="2194560" cy="237744"/>
          </a:xfrm>
          <a:prstGeom prst="rect">
            <a:avLst/>
          </a:prstGeom>
          <a:noFill/>
        </p:spPr>
        <p:txBody>
          <a:bodyPr wrap="square" lIns="0" tIns="0" rIns="0" bIns="0" anchor="t">
            <a:spAutoFit/>
          </a:bodyPr>
          <a:lstStyle/>
          <a:p>
            <a:pPr algn="l">
              <a:lnSpc>
                <a:spcPct val="125000"/>
              </a:lnSpc>
            </a:pPr>
            <a:r>
              <a:rPr sz="1000" b="1" i="0" spc="140">
                <a:solidFill>
                  <a:srgbClr val="22D3EE"/>
                </a:solidFill>
                <a:latin typeface="Segoe UI"/>
              </a:rPr>
              <a:t>STORAGE</a:t>
            </a:r>
          </a:p>
        </p:txBody>
      </p:sp>
      <p:sp>
        <p:nvSpPr>
          <p:cNvPr id="33" name="TextBox 32"/>
          <p:cNvSpPr txBox="1"/>
          <p:nvPr/>
        </p:nvSpPr>
        <p:spPr>
          <a:xfrm>
            <a:off x="6336792" y="2743200"/>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growth rate</a:t>
            </a:r>
          </a:p>
        </p:txBody>
      </p:sp>
      <p:sp>
        <p:nvSpPr>
          <p:cNvPr id="34" name="Rectangle 33"/>
          <p:cNvSpPr/>
          <p:nvPr/>
        </p:nvSpPr>
        <p:spPr>
          <a:xfrm>
            <a:off x="6336792" y="3014685"/>
            <a:ext cx="146304" cy="14913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ectangle 34"/>
          <p:cNvSpPr/>
          <p:nvPr/>
        </p:nvSpPr>
        <p:spPr>
          <a:xfrm>
            <a:off x="6583679" y="3080111"/>
            <a:ext cx="146304" cy="8371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6830568" y="2970555"/>
            <a:ext cx="146304" cy="193268"/>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Rectangle 36"/>
          <p:cNvSpPr/>
          <p:nvPr/>
        </p:nvSpPr>
        <p:spPr>
          <a:xfrm>
            <a:off x="7077456" y="2926094"/>
            <a:ext cx="146304" cy="237729"/>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7324344" y="2967636"/>
            <a:ext cx="146304" cy="19618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Rectangle 38"/>
          <p:cNvSpPr/>
          <p:nvPr/>
        </p:nvSpPr>
        <p:spPr>
          <a:xfrm>
            <a:off x="7571231" y="3075646"/>
            <a:ext cx="146304" cy="8817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Rectangle 39"/>
          <p:cNvSpPr/>
          <p:nvPr/>
        </p:nvSpPr>
        <p:spPr>
          <a:xfrm>
            <a:off x="7818120" y="3018596"/>
            <a:ext cx="146304" cy="14522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Rectangle 40"/>
          <p:cNvSpPr/>
          <p:nvPr/>
        </p:nvSpPr>
        <p:spPr>
          <a:xfrm>
            <a:off x="8065008" y="2937418"/>
            <a:ext cx="146304" cy="226405"/>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2" name="Rectangle 41"/>
          <p:cNvSpPr/>
          <p:nvPr/>
        </p:nvSpPr>
        <p:spPr>
          <a:xfrm>
            <a:off x="8311896" y="2936919"/>
            <a:ext cx="146304" cy="226904"/>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Rounded Rectangle 42"/>
          <p:cNvSpPr/>
          <p:nvPr/>
        </p:nvSpPr>
        <p:spPr>
          <a:xfrm>
            <a:off x="8869680" y="2395728"/>
            <a:ext cx="2560320" cy="868680"/>
          </a:xfrm>
          <a:prstGeom prst="roundRect">
            <a:avLst>
              <a:gd name="adj" fmla="val 3500"/>
            </a:avLst>
          </a:prstGeom>
          <a:solidFill>
            <a:srgbClr val="0C1322"/>
          </a:solidFill>
          <a:ln w="1397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3"/>
          <p:cNvSpPr txBox="1"/>
          <p:nvPr/>
        </p:nvSpPr>
        <p:spPr>
          <a:xfrm>
            <a:off x="9034272" y="2505456"/>
            <a:ext cx="2194560" cy="237744"/>
          </a:xfrm>
          <a:prstGeom prst="rect">
            <a:avLst/>
          </a:prstGeom>
          <a:noFill/>
        </p:spPr>
        <p:txBody>
          <a:bodyPr wrap="square" lIns="0" tIns="0" rIns="0" bIns="0" anchor="t">
            <a:spAutoFit/>
          </a:bodyPr>
          <a:lstStyle/>
          <a:p>
            <a:pPr algn="l">
              <a:lnSpc>
                <a:spcPct val="125000"/>
              </a:lnSpc>
            </a:pPr>
            <a:r>
              <a:rPr sz="1000" b="1" i="0" spc="140">
                <a:solidFill>
                  <a:srgbClr val="22D3EE"/>
                </a:solidFill>
                <a:latin typeface="Segoe UI"/>
              </a:rPr>
              <a:t>NETWORK</a:t>
            </a:r>
          </a:p>
        </p:txBody>
      </p:sp>
      <p:sp>
        <p:nvSpPr>
          <p:cNvPr id="45" name="TextBox 44"/>
          <p:cNvSpPr txBox="1"/>
          <p:nvPr/>
        </p:nvSpPr>
        <p:spPr>
          <a:xfrm>
            <a:off x="9034272" y="2743200"/>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throughput</a:t>
            </a:r>
          </a:p>
        </p:txBody>
      </p:sp>
      <p:sp>
        <p:nvSpPr>
          <p:cNvPr id="46" name="Rectangle 45"/>
          <p:cNvSpPr/>
          <p:nvPr/>
        </p:nvSpPr>
        <p:spPr>
          <a:xfrm>
            <a:off x="9034272" y="2983181"/>
            <a:ext cx="146304" cy="18064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Rectangle 46"/>
          <p:cNvSpPr/>
          <p:nvPr/>
        </p:nvSpPr>
        <p:spPr>
          <a:xfrm>
            <a:off x="9281160" y="2927233"/>
            <a:ext cx="146304" cy="236590"/>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Rectangle 47"/>
          <p:cNvSpPr/>
          <p:nvPr/>
        </p:nvSpPr>
        <p:spPr>
          <a:xfrm>
            <a:off x="9528048" y="2956754"/>
            <a:ext cx="146304" cy="207069"/>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Rectangle 48"/>
          <p:cNvSpPr/>
          <p:nvPr/>
        </p:nvSpPr>
        <p:spPr>
          <a:xfrm>
            <a:off x="9774936" y="3057860"/>
            <a:ext cx="146304" cy="105963"/>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Rectangle 49"/>
          <p:cNvSpPr/>
          <p:nvPr/>
        </p:nvSpPr>
        <p:spPr>
          <a:xfrm>
            <a:off x="10021824" y="3034921"/>
            <a:ext cx="146304" cy="128902"/>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Rectangle 50"/>
          <p:cNvSpPr/>
          <p:nvPr/>
        </p:nvSpPr>
        <p:spPr>
          <a:xfrm>
            <a:off x="10268712" y="2944604"/>
            <a:ext cx="146304" cy="219219"/>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Rectangle 51"/>
          <p:cNvSpPr/>
          <p:nvPr/>
        </p:nvSpPr>
        <p:spPr>
          <a:xfrm>
            <a:off x="10515600" y="2931586"/>
            <a:ext cx="146304" cy="23223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Rectangle 52"/>
          <p:cNvSpPr/>
          <p:nvPr/>
        </p:nvSpPr>
        <p:spPr>
          <a:xfrm>
            <a:off x="10762488" y="3001990"/>
            <a:ext cx="146304" cy="161833"/>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Rectangle 53"/>
          <p:cNvSpPr/>
          <p:nvPr/>
        </p:nvSpPr>
        <p:spPr>
          <a:xfrm>
            <a:off x="11009376" y="3095216"/>
            <a:ext cx="146304" cy="68607"/>
          </a:xfrm>
          <a:prstGeom prst="rect">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Rounded Rectangle 54"/>
          <p:cNvSpPr/>
          <p:nvPr/>
        </p:nvSpPr>
        <p:spPr>
          <a:xfrm>
            <a:off x="777240" y="3419856"/>
            <a:ext cx="2560320" cy="868680"/>
          </a:xfrm>
          <a:prstGeom prst="roundRect">
            <a:avLst>
              <a:gd name="adj" fmla="val 3500"/>
            </a:avLst>
          </a:prstGeom>
          <a:solidFill>
            <a:srgbClr val="0C1322"/>
          </a:solidFill>
          <a:ln w="1397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5"/>
          <p:cNvSpPr txBox="1"/>
          <p:nvPr/>
        </p:nvSpPr>
        <p:spPr>
          <a:xfrm>
            <a:off x="941832" y="3529584"/>
            <a:ext cx="2194560" cy="237744"/>
          </a:xfrm>
          <a:prstGeom prst="rect">
            <a:avLst/>
          </a:prstGeom>
          <a:noFill/>
        </p:spPr>
        <p:txBody>
          <a:bodyPr wrap="square" lIns="0" tIns="0" rIns="0" bIns="0" anchor="t">
            <a:spAutoFit/>
          </a:bodyPr>
          <a:lstStyle/>
          <a:p>
            <a:pPr algn="l">
              <a:lnSpc>
                <a:spcPct val="125000"/>
              </a:lnSpc>
            </a:pPr>
            <a:r>
              <a:rPr sz="1000" b="1" i="0" spc="140">
                <a:solidFill>
                  <a:srgbClr val="34D399"/>
                </a:solidFill>
                <a:latin typeface="Segoe UI"/>
              </a:rPr>
              <a:t>REQUESTS</a:t>
            </a:r>
          </a:p>
        </p:txBody>
      </p:sp>
      <p:sp>
        <p:nvSpPr>
          <p:cNvPr id="57" name="TextBox 56"/>
          <p:cNvSpPr txBox="1"/>
          <p:nvPr/>
        </p:nvSpPr>
        <p:spPr>
          <a:xfrm>
            <a:off x="941832" y="3767328"/>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per endpoint</a:t>
            </a:r>
          </a:p>
        </p:txBody>
      </p:sp>
      <p:sp>
        <p:nvSpPr>
          <p:cNvPr id="58" name="Rectangle 57"/>
          <p:cNvSpPr/>
          <p:nvPr/>
        </p:nvSpPr>
        <p:spPr>
          <a:xfrm>
            <a:off x="941832" y="3971521"/>
            <a:ext cx="146304" cy="21643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Rectangle 58"/>
          <p:cNvSpPr/>
          <p:nvPr/>
        </p:nvSpPr>
        <p:spPr>
          <a:xfrm>
            <a:off x="1188720" y="4064713"/>
            <a:ext cx="146304" cy="12323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0" name="Rectangle 59"/>
          <p:cNvSpPr/>
          <p:nvPr/>
        </p:nvSpPr>
        <p:spPr>
          <a:xfrm>
            <a:off x="1435608" y="4076113"/>
            <a:ext cx="146304" cy="111838"/>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1" name="Rectangle 60"/>
          <p:cNvSpPr/>
          <p:nvPr/>
        </p:nvSpPr>
        <p:spPr>
          <a:xfrm>
            <a:off x="1682496" y="3977560"/>
            <a:ext cx="146304" cy="210391"/>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Rectangle 61"/>
          <p:cNvSpPr/>
          <p:nvPr/>
        </p:nvSpPr>
        <p:spPr>
          <a:xfrm>
            <a:off x="1929384" y="3952154"/>
            <a:ext cx="146304" cy="235797"/>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Rectangle 62"/>
          <p:cNvSpPr/>
          <p:nvPr/>
        </p:nvSpPr>
        <p:spPr>
          <a:xfrm>
            <a:off x="2176272" y="4011844"/>
            <a:ext cx="146304" cy="176107"/>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Rectangle 63"/>
          <p:cNvSpPr/>
          <p:nvPr/>
        </p:nvSpPr>
        <p:spPr>
          <a:xfrm>
            <a:off x="2423160" y="4128557"/>
            <a:ext cx="146304" cy="5939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ectangle 64"/>
          <p:cNvSpPr/>
          <p:nvPr/>
        </p:nvSpPr>
        <p:spPr>
          <a:xfrm>
            <a:off x="2670048" y="4018775"/>
            <a:ext cx="146304" cy="169176"/>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Rectangle 65"/>
          <p:cNvSpPr/>
          <p:nvPr/>
        </p:nvSpPr>
        <p:spPr>
          <a:xfrm>
            <a:off x="2916936" y="3953694"/>
            <a:ext cx="146304" cy="234257"/>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ounded Rectangle 66"/>
          <p:cNvSpPr/>
          <p:nvPr/>
        </p:nvSpPr>
        <p:spPr>
          <a:xfrm>
            <a:off x="3474720" y="3419856"/>
            <a:ext cx="2560320" cy="868680"/>
          </a:xfrm>
          <a:prstGeom prst="roundRect">
            <a:avLst>
              <a:gd name="adj" fmla="val 3500"/>
            </a:avLst>
          </a:prstGeom>
          <a:solidFill>
            <a:srgbClr val="0C1322"/>
          </a:solidFill>
          <a:ln w="1397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8" name="TextBox 67"/>
          <p:cNvSpPr txBox="1"/>
          <p:nvPr/>
        </p:nvSpPr>
        <p:spPr>
          <a:xfrm>
            <a:off x="3639312" y="3529584"/>
            <a:ext cx="2194560" cy="237744"/>
          </a:xfrm>
          <a:prstGeom prst="rect">
            <a:avLst/>
          </a:prstGeom>
          <a:noFill/>
        </p:spPr>
        <p:txBody>
          <a:bodyPr wrap="square" lIns="0" tIns="0" rIns="0" bIns="0" anchor="t">
            <a:spAutoFit/>
          </a:bodyPr>
          <a:lstStyle/>
          <a:p>
            <a:pPr algn="l">
              <a:lnSpc>
                <a:spcPct val="125000"/>
              </a:lnSpc>
            </a:pPr>
            <a:r>
              <a:rPr sz="1000" b="1" i="0" spc="140">
                <a:solidFill>
                  <a:srgbClr val="34D399"/>
                </a:solidFill>
                <a:latin typeface="Segoe UI"/>
              </a:rPr>
              <a:t>ACTIVE USERS</a:t>
            </a:r>
          </a:p>
        </p:txBody>
      </p:sp>
      <p:sp>
        <p:nvSpPr>
          <p:cNvPr id="69" name="TextBox 68"/>
          <p:cNvSpPr txBox="1"/>
          <p:nvPr/>
        </p:nvSpPr>
        <p:spPr>
          <a:xfrm>
            <a:off x="3639312" y="3767328"/>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concurrency</a:t>
            </a:r>
          </a:p>
        </p:txBody>
      </p:sp>
      <p:sp>
        <p:nvSpPr>
          <p:cNvPr id="70" name="Rectangle 69"/>
          <p:cNvSpPr/>
          <p:nvPr/>
        </p:nvSpPr>
        <p:spPr>
          <a:xfrm>
            <a:off x="3639312" y="4093746"/>
            <a:ext cx="146304" cy="94205"/>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ectangle 70"/>
          <p:cNvSpPr/>
          <p:nvPr/>
        </p:nvSpPr>
        <p:spPr>
          <a:xfrm>
            <a:off x="3886200" y="3987942"/>
            <a:ext cx="146304" cy="200009"/>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Rectangle 71"/>
          <p:cNvSpPr/>
          <p:nvPr/>
        </p:nvSpPr>
        <p:spPr>
          <a:xfrm>
            <a:off x="4133088" y="3950401"/>
            <a:ext cx="146304" cy="23755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Rectangle 72"/>
          <p:cNvSpPr/>
          <p:nvPr/>
        </p:nvSpPr>
        <p:spPr>
          <a:xfrm>
            <a:off x="4379976" y="3998781"/>
            <a:ext cx="146304" cy="18917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p:cNvSpPr/>
          <p:nvPr/>
        </p:nvSpPr>
        <p:spPr>
          <a:xfrm>
            <a:off x="4626864" y="4110327"/>
            <a:ext cx="146304" cy="7762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5" name="Rectangle 74"/>
          <p:cNvSpPr/>
          <p:nvPr/>
        </p:nvSpPr>
        <p:spPr>
          <a:xfrm>
            <a:off x="4873752" y="4033597"/>
            <a:ext cx="146304" cy="154354"/>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6" name="Rectangle 75"/>
          <p:cNvSpPr/>
          <p:nvPr/>
        </p:nvSpPr>
        <p:spPr>
          <a:xfrm>
            <a:off x="5120640" y="3958138"/>
            <a:ext cx="146304" cy="229813"/>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7" name="Rectangle 76"/>
          <p:cNvSpPr/>
          <p:nvPr/>
        </p:nvSpPr>
        <p:spPr>
          <a:xfrm>
            <a:off x="5367528" y="3964961"/>
            <a:ext cx="146304" cy="222990"/>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8" name="Rectangle 77"/>
          <p:cNvSpPr/>
          <p:nvPr/>
        </p:nvSpPr>
        <p:spPr>
          <a:xfrm>
            <a:off x="5614416" y="4050856"/>
            <a:ext cx="146304" cy="137095"/>
          </a:xfrm>
          <a:prstGeom prst="rect">
            <a:avLst/>
          </a:prstGeom>
          <a:solidFill>
            <a:srgbClr val="34D39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9" name="Rounded Rectangle 78"/>
          <p:cNvSpPr/>
          <p:nvPr/>
        </p:nvSpPr>
        <p:spPr>
          <a:xfrm>
            <a:off x="6172200" y="3419856"/>
            <a:ext cx="2560320" cy="868680"/>
          </a:xfrm>
          <a:prstGeom prst="roundRect">
            <a:avLst>
              <a:gd name="adj" fmla="val 3500"/>
            </a:avLst>
          </a:prstGeom>
          <a:solidFill>
            <a:srgbClr val="0C1322"/>
          </a:solidFill>
          <a:ln w="1397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0" name="TextBox 79"/>
          <p:cNvSpPr txBox="1"/>
          <p:nvPr/>
        </p:nvSpPr>
        <p:spPr>
          <a:xfrm>
            <a:off x="6336792" y="3529584"/>
            <a:ext cx="2194560" cy="237744"/>
          </a:xfrm>
          <a:prstGeom prst="rect">
            <a:avLst/>
          </a:prstGeom>
          <a:noFill/>
        </p:spPr>
        <p:txBody>
          <a:bodyPr wrap="square" lIns="0" tIns="0" rIns="0" bIns="0" anchor="t">
            <a:spAutoFit/>
          </a:bodyPr>
          <a:lstStyle/>
          <a:p>
            <a:pPr algn="l">
              <a:lnSpc>
                <a:spcPct val="125000"/>
              </a:lnSpc>
            </a:pPr>
            <a:r>
              <a:rPr sz="1000" b="1" i="0" spc="140">
                <a:solidFill>
                  <a:srgbClr val="F5B14C"/>
                </a:solidFill>
                <a:latin typeface="Segoe UI"/>
              </a:rPr>
              <a:t>SERVICE LOAD</a:t>
            </a:r>
          </a:p>
        </p:txBody>
      </p:sp>
      <p:sp>
        <p:nvSpPr>
          <p:cNvPr id="81" name="TextBox 80"/>
          <p:cNvSpPr txBox="1"/>
          <p:nvPr/>
        </p:nvSpPr>
        <p:spPr>
          <a:xfrm>
            <a:off x="6336792" y="3767328"/>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queue depth</a:t>
            </a:r>
          </a:p>
        </p:txBody>
      </p:sp>
      <p:sp>
        <p:nvSpPr>
          <p:cNvPr id="82" name="Rectangle 81"/>
          <p:cNvSpPr/>
          <p:nvPr/>
        </p:nvSpPr>
        <p:spPr>
          <a:xfrm>
            <a:off x="6336792" y="3950474"/>
            <a:ext cx="146304" cy="237477"/>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3" name="Rectangle 82"/>
          <p:cNvSpPr/>
          <p:nvPr/>
        </p:nvSpPr>
        <p:spPr>
          <a:xfrm>
            <a:off x="6583679" y="3987060"/>
            <a:ext cx="146304" cy="200891"/>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4" name="Rectangle 83"/>
          <p:cNvSpPr/>
          <p:nvPr/>
        </p:nvSpPr>
        <p:spPr>
          <a:xfrm>
            <a:off x="6830568" y="4092325"/>
            <a:ext cx="146304" cy="95626"/>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5" name="Rectangle 84"/>
          <p:cNvSpPr/>
          <p:nvPr/>
        </p:nvSpPr>
        <p:spPr>
          <a:xfrm>
            <a:off x="7077456" y="4049413"/>
            <a:ext cx="146304" cy="138538"/>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6" name="Rectangle 85"/>
          <p:cNvSpPr/>
          <p:nvPr/>
        </p:nvSpPr>
        <p:spPr>
          <a:xfrm>
            <a:off x="7324344" y="3964330"/>
            <a:ext cx="146304" cy="223621"/>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7" name="Rectangle 86"/>
          <p:cNvSpPr/>
          <p:nvPr/>
        </p:nvSpPr>
        <p:spPr>
          <a:xfrm>
            <a:off x="7571231" y="3958616"/>
            <a:ext cx="146304" cy="229335"/>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8" name="Rectangle 87"/>
          <p:cNvSpPr/>
          <p:nvPr/>
        </p:nvSpPr>
        <p:spPr>
          <a:xfrm>
            <a:off x="7818120" y="4034959"/>
            <a:ext cx="146304" cy="152992"/>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9" name="Rectangle 88"/>
          <p:cNvSpPr/>
          <p:nvPr/>
        </p:nvSpPr>
        <p:spPr>
          <a:xfrm>
            <a:off x="8065008" y="4108722"/>
            <a:ext cx="146304" cy="79229"/>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0" name="Rectangle 89"/>
          <p:cNvSpPr/>
          <p:nvPr/>
        </p:nvSpPr>
        <p:spPr>
          <a:xfrm>
            <a:off x="8311896" y="3997688"/>
            <a:ext cx="146304" cy="190263"/>
          </a:xfrm>
          <a:prstGeom prst="rect">
            <a:avLst/>
          </a:prstGeom>
          <a:solidFill>
            <a:srgbClr val="F5B1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1" name="Rounded Rectangle 90"/>
          <p:cNvSpPr/>
          <p:nvPr/>
        </p:nvSpPr>
        <p:spPr>
          <a:xfrm>
            <a:off x="8869680" y="3419856"/>
            <a:ext cx="2560320" cy="868680"/>
          </a:xfrm>
          <a:prstGeom prst="roundRect">
            <a:avLst>
              <a:gd name="adj" fmla="val 3500"/>
            </a:avLst>
          </a:prstGeom>
          <a:solidFill>
            <a:srgbClr val="0C1322"/>
          </a:solidFill>
          <a:ln w="1397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2" name="TextBox 91"/>
          <p:cNvSpPr txBox="1"/>
          <p:nvPr/>
        </p:nvSpPr>
        <p:spPr>
          <a:xfrm>
            <a:off x="9034272" y="3529584"/>
            <a:ext cx="2194560" cy="237744"/>
          </a:xfrm>
          <a:prstGeom prst="rect">
            <a:avLst/>
          </a:prstGeom>
          <a:noFill/>
        </p:spPr>
        <p:txBody>
          <a:bodyPr wrap="square" lIns="0" tIns="0" rIns="0" bIns="0" anchor="t">
            <a:spAutoFit/>
          </a:bodyPr>
          <a:lstStyle/>
          <a:p>
            <a:pPr algn="l">
              <a:lnSpc>
                <a:spcPct val="125000"/>
              </a:lnSpc>
            </a:pPr>
            <a:r>
              <a:rPr sz="1000" b="1" i="0" spc="140">
                <a:solidFill>
                  <a:srgbClr val="FF4D5E"/>
                </a:solidFill>
                <a:latin typeface="Segoe UI"/>
              </a:rPr>
              <a:t>ERROR RATE</a:t>
            </a:r>
          </a:p>
        </p:txBody>
      </p:sp>
      <p:sp>
        <p:nvSpPr>
          <p:cNvPr id="93" name="TextBox 92"/>
          <p:cNvSpPr txBox="1"/>
          <p:nvPr/>
        </p:nvSpPr>
        <p:spPr>
          <a:xfrm>
            <a:off x="9034272" y="3767328"/>
            <a:ext cx="2194560" cy="219456"/>
          </a:xfrm>
          <a:prstGeom prst="rect">
            <a:avLst/>
          </a:prstGeom>
          <a:noFill/>
        </p:spPr>
        <p:txBody>
          <a:bodyPr wrap="square" lIns="0" tIns="0" rIns="0" bIns="0" anchor="t">
            <a:spAutoFit/>
          </a:bodyPr>
          <a:lstStyle/>
          <a:p>
            <a:pPr algn="l">
              <a:lnSpc>
                <a:spcPct val="125000"/>
              </a:lnSpc>
            </a:pPr>
            <a:r>
              <a:rPr sz="850" b="0" i="0">
                <a:solidFill>
                  <a:srgbClr val="5C6B80"/>
                </a:solidFill>
                <a:latin typeface="Segoe UI"/>
              </a:rPr>
              <a:t>failed calls</a:t>
            </a:r>
          </a:p>
        </p:txBody>
      </p:sp>
      <p:sp>
        <p:nvSpPr>
          <p:cNvPr id="94" name="Rectangle 93"/>
          <p:cNvSpPr/>
          <p:nvPr/>
        </p:nvSpPr>
        <p:spPr>
          <a:xfrm>
            <a:off x="9034272" y="4074731"/>
            <a:ext cx="146304" cy="113220"/>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5" name="Rectangle 94"/>
          <p:cNvSpPr/>
          <p:nvPr/>
        </p:nvSpPr>
        <p:spPr>
          <a:xfrm>
            <a:off x="9281160" y="4066066"/>
            <a:ext cx="146304" cy="121885"/>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6" name="Rectangle 95"/>
          <p:cNvSpPr/>
          <p:nvPr/>
        </p:nvSpPr>
        <p:spPr>
          <a:xfrm>
            <a:off x="9528048" y="3972209"/>
            <a:ext cx="146304" cy="215742"/>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7" name="Rectangle 96"/>
          <p:cNvSpPr/>
          <p:nvPr/>
        </p:nvSpPr>
        <p:spPr>
          <a:xfrm>
            <a:off x="9774936" y="3954015"/>
            <a:ext cx="146304" cy="233936"/>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8" name="Rectangle 97"/>
          <p:cNvSpPr/>
          <p:nvPr/>
        </p:nvSpPr>
        <p:spPr>
          <a:xfrm>
            <a:off x="10021824" y="4020043"/>
            <a:ext cx="146304" cy="167908"/>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9" name="Rectangle 98"/>
          <p:cNvSpPr/>
          <p:nvPr/>
        </p:nvSpPr>
        <p:spPr>
          <a:xfrm>
            <a:off x="10268712" y="4126939"/>
            <a:ext cx="146304" cy="61012"/>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0" name="Rectangle 99"/>
          <p:cNvSpPr/>
          <p:nvPr/>
        </p:nvSpPr>
        <p:spPr>
          <a:xfrm>
            <a:off x="10515600" y="4010637"/>
            <a:ext cx="146304" cy="177314"/>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1" name="Rectangle 100"/>
          <p:cNvSpPr/>
          <p:nvPr/>
        </p:nvSpPr>
        <p:spPr>
          <a:xfrm>
            <a:off x="10762488" y="3951925"/>
            <a:ext cx="146304" cy="236026"/>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2" name="Rectangle 101"/>
          <p:cNvSpPr/>
          <p:nvPr/>
        </p:nvSpPr>
        <p:spPr>
          <a:xfrm>
            <a:off x="11009376" y="3978417"/>
            <a:ext cx="146304" cy="209534"/>
          </a:xfrm>
          <a:prstGeom prst="rect">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3" name="Rounded Rectangle 102"/>
          <p:cNvSpPr/>
          <p:nvPr/>
        </p:nvSpPr>
        <p:spPr>
          <a:xfrm>
            <a:off x="777240" y="4617720"/>
            <a:ext cx="10607040" cy="685800"/>
          </a:xfrm>
          <a:prstGeom prst="roundRect">
            <a:avLst>
              <a:gd name="adj" fmla="val 3500"/>
            </a:avLst>
          </a:prstGeom>
          <a:solidFill>
            <a:srgbClr val="131D30"/>
          </a:solidFill>
          <a:ln w="1651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4" name="TextBox 103"/>
          <p:cNvSpPr txBox="1"/>
          <p:nvPr/>
        </p:nvSpPr>
        <p:spPr>
          <a:xfrm>
            <a:off x="960120" y="4736592"/>
            <a:ext cx="4937760" cy="274320"/>
          </a:xfrm>
          <a:prstGeom prst="rect">
            <a:avLst/>
          </a:prstGeom>
          <a:noFill/>
        </p:spPr>
        <p:txBody>
          <a:bodyPr wrap="square" lIns="0" tIns="0" rIns="0" bIns="0" anchor="t">
            <a:spAutoFit/>
          </a:bodyPr>
          <a:lstStyle/>
          <a:p>
            <a:pPr algn="l">
              <a:lnSpc>
                <a:spcPct val="125000"/>
              </a:lnSpc>
            </a:pPr>
            <a:r>
              <a:rPr sz="1050" b="1" i="0" spc="140">
                <a:solidFill>
                  <a:srgbClr val="22D3EE"/>
                </a:solidFill>
                <a:latin typeface="Segoe UI"/>
              </a:rPr>
              <a:t>WHAT ROADASSIST ACTUALLY MEASURES TODAY</a:t>
            </a:r>
          </a:p>
        </p:txBody>
      </p:sp>
      <p:sp>
        <p:nvSpPr>
          <p:cNvPr id="105" name="TextBox 104"/>
          <p:cNvSpPr txBox="1"/>
          <p:nvPr/>
        </p:nvSpPr>
        <p:spPr>
          <a:xfrm>
            <a:off x="960120" y="4974336"/>
            <a:ext cx="10058400" cy="274320"/>
          </a:xfrm>
          <a:prstGeom prst="rect">
            <a:avLst/>
          </a:prstGeom>
          <a:noFill/>
        </p:spPr>
        <p:txBody>
          <a:bodyPr wrap="square" lIns="0" tIns="0" rIns="0" bIns="0" anchor="t">
            <a:spAutoFit/>
          </a:bodyPr>
          <a:lstStyle/>
          <a:p>
            <a:pPr algn="l">
              <a:lnSpc>
                <a:spcPct val="125000"/>
              </a:lnSpc>
            </a:pPr>
            <a:r>
              <a:rPr sz="950" b="0" i="0">
                <a:solidFill>
                  <a:srgbClr val="F4F7FB"/>
                </a:solidFill>
                <a:latin typeface="Segoe UI"/>
              </a:rPr>
              <a:t>GET /health returns database latency and live provider status · every request is logged with a unique id and response time · model_predictions records AI latency and fallback use</a:t>
            </a:r>
          </a:p>
        </p:txBody>
      </p:sp>
      <p:sp>
        <p:nvSpPr>
          <p:cNvPr id="106" name="Rounded Rectangle 105"/>
          <p:cNvSpPr/>
          <p:nvPr/>
        </p:nvSpPr>
        <p:spPr>
          <a:xfrm>
            <a:off x="777240" y="5486400"/>
            <a:ext cx="2560320" cy="50292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RESOURCE PLANNING</a:t>
            </a:r>
          </a:p>
        </p:txBody>
      </p:sp>
      <p:sp>
        <p:nvSpPr>
          <p:cNvPr id="107" name="Rounded Rectangle 106"/>
          <p:cNvSpPr/>
          <p:nvPr/>
        </p:nvSpPr>
        <p:spPr>
          <a:xfrm>
            <a:off x="3474720" y="5486400"/>
            <a:ext cx="2560320" cy="50292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PERFORMANCE</a:t>
            </a:r>
          </a:p>
        </p:txBody>
      </p:sp>
      <p:sp>
        <p:nvSpPr>
          <p:cNvPr id="108" name="Rounded Rectangle 107"/>
          <p:cNvSpPr/>
          <p:nvPr/>
        </p:nvSpPr>
        <p:spPr>
          <a:xfrm>
            <a:off x="6172200" y="5486400"/>
            <a:ext cx="2560320" cy="50292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SCALABILITY DECISIONS</a:t>
            </a:r>
          </a:p>
        </p:txBody>
      </p:sp>
      <p:sp>
        <p:nvSpPr>
          <p:cNvPr id="109" name="Rounded Rectangle 108"/>
          <p:cNvSpPr/>
          <p:nvPr/>
        </p:nvSpPr>
        <p:spPr>
          <a:xfrm>
            <a:off x="8869680" y="5486400"/>
            <a:ext cx="2560320" cy="50292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AVAILABILITY</a:t>
            </a:r>
          </a:p>
        </p:txBody>
      </p:sp>
      <p:sp>
        <p:nvSpPr>
          <p:cNvPr id="110" name="Rounded Rectangle 109"/>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111" name="Rounded Rectangle 110"/>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112" name="Rounded Rectangle 111"/>
          <p:cNvSpPr/>
          <p:nvPr/>
        </p:nvSpPr>
        <p:spPr>
          <a:xfrm>
            <a:off x="5861304"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M3 · INFRASTRUCTURE</a:t>
            </a:r>
          </a:p>
        </p:txBody>
      </p:sp>
      <p:sp>
        <p:nvSpPr>
          <p:cNvPr id="113" name="Rounded Rectangle 112"/>
          <p:cNvSpPr/>
          <p:nvPr/>
        </p:nvSpPr>
        <p:spPr>
          <a:xfrm>
            <a:off x="8403336"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M4 · ARCHITECTURES</a:t>
            </a:r>
          </a:p>
        </p:txBody>
      </p:sp>
      <p:sp>
        <p:nvSpPr>
          <p:cNvPr id="114" name="TextBox 113"/>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18</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EIGHT ARCHITECTURES + CLOUD OPERATIONS</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800" b="1" i="0">
                <a:solidFill>
                  <a:srgbClr val="F4F7FB"/>
                </a:solidFill>
                <a:latin typeface="Segoe UI Semibold"/>
              </a:rPr>
              <a:t>MODULE 4 — FUNDAMENTAL CLOUD ARCHITECTURES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4206240" y="3429000"/>
            <a:ext cx="3749039" cy="1188720"/>
          </a:xfrm>
          <a:prstGeom prst="roundRect">
            <a:avLst>
              <a:gd name="adj" fmla="val 3500"/>
            </a:avLst>
          </a:prstGeom>
          <a:solidFill>
            <a:srgbClr val="131D30"/>
          </a:solidFill>
          <a:ln w="2159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343400" y="3657600"/>
            <a:ext cx="3474720" cy="320040"/>
          </a:xfrm>
          <a:prstGeom prst="rect">
            <a:avLst/>
          </a:prstGeom>
          <a:noFill/>
        </p:spPr>
        <p:txBody>
          <a:bodyPr wrap="square" lIns="0" tIns="0" rIns="0" bIns="0" anchor="t">
            <a:spAutoFit/>
          </a:bodyPr>
          <a:lstStyle/>
          <a:p>
            <a:pPr algn="ctr">
              <a:lnSpc>
                <a:spcPct val="125000"/>
              </a:lnSpc>
            </a:pPr>
            <a:r>
              <a:rPr sz="1500" b="1" i="0">
                <a:solidFill>
                  <a:srgbClr val="F4F7FB"/>
                </a:solidFill>
                <a:latin typeface="Segoe UI Semibold"/>
              </a:rPr>
              <a:t>ROADASSIST BHARAT</a:t>
            </a:r>
          </a:p>
        </p:txBody>
      </p:sp>
      <p:sp>
        <p:nvSpPr>
          <p:cNvPr id="8" name="TextBox 7"/>
          <p:cNvSpPr txBox="1"/>
          <p:nvPr/>
        </p:nvSpPr>
        <p:spPr>
          <a:xfrm>
            <a:off x="4343400" y="4023360"/>
            <a:ext cx="3474720" cy="411480"/>
          </a:xfrm>
          <a:prstGeom prst="rect">
            <a:avLst/>
          </a:prstGeom>
          <a:noFill/>
        </p:spPr>
        <p:txBody>
          <a:bodyPr wrap="square" lIns="0" tIns="0" rIns="0" bIns="0" anchor="t">
            <a:spAutoFit/>
          </a:bodyPr>
          <a:lstStyle/>
          <a:p>
            <a:pPr algn="ctr">
              <a:lnSpc>
                <a:spcPct val="125000"/>
              </a:lnSpc>
            </a:pPr>
            <a:r>
              <a:rPr sz="1050" b="0" i="0">
                <a:solidFill>
                  <a:srgbClr val="22D3EE"/>
                </a:solidFill>
                <a:latin typeface="Segoe UI"/>
              </a:rPr>
              <a:t>as a cloud architecture</a:t>
            </a:r>
          </a:p>
        </p:txBody>
      </p:sp>
      <p:sp>
        <p:nvSpPr>
          <p:cNvPr id="9" name="Rounded Rectangle 8"/>
          <p:cNvSpPr/>
          <p:nvPr/>
        </p:nvSpPr>
        <p:spPr>
          <a:xfrm>
            <a:off x="777240" y="2286000"/>
            <a:ext cx="2331720" cy="8686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WORKLOAD
DISTRIBUTION</a:t>
            </a:r>
          </a:p>
        </p:txBody>
      </p:sp>
      <p:cxnSp>
        <p:nvCxnSpPr>
          <p:cNvPr id="10" name="Connector 9"/>
          <p:cNvCxnSpPr/>
          <p:nvPr/>
        </p:nvCxnSpPr>
        <p:spPr>
          <a:xfrm>
            <a:off x="1938528" y="3172968"/>
            <a:ext cx="4142232" cy="23774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3337560" y="2286000"/>
            <a:ext cx="2331720" cy="8686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RESOURCE
POOLING</a:t>
            </a:r>
          </a:p>
        </p:txBody>
      </p:sp>
      <p:cxnSp>
        <p:nvCxnSpPr>
          <p:cNvPr id="12" name="Connector 11"/>
          <p:cNvCxnSpPr/>
          <p:nvPr/>
        </p:nvCxnSpPr>
        <p:spPr>
          <a:xfrm>
            <a:off x="4498848" y="3172968"/>
            <a:ext cx="1581912" cy="23774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5989320" y="2286000"/>
            <a:ext cx="233172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DYNAMIC
SCALABILITY</a:t>
            </a:r>
          </a:p>
        </p:txBody>
      </p:sp>
      <p:cxnSp>
        <p:nvCxnSpPr>
          <p:cNvPr id="14" name="Connector 13"/>
          <p:cNvCxnSpPr/>
          <p:nvPr/>
        </p:nvCxnSpPr>
        <p:spPr>
          <a:xfrm flipH="1">
            <a:off x="6080760" y="3172968"/>
            <a:ext cx="1069848" cy="237744"/>
          </a:xfrm>
          <a:prstGeom prst="line">
            <a:avLst/>
          </a:prstGeom>
          <a:ln w="1270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641080" y="2286000"/>
            <a:ext cx="233172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ELASTIC
CAPACITY</a:t>
            </a:r>
          </a:p>
        </p:txBody>
      </p:sp>
      <p:cxnSp>
        <p:nvCxnSpPr>
          <p:cNvPr id="16" name="Connector 15"/>
          <p:cNvCxnSpPr/>
          <p:nvPr/>
        </p:nvCxnSpPr>
        <p:spPr>
          <a:xfrm flipH="1">
            <a:off x="6080760" y="3172968"/>
            <a:ext cx="3721607" cy="237744"/>
          </a:xfrm>
          <a:prstGeom prst="line">
            <a:avLst/>
          </a:prstGeom>
          <a:ln w="1270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777240" y="5029200"/>
            <a:ext cx="2331720" cy="86868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SERVICE LOAD
BALANCING</a:t>
            </a:r>
          </a:p>
        </p:txBody>
      </p:sp>
      <p:cxnSp>
        <p:nvCxnSpPr>
          <p:cNvPr id="18" name="Connector 17"/>
          <p:cNvCxnSpPr/>
          <p:nvPr/>
        </p:nvCxnSpPr>
        <p:spPr>
          <a:xfrm flipH="1">
            <a:off x="1938528" y="4636008"/>
            <a:ext cx="4142232" cy="374904"/>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3337560" y="5029200"/>
            <a:ext cx="2331720" cy="86868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CLOUD
BURSTING</a:t>
            </a:r>
          </a:p>
        </p:txBody>
      </p:sp>
      <p:cxnSp>
        <p:nvCxnSpPr>
          <p:cNvPr id="20" name="Connector 19"/>
          <p:cNvCxnSpPr/>
          <p:nvPr/>
        </p:nvCxnSpPr>
        <p:spPr>
          <a:xfrm flipH="1">
            <a:off x="4498848" y="4636008"/>
            <a:ext cx="1581912" cy="374904"/>
          </a:xfrm>
          <a:prstGeom prst="line">
            <a:avLst/>
          </a:prstGeom>
          <a:ln w="12700">
            <a:solidFill>
              <a:srgbClr val="F5B14C"/>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5989320" y="5029200"/>
            <a:ext cx="2331720" cy="86868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ELASTIC DISK
PROVISIONING</a:t>
            </a:r>
          </a:p>
        </p:txBody>
      </p:sp>
      <p:cxnSp>
        <p:nvCxnSpPr>
          <p:cNvPr id="22" name="Connector 21"/>
          <p:cNvCxnSpPr/>
          <p:nvPr/>
        </p:nvCxnSpPr>
        <p:spPr>
          <a:xfrm>
            <a:off x="6080760" y="4636008"/>
            <a:ext cx="1069848" cy="374904"/>
          </a:xfrm>
          <a:prstGeom prst="line">
            <a:avLst/>
          </a:prstGeom>
          <a:ln w="12700">
            <a:solidFill>
              <a:srgbClr val="F5B14C"/>
            </a:solidFill>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8641080" y="5029200"/>
            <a:ext cx="2331720" cy="868680"/>
          </a:xfrm>
          <a:prstGeom prst="roundRect">
            <a:avLst>
              <a:gd name="adj" fmla="val 3500"/>
            </a:avLst>
          </a:prstGeom>
          <a:solidFill>
            <a:srgbClr val="0C1322"/>
          </a:solidFill>
          <a:ln w="15875">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REDUNDANT
STORAGE</a:t>
            </a:r>
          </a:p>
        </p:txBody>
      </p:sp>
      <p:cxnSp>
        <p:nvCxnSpPr>
          <p:cNvPr id="24" name="Connector 23"/>
          <p:cNvCxnSpPr/>
          <p:nvPr/>
        </p:nvCxnSpPr>
        <p:spPr>
          <a:xfrm>
            <a:off x="6080760" y="4636008"/>
            <a:ext cx="3721607" cy="374904"/>
          </a:xfrm>
          <a:prstGeom prst="line">
            <a:avLst/>
          </a:prstGeom>
          <a:ln w="12700">
            <a:solidFill>
              <a:srgbClr val="FF4D5E"/>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77240" y="6053328"/>
            <a:ext cx="10607040" cy="292608"/>
          </a:xfrm>
          <a:prstGeom prst="rect">
            <a:avLst/>
          </a:prstGeom>
          <a:noFill/>
        </p:spPr>
        <p:txBody>
          <a:bodyPr wrap="square" lIns="0" tIns="0" rIns="0" bIns="0" anchor="t">
            <a:spAutoFit/>
          </a:bodyPr>
          <a:lstStyle/>
          <a:p>
            <a:pPr algn="ctr">
              <a:lnSpc>
                <a:spcPct val="125000"/>
              </a:lnSpc>
            </a:pPr>
            <a:r>
              <a:rPr sz="1000" b="0" i="0">
                <a:solidFill>
                  <a:srgbClr val="93A1B5"/>
                </a:solidFill>
                <a:latin typeface="Segoe UI"/>
              </a:rPr>
              <a:t>Plus cloud operations: migration, static scheduling and dynamic scheduling — covered on slide 23.</a:t>
            </a:r>
          </a:p>
        </p:txBody>
      </p:sp>
      <p:sp>
        <p:nvSpPr>
          <p:cNvPr id="26" name="Rounded Rectangle 25"/>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27" name="Rounded Rectangle 26"/>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28" name="Rounded Rectangle 27"/>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29" name="Rounded Rectangle 28"/>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30" name="TextBox 29"/>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19</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4 · WORKLOAD DISTRIBUTION + RESOURCE POOLING</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DISTRIBUTE WORK. SHARE RESOURCES.</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TextBox 5"/>
          <p:cNvSpPr txBox="1"/>
          <p:nvPr/>
        </p:nvSpPr>
        <p:spPr>
          <a:xfrm>
            <a:off x="777240" y="2103120"/>
            <a:ext cx="5029200" cy="274320"/>
          </a:xfrm>
          <a:prstGeom prst="rect">
            <a:avLst/>
          </a:prstGeom>
          <a:noFill/>
        </p:spPr>
        <p:txBody>
          <a:bodyPr wrap="square" lIns="0" tIns="0" rIns="0" bIns="0" anchor="t">
            <a:spAutoFit/>
          </a:bodyPr>
          <a:lstStyle/>
          <a:p>
            <a:pPr algn="l">
              <a:lnSpc>
                <a:spcPct val="125000"/>
              </a:lnSpc>
            </a:pPr>
            <a:r>
              <a:rPr sz="1100" b="1" i="0" spc="160">
                <a:solidFill>
                  <a:srgbClr val="22D3EE"/>
                </a:solidFill>
                <a:latin typeface="Segoe UI"/>
              </a:rPr>
              <a:t>WORKLOAD DISTRIBUTION</a:t>
            </a:r>
          </a:p>
        </p:txBody>
      </p:sp>
      <p:sp>
        <p:nvSpPr>
          <p:cNvPr id="7" name="Rounded Rectangle 6"/>
          <p:cNvSpPr/>
          <p:nvPr/>
        </p:nvSpPr>
        <p:spPr>
          <a:xfrm>
            <a:off x="777240" y="2487168"/>
            <a:ext cx="1691640" cy="329184"/>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AI diagnosis</a:t>
            </a:r>
          </a:p>
        </p:txBody>
      </p:sp>
      <p:cxnSp>
        <p:nvCxnSpPr>
          <p:cNvPr id="8" name="Connector 7"/>
          <p:cNvCxnSpPr/>
          <p:nvPr/>
        </p:nvCxnSpPr>
        <p:spPr>
          <a:xfrm>
            <a:off x="2505456" y="2651760"/>
            <a:ext cx="557784" cy="868680"/>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77240" y="2889504"/>
            <a:ext cx="1691640" cy="329184"/>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Booking</a:t>
            </a:r>
          </a:p>
        </p:txBody>
      </p:sp>
      <p:cxnSp>
        <p:nvCxnSpPr>
          <p:cNvPr id="10" name="Connector 9"/>
          <p:cNvCxnSpPr/>
          <p:nvPr/>
        </p:nvCxnSpPr>
        <p:spPr>
          <a:xfrm>
            <a:off x="2505456" y="3054096"/>
            <a:ext cx="557784" cy="466344"/>
          </a:xfrm>
          <a:prstGeom prst="line">
            <a:avLst/>
          </a:prstGeom>
          <a:ln w="1270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7240" y="3291840"/>
            <a:ext cx="1691640" cy="329184"/>
          </a:xfrm>
          <a:prstGeom prst="roundRect">
            <a:avLst>
              <a:gd name="adj" fmla="val 50000"/>
            </a:avLst>
          </a:prstGeom>
          <a:solidFill>
            <a:srgbClr val="0C1322"/>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E7DFF"/>
                </a:solidFill>
                <a:latin typeface="Segoe UI"/>
              </a:rPr>
              <a:t>Map tiles</a:t>
            </a:r>
          </a:p>
        </p:txBody>
      </p:sp>
      <p:cxnSp>
        <p:nvCxnSpPr>
          <p:cNvPr id="12" name="Connector 11"/>
          <p:cNvCxnSpPr/>
          <p:nvPr/>
        </p:nvCxnSpPr>
        <p:spPr>
          <a:xfrm>
            <a:off x="2505456" y="3456432"/>
            <a:ext cx="557784" cy="64008"/>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777240" y="3694176"/>
            <a:ext cx="1691640" cy="329184"/>
          </a:xfrm>
          <a:prstGeom prst="roundRect">
            <a:avLst>
              <a:gd name="adj" fmla="val 50000"/>
            </a:avLst>
          </a:prstGeom>
          <a:solidFill>
            <a:srgbClr val="0C1322"/>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E7DFF"/>
                </a:solidFill>
                <a:latin typeface="Segoe UI"/>
              </a:rPr>
              <a:t>Mechanic poll</a:t>
            </a:r>
          </a:p>
        </p:txBody>
      </p:sp>
      <p:cxnSp>
        <p:nvCxnSpPr>
          <p:cNvPr id="14" name="Connector 13"/>
          <p:cNvCxnSpPr/>
          <p:nvPr/>
        </p:nvCxnSpPr>
        <p:spPr>
          <a:xfrm flipV="1">
            <a:off x="2505456" y="3520440"/>
            <a:ext cx="557784" cy="338328"/>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777240" y="4096512"/>
            <a:ext cx="1691640" cy="329184"/>
          </a:xfrm>
          <a:prstGeom prst="roundRect">
            <a:avLst>
              <a:gd name="adj" fmla="val 50000"/>
            </a:avLst>
          </a:prstGeom>
          <a:solidFill>
            <a:srgbClr val="0C1322"/>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FF4D5E"/>
                </a:solidFill>
                <a:latin typeface="Segoe UI"/>
              </a:rPr>
              <a:t>SOS</a:t>
            </a:r>
          </a:p>
        </p:txBody>
      </p:sp>
      <p:cxnSp>
        <p:nvCxnSpPr>
          <p:cNvPr id="16" name="Connector 15"/>
          <p:cNvCxnSpPr/>
          <p:nvPr/>
        </p:nvCxnSpPr>
        <p:spPr>
          <a:xfrm flipV="1">
            <a:off x="2505456" y="3520440"/>
            <a:ext cx="557784" cy="740664"/>
          </a:xfrm>
          <a:prstGeom prst="line">
            <a:avLst/>
          </a:prstGeom>
          <a:ln w="12700">
            <a:solidFill>
              <a:srgbClr val="FF4D5E"/>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3063240" y="3291840"/>
            <a:ext cx="2286000" cy="566928"/>
          </a:xfrm>
          <a:prstGeom prst="roundRect">
            <a:avLst>
              <a:gd name="adj" fmla="val 3500"/>
            </a:avLst>
          </a:prstGeom>
          <a:solidFill>
            <a:srgbClr val="0C1322"/>
          </a:solidFill>
          <a:ln w="15875">
            <a:solidFill>
              <a:srgbClr val="F4F7FB"/>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DISTRIBUTION LOGIC</a:t>
            </a:r>
          </a:p>
          <a:p>
            <a:pPr algn="ctr">
              <a:lnSpc>
                <a:spcPct val="110000"/>
              </a:lnSpc>
            </a:pPr>
            <a:r>
              <a:rPr sz="850">
                <a:solidFill>
                  <a:srgbClr val="93A1B5"/>
                </a:solidFill>
                <a:latin typeface="Segoe UI"/>
              </a:rPr>
              <a:t>route by type and load</a:t>
            </a:r>
          </a:p>
        </p:txBody>
      </p:sp>
      <p:sp>
        <p:nvSpPr>
          <p:cNvPr id="18" name="Rounded Rectangle 17"/>
          <p:cNvSpPr/>
          <p:nvPr/>
        </p:nvSpPr>
        <p:spPr>
          <a:xfrm>
            <a:off x="3063240" y="4114800"/>
            <a:ext cx="2286000" cy="47548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WORKER 1</a:t>
            </a:r>
          </a:p>
        </p:txBody>
      </p:sp>
      <p:cxnSp>
        <p:nvCxnSpPr>
          <p:cNvPr id="19" name="Connector 18"/>
          <p:cNvCxnSpPr/>
          <p:nvPr/>
        </p:nvCxnSpPr>
        <p:spPr>
          <a:xfrm>
            <a:off x="4206240" y="3877056"/>
            <a:ext cx="0" cy="219456"/>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063240" y="4681728"/>
            <a:ext cx="2286000" cy="47548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WORKER 2</a:t>
            </a:r>
          </a:p>
        </p:txBody>
      </p:sp>
      <p:cxnSp>
        <p:nvCxnSpPr>
          <p:cNvPr id="21" name="Connector 20"/>
          <p:cNvCxnSpPr/>
          <p:nvPr/>
        </p:nvCxnSpPr>
        <p:spPr>
          <a:xfrm>
            <a:off x="4206240" y="3877056"/>
            <a:ext cx="0" cy="786384"/>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3063240" y="5248656"/>
            <a:ext cx="2286000" cy="47548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WORKER 3</a:t>
            </a:r>
          </a:p>
        </p:txBody>
      </p:sp>
      <p:cxnSp>
        <p:nvCxnSpPr>
          <p:cNvPr id="23" name="Connector 22"/>
          <p:cNvCxnSpPr/>
          <p:nvPr/>
        </p:nvCxnSpPr>
        <p:spPr>
          <a:xfrm>
            <a:off x="4206240" y="3877056"/>
            <a:ext cx="0" cy="1353312"/>
          </a:xfrm>
          <a:prstGeom prst="line">
            <a:avLst/>
          </a:prstGeom>
          <a:ln w="1270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TextBox 23"/>
          <p:cNvSpPr txBox="1"/>
          <p:nvPr/>
        </p:nvSpPr>
        <p:spPr>
          <a:xfrm>
            <a:off x="6035040" y="2103120"/>
            <a:ext cx="5349240" cy="274320"/>
          </a:xfrm>
          <a:prstGeom prst="rect">
            <a:avLst/>
          </a:prstGeom>
          <a:noFill/>
        </p:spPr>
        <p:txBody>
          <a:bodyPr wrap="square" lIns="0" tIns="0" rIns="0" bIns="0" anchor="t">
            <a:spAutoFit/>
          </a:bodyPr>
          <a:lstStyle/>
          <a:p>
            <a:pPr algn="l">
              <a:lnSpc>
                <a:spcPct val="125000"/>
              </a:lnSpc>
            </a:pPr>
            <a:r>
              <a:rPr sz="1100" b="1" i="0" spc="160">
                <a:solidFill>
                  <a:srgbClr val="34D399"/>
                </a:solidFill>
                <a:latin typeface="Segoe UI"/>
              </a:rPr>
              <a:t>RESOURCE POOLING</a:t>
            </a:r>
          </a:p>
        </p:txBody>
      </p:sp>
      <p:sp>
        <p:nvSpPr>
          <p:cNvPr id="25" name="Rounded Rectangle 24"/>
          <p:cNvSpPr/>
          <p:nvPr/>
        </p:nvSpPr>
        <p:spPr>
          <a:xfrm>
            <a:off x="6035040" y="2487168"/>
            <a:ext cx="5349240" cy="1965960"/>
          </a:xfrm>
          <a:prstGeom prst="roundRect">
            <a:avLst>
              <a:gd name="adj" fmla="val 3500"/>
            </a:avLst>
          </a:prstGeom>
          <a:solidFill>
            <a:srgbClr val="0C1322"/>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217920" y="2633472"/>
            <a:ext cx="4937760" cy="256032"/>
          </a:xfrm>
          <a:prstGeom prst="rect">
            <a:avLst/>
          </a:prstGeom>
          <a:noFill/>
        </p:spPr>
        <p:txBody>
          <a:bodyPr wrap="square" lIns="0" tIns="0" rIns="0" bIns="0" anchor="t">
            <a:spAutoFit/>
          </a:bodyPr>
          <a:lstStyle/>
          <a:p>
            <a:pPr algn="l">
              <a:lnSpc>
                <a:spcPct val="125000"/>
              </a:lnSpc>
            </a:pPr>
            <a:r>
              <a:rPr sz="1050" b="1" i="0">
                <a:solidFill>
                  <a:srgbClr val="34D399"/>
                </a:solidFill>
                <a:latin typeface="Segoe UI"/>
              </a:rPr>
              <a:t>SHARED POOL</a:t>
            </a:r>
          </a:p>
        </p:txBody>
      </p:sp>
      <p:sp>
        <p:nvSpPr>
          <p:cNvPr id="27" name="Rounded Rectangle 26"/>
          <p:cNvSpPr/>
          <p:nvPr/>
        </p:nvSpPr>
        <p:spPr>
          <a:xfrm>
            <a:off x="6217920" y="2962656"/>
            <a:ext cx="2468880" cy="566928"/>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COMPUTE</a:t>
            </a:r>
          </a:p>
          <a:p>
            <a:pPr algn="ctr">
              <a:lnSpc>
                <a:spcPct val="110000"/>
              </a:lnSpc>
            </a:pPr>
            <a:r>
              <a:rPr sz="800">
                <a:solidFill>
                  <a:srgbClr val="93A1B5"/>
                </a:solidFill>
                <a:latin typeface="Segoe UI"/>
              </a:rPr>
              <a:t>API + AI workers</a:t>
            </a:r>
          </a:p>
        </p:txBody>
      </p:sp>
      <p:sp>
        <p:nvSpPr>
          <p:cNvPr id="28" name="Rounded Rectangle 27"/>
          <p:cNvSpPr/>
          <p:nvPr/>
        </p:nvSpPr>
        <p:spPr>
          <a:xfrm>
            <a:off x="8869680" y="2962656"/>
            <a:ext cx="2468880" cy="56692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STORAGE</a:t>
            </a:r>
          </a:p>
          <a:p>
            <a:pPr algn="ctr">
              <a:lnSpc>
                <a:spcPct val="110000"/>
              </a:lnSpc>
            </a:pPr>
            <a:r>
              <a:rPr sz="800">
                <a:solidFill>
                  <a:srgbClr val="93A1B5"/>
                </a:solidFill>
                <a:latin typeface="Segoe UI"/>
              </a:rPr>
              <a:t>database + uploads</a:t>
            </a:r>
          </a:p>
        </p:txBody>
      </p:sp>
      <p:sp>
        <p:nvSpPr>
          <p:cNvPr id="29" name="Rounded Rectangle 28"/>
          <p:cNvSpPr/>
          <p:nvPr/>
        </p:nvSpPr>
        <p:spPr>
          <a:xfrm>
            <a:off x="6217920" y="3648456"/>
            <a:ext cx="2468880" cy="56692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NETWORK</a:t>
            </a:r>
          </a:p>
          <a:p>
            <a:pPr algn="ctr">
              <a:lnSpc>
                <a:spcPct val="110000"/>
              </a:lnSpc>
            </a:pPr>
            <a:r>
              <a:rPr sz="800">
                <a:solidFill>
                  <a:srgbClr val="93A1B5"/>
                </a:solidFill>
                <a:latin typeface="Segoe UI"/>
              </a:rPr>
              <a:t>bandwidth + tile cache</a:t>
            </a:r>
          </a:p>
        </p:txBody>
      </p:sp>
      <p:sp>
        <p:nvSpPr>
          <p:cNvPr id="30" name="Rounded Rectangle 29"/>
          <p:cNvSpPr/>
          <p:nvPr/>
        </p:nvSpPr>
        <p:spPr>
          <a:xfrm>
            <a:off x="8869680" y="3648456"/>
            <a:ext cx="2468880" cy="566928"/>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00" b="1">
                <a:solidFill>
                  <a:srgbClr val="F4F7FB"/>
                </a:solidFill>
                <a:latin typeface="Segoe UI Semibold"/>
              </a:rPr>
              <a:t>SERVICES</a:t>
            </a:r>
          </a:p>
          <a:p>
            <a:pPr algn="ctr">
              <a:lnSpc>
                <a:spcPct val="110000"/>
              </a:lnSpc>
            </a:pPr>
            <a:r>
              <a:rPr sz="800">
                <a:solidFill>
                  <a:srgbClr val="93A1B5"/>
                </a:solidFill>
                <a:latin typeface="Segoe UI"/>
              </a:rPr>
              <a:t>auth · booking · map</a:t>
            </a:r>
          </a:p>
        </p:txBody>
      </p:sp>
      <p:sp>
        <p:nvSpPr>
          <p:cNvPr id="31" name="TextBox 30"/>
          <p:cNvSpPr txBox="1"/>
          <p:nvPr/>
        </p:nvSpPr>
        <p:spPr>
          <a:xfrm>
            <a:off x="6035040" y="4572000"/>
            <a:ext cx="5349240" cy="777240"/>
          </a:xfrm>
          <a:prstGeom prst="rect">
            <a:avLst/>
          </a:prstGeom>
          <a:noFill/>
        </p:spPr>
        <p:txBody>
          <a:bodyPr wrap="square" lIns="0" tIns="0" rIns="0" bIns="0" anchor="t">
            <a:spAutoFit/>
          </a:bodyPr>
          <a:lstStyle/>
          <a:p>
            <a:pPr algn="l">
              <a:lnSpc>
                <a:spcPct val="135000"/>
              </a:lnSpc>
            </a:pPr>
            <a:r>
              <a:rPr sz="1000" b="0" i="0">
                <a:solidFill>
                  <a:srgbClr val="93A1B5"/>
                </a:solidFill>
                <a:latin typeface="Segoe UI"/>
              </a:rPr>
              <a:t>One pool serves every tenant and every request type. A map-tile burst and an AI diagnosis draw on the same underlying capacity, which is exactly why pooling improves utilisation over dedicated allocation.</a:t>
            </a:r>
          </a:p>
        </p:txBody>
      </p:sp>
      <p:sp>
        <p:nvSpPr>
          <p:cNvPr id="32" name="Rounded Rectangle 31"/>
          <p:cNvSpPr/>
          <p:nvPr/>
        </p:nvSpPr>
        <p:spPr>
          <a:xfrm>
            <a:off x="777240" y="5742432"/>
            <a:ext cx="10607040" cy="457200"/>
          </a:xfrm>
          <a:prstGeom prst="roundRect">
            <a:avLst>
              <a:gd name="adj" fmla="val 3500"/>
            </a:avLst>
          </a:prstGeom>
          <a:solidFill>
            <a:srgbClr val="0C1322"/>
          </a:solidFill>
          <a:ln w="1270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960120" y="5833872"/>
            <a:ext cx="10241280" cy="292608"/>
          </a:xfrm>
          <a:prstGeom prst="rect">
            <a:avLst/>
          </a:prstGeom>
          <a:noFill/>
        </p:spPr>
        <p:txBody>
          <a:bodyPr wrap="square" lIns="0" tIns="0" rIns="0" bIns="0" anchor="t">
            <a:spAutoFit/>
          </a:bodyPr>
          <a:lstStyle/>
          <a:p>
            <a:pPr algn="l">
              <a:lnSpc>
                <a:spcPct val="125000"/>
              </a:lnSpc>
            </a:pPr>
            <a:r>
              <a:rPr sz="950" b="0" i="0">
                <a:solidFill>
                  <a:srgbClr val="34D399"/>
                </a:solidFill>
                <a:latin typeface="Segoe UI"/>
              </a:rPr>
              <a:t>Implemented today in a limited form: the map tile proxy keeps a shared in-memory tile cache, so one user's fetch serves the next user's request.</a:t>
            </a:r>
          </a:p>
        </p:txBody>
      </p:sp>
      <p:sp>
        <p:nvSpPr>
          <p:cNvPr id="34" name="Rounded Rectangle 33"/>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5" name="Rounded Rectangle 34"/>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6" name="Rounded Rectangle 35"/>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7" name="Rounded Rectangle 36"/>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38" name="TextBox 3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20</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4 · DYNAMIC SCALABILITY + ELASTIC RESOURCE CAPACITY</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100" b="1" i="0">
                <a:solidFill>
                  <a:srgbClr val="F4F7FB"/>
                </a:solidFill>
                <a:latin typeface="Segoe UI Semibold"/>
              </a:rPr>
              <a:t>THE CLOUD ADAPTS TO DEMAND.</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TextBox 5"/>
          <p:cNvSpPr txBox="1"/>
          <p:nvPr/>
        </p:nvSpPr>
        <p:spPr>
          <a:xfrm>
            <a:off x="777240" y="2194560"/>
            <a:ext cx="2011680" cy="256032"/>
          </a:xfrm>
          <a:prstGeom prst="rect">
            <a:avLst/>
          </a:prstGeom>
          <a:noFill/>
        </p:spPr>
        <p:txBody>
          <a:bodyPr wrap="square" lIns="0" tIns="0" rIns="0" bIns="0" anchor="t">
            <a:spAutoFit/>
          </a:bodyPr>
          <a:lstStyle/>
          <a:p>
            <a:pPr algn="ctr">
              <a:lnSpc>
                <a:spcPct val="125000"/>
              </a:lnSpc>
            </a:pPr>
            <a:r>
              <a:rPr sz="1150" b="1" i="0" spc="160">
                <a:solidFill>
                  <a:srgbClr val="5C6B80"/>
                </a:solidFill>
                <a:latin typeface="Segoe UI"/>
              </a:rPr>
              <a:t>LOW</a:t>
            </a:r>
          </a:p>
        </p:txBody>
      </p:sp>
      <p:sp>
        <p:nvSpPr>
          <p:cNvPr id="7" name="TextBox 6"/>
          <p:cNvSpPr txBox="1"/>
          <p:nvPr/>
        </p:nvSpPr>
        <p:spPr>
          <a:xfrm>
            <a:off x="777240" y="2432304"/>
            <a:ext cx="2011680" cy="256032"/>
          </a:xfrm>
          <a:prstGeom prst="rect">
            <a:avLst/>
          </a:prstGeom>
          <a:noFill/>
        </p:spPr>
        <p:txBody>
          <a:bodyPr wrap="square" lIns="0" tIns="0" rIns="0" bIns="0" anchor="t">
            <a:spAutoFit/>
          </a:bodyPr>
          <a:lstStyle/>
          <a:p>
            <a:pPr algn="ctr">
              <a:lnSpc>
                <a:spcPct val="125000"/>
              </a:lnSpc>
            </a:pPr>
            <a:r>
              <a:rPr sz="850" b="0" i="0">
                <a:solidFill>
                  <a:srgbClr val="5C6B80"/>
                </a:solidFill>
                <a:latin typeface="Segoe UI"/>
              </a:rPr>
              <a:t>Night · few journeys</a:t>
            </a:r>
          </a:p>
        </p:txBody>
      </p:sp>
      <p:sp>
        <p:nvSpPr>
          <p:cNvPr id="8" name="Rounded Rectangle 7"/>
          <p:cNvSpPr/>
          <p:nvPr/>
        </p:nvSpPr>
        <p:spPr>
          <a:xfrm>
            <a:off x="1188720" y="4160520"/>
            <a:ext cx="329184" cy="402336"/>
          </a:xfrm>
          <a:prstGeom prst="roundRect">
            <a:avLst>
              <a:gd name="adj" fmla="val 20000"/>
            </a:avLst>
          </a:prstGeom>
          <a:solidFill>
            <a:srgbClr val="5C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777240" y="4681728"/>
            <a:ext cx="2011680" cy="237744"/>
          </a:xfrm>
          <a:prstGeom prst="rect">
            <a:avLst/>
          </a:prstGeom>
          <a:noFill/>
        </p:spPr>
        <p:txBody>
          <a:bodyPr wrap="square" lIns="0" tIns="0" rIns="0" bIns="0" anchor="t">
            <a:spAutoFit/>
          </a:bodyPr>
          <a:lstStyle/>
          <a:p>
            <a:pPr algn="ctr">
              <a:lnSpc>
                <a:spcPct val="125000"/>
              </a:lnSpc>
            </a:pPr>
            <a:r>
              <a:rPr sz="900" b="0" i="0">
                <a:solidFill>
                  <a:srgbClr val="5C6B80"/>
                </a:solidFill>
                <a:latin typeface="Consolas"/>
              </a:rPr>
              <a:t>1 instance</a:t>
            </a:r>
          </a:p>
        </p:txBody>
      </p:sp>
      <p:cxnSp>
        <p:nvCxnSpPr>
          <p:cNvPr id="10" name="Connector 9"/>
          <p:cNvCxnSpPr/>
          <p:nvPr/>
        </p:nvCxnSpPr>
        <p:spPr>
          <a:xfrm>
            <a:off x="2825496" y="4206240"/>
            <a:ext cx="164592"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3017520" y="2194560"/>
            <a:ext cx="2011680" cy="256032"/>
          </a:xfrm>
          <a:prstGeom prst="rect">
            <a:avLst/>
          </a:prstGeom>
          <a:noFill/>
        </p:spPr>
        <p:txBody>
          <a:bodyPr wrap="square" lIns="0" tIns="0" rIns="0" bIns="0" anchor="t">
            <a:spAutoFit/>
          </a:bodyPr>
          <a:lstStyle/>
          <a:p>
            <a:pPr algn="ctr">
              <a:lnSpc>
                <a:spcPct val="125000"/>
              </a:lnSpc>
            </a:pPr>
            <a:r>
              <a:rPr sz="1150" b="1" i="0" spc="160">
                <a:solidFill>
                  <a:srgbClr val="22D3EE"/>
                </a:solidFill>
                <a:latin typeface="Segoe UI"/>
              </a:rPr>
              <a:t>NORMAL</a:t>
            </a:r>
          </a:p>
        </p:txBody>
      </p:sp>
      <p:sp>
        <p:nvSpPr>
          <p:cNvPr id="12" name="TextBox 11"/>
          <p:cNvSpPr txBox="1"/>
          <p:nvPr/>
        </p:nvSpPr>
        <p:spPr>
          <a:xfrm>
            <a:off x="3017520" y="2432304"/>
            <a:ext cx="2011680" cy="256032"/>
          </a:xfrm>
          <a:prstGeom prst="rect">
            <a:avLst/>
          </a:prstGeom>
          <a:noFill/>
        </p:spPr>
        <p:txBody>
          <a:bodyPr wrap="square" lIns="0" tIns="0" rIns="0" bIns="0" anchor="t">
            <a:spAutoFit/>
          </a:bodyPr>
          <a:lstStyle/>
          <a:p>
            <a:pPr algn="ctr">
              <a:lnSpc>
                <a:spcPct val="125000"/>
              </a:lnSpc>
            </a:pPr>
            <a:r>
              <a:rPr sz="850" b="0" i="0">
                <a:solidFill>
                  <a:srgbClr val="5C6B80"/>
                </a:solidFill>
                <a:latin typeface="Segoe UI"/>
              </a:rPr>
              <a:t>Weekday commute</a:t>
            </a:r>
          </a:p>
        </p:txBody>
      </p:sp>
      <p:sp>
        <p:nvSpPr>
          <p:cNvPr id="13" name="Rounded Rectangle 12"/>
          <p:cNvSpPr/>
          <p:nvPr/>
        </p:nvSpPr>
        <p:spPr>
          <a:xfrm>
            <a:off x="3429000" y="4160520"/>
            <a:ext cx="329184" cy="402336"/>
          </a:xfrm>
          <a:prstGeom prst="roundRect">
            <a:avLst>
              <a:gd name="adj" fmla="val 2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ounded Rectangle 13"/>
          <p:cNvSpPr/>
          <p:nvPr/>
        </p:nvSpPr>
        <p:spPr>
          <a:xfrm>
            <a:off x="3831336" y="4160520"/>
            <a:ext cx="329184" cy="402336"/>
          </a:xfrm>
          <a:prstGeom prst="roundRect">
            <a:avLst>
              <a:gd name="adj" fmla="val 20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017520" y="4681728"/>
            <a:ext cx="2011680" cy="237744"/>
          </a:xfrm>
          <a:prstGeom prst="rect">
            <a:avLst/>
          </a:prstGeom>
          <a:noFill/>
        </p:spPr>
        <p:txBody>
          <a:bodyPr wrap="square" lIns="0" tIns="0" rIns="0" bIns="0" anchor="t">
            <a:spAutoFit/>
          </a:bodyPr>
          <a:lstStyle/>
          <a:p>
            <a:pPr algn="ctr">
              <a:lnSpc>
                <a:spcPct val="125000"/>
              </a:lnSpc>
            </a:pPr>
            <a:r>
              <a:rPr sz="900" b="0" i="0">
                <a:solidFill>
                  <a:srgbClr val="22D3EE"/>
                </a:solidFill>
                <a:latin typeface="Consolas"/>
              </a:rPr>
              <a:t>2 instances</a:t>
            </a:r>
          </a:p>
        </p:txBody>
      </p:sp>
      <p:cxnSp>
        <p:nvCxnSpPr>
          <p:cNvPr id="16" name="Connector 15"/>
          <p:cNvCxnSpPr/>
          <p:nvPr/>
        </p:nvCxnSpPr>
        <p:spPr>
          <a:xfrm>
            <a:off x="5065776" y="4206240"/>
            <a:ext cx="164592"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5257800" y="2194560"/>
            <a:ext cx="2011680" cy="256032"/>
          </a:xfrm>
          <a:prstGeom prst="rect">
            <a:avLst/>
          </a:prstGeom>
          <a:noFill/>
        </p:spPr>
        <p:txBody>
          <a:bodyPr wrap="square" lIns="0" tIns="0" rIns="0" bIns="0" anchor="t">
            <a:spAutoFit/>
          </a:bodyPr>
          <a:lstStyle/>
          <a:p>
            <a:pPr algn="ctr">
              <a:lnSpc>
                <a:spcPct val="125000"/>
              </a:lnSpc>
            </a:pPr>
            <a:r>
              <a:rPr sz="1150" b="1" i="0" spc="160">
                <a:solidFill>
                  <a:srgbClr val="2E7DFF"/>
                </a:solidFill>
                <a:latin typeface="Segoe UI"/>
              </a:rPr>
              <a:t>HIGH</a:t>
            </a:r>
          </a:p>
        </p:txBody>
      </p:sp>
      <p:sp>
        <p:nvSpPr>
          <p:cNvPr id="18" name="TextBox 17"/>
          <p:cNvSpPr txBox="1"/>
          <p:nvPr/>
        </p:nvSpPr>
        <p:spPr>
          <a:xfrm>
            <a:off x="5257800" y="2432304"/>
            <a:ext cx="2011680" cy="256032"/>
          </a:xfrm>
          <a:prstGeom prst="rect">
            <a:avLst/>
          </a:prstGeom>
          <a:noFill/>
        </p:spPr>
        <p:txBody>
          <a:bodyPr wrap="square" lIns="0" tIns="0" rIns="0" bIns="0" anchor="t">
            <a:spAutoFit/>
          </a:bodyPr>
          <a:lstStyle/>
          <a:p>
            <a:pPr algn="ctr">
              <a:lnSpc>
                <a:spcPct val="125000"/>
              </a:lnSpc>
            </a:pPr>
            <a:r>
              <a:rPr sz="850" b="0" i="0">
                <a:solidFill>
                  <a:srgbClr val="5C6B80"/>
                </a:solidFill>
                <a:latin typeface="Segoe UI"/>
              </a:rPr>
              <a:t>Monsoon · poor roads</a:t>
            </a:r>
          </a:p>
        </p:txBody>
      </p:sp>
      <p:sp>
        <p:nvSpPr>
          <p:cNvPr id="19" name="Rounded Rectangle 18"/>
          <p:cNvSpPr/>
          <p:nvPr/>
        </p:nvSpPr>
        <p:spPr>
          <a:xfrm>
            <a:off x="5669280" y="4160520"/>
            <a:ext cx="329184" cy="402336"/>
          </a:xfrm>
          <a:prstGeom prst="roundRect">
            <a:avLst>
              <a:gd name="adj" fmla="val 20000"/>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ounded Rectangle 19"/>
          <p:cNvSpPr/>
          <p:nvPr/>
        </p:nvSpPr>
        <p:spPr>
          <a:xfrm>
            <a:off x="6071616" y="4160520"/>
            <a:ext cx="329184" cy="402336"/>
          </a:xfrm>
          <a:prstGeom prst="roundRect">
            <a:avLst>
              <a:gd name="adj" fmla="val 20000"/>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6473952" y="4160520"/>
            <a:ext cx="329184" cy="402336"/>
          </a:xfrm>
          <a:prstGeom prst="roundRect">
            <a:avLst>
              <a:gd name="adj" fmla="val 20000"/>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ounded Rectangle 21"/>
          <p:cNvSpPr/>
          <p:nvPr/>
        </p:nvSpPr>
        <p:spPr>
          <a:xfrm>
            <a:off x="5669280" y="3685031"/>
            <a:ext cx="329184" cy="402336"/>
          </a:xfrm>
          <a:prstGeom prst="roundRect">
            <a:avLst>
              <a:gd name="adj" fmla="val 20000"/>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5257800" y="4681728"/>
            <a:ext cx="2011680" cy="237744"/>
          </a:xfrm>
          <a:prstGeom prst="rect">
            <a:avLst/>
          </a:prstGeom>
          <a:noFill/>
        </p:spPr>
        <p:txBody>
          <a:bodyPr wrap="square" lIns="0" tIns="0" rIns="0" bIns="0" anchor="t">
            <a:spAutoFit/>
          </a:bodyPr>
          <a:lstStyle/>
          <a:p>
            <a:pPr algn="ctr">
              <a:lnSpc>
                <a:spcPct val="125000"/>
              </a:lnSpc>
            </a:pPr>
            <a:r>
              <a:rPr sz="900" b="0" i="0">
                <a:solidFill>
                  <a:srgbClr val="2E7DFF"/>
                </a:solidFill>
                <a:latin typeface="Consolas"/>
              </a:rPr>
              <a:t>4 instances</a:t>
            </a:r>
          </a:p>
        </p:txBody>
      </p:sp>
      <p:cxnSp>
        <p:nvCxnSpPr>
          <p:cNvPr id="24" name="Connector 23"/>
          <p:cNvCxnSpPr/>
          <p:nvPr/>
        </p:nvCxnSpPr>
        <p:spPr>
          <a:xfrm>
            <a:off x="7306056" y="4206240"/>
            <a:ext cx="164592"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5" name="TextBox 24"/>
          <p:cNvSpPr txBox="1"/>
          <p:nvPr/>
        </p:nvSpPr>
        <p:spPr>
          <a:xfrm>
            <a:off x="7498079" y="2194560"/>
            <a:ext cx="2011680" cy="256032"/>
          </a:xfrm>
          <a:prstGeom prst="rect">
            <a:avLst/>
          </a:prstGeom>
          <a:noFill/>
        </p:spPr>
        <p:txBody>
          <a:bodyPr wrap="square" lIns="0" tIns="0" rIns="0" bIns="0" anchor="t">
            <a:spAutoFit/>
          </a:bodyPr>
          <a:lstStyle/>
          <a:p>
            <a:pPr algn="ctr">
              <a:lnSpc>
                <a:spcPct val="125000"/>
              </a:lnSpc>
            </a:pPr>
            <a:r>
              <a:rPr sz="1150" b="1" i="0" spc="160">
                <a:solidFill>
                  <a:srgbClr val="FF4D5E"/>
                </a:solidFill>
                <a:latin typeface="Segoe UI"/>
              </a:rPr>
              <a:t>PEAK</a:t>
            </a:r>
          </a:p>
        </p:txBody>
      </p:sp>
      <p:sp>
        <p:nvSpPr>
          <p:cNvPr id="26" name="TextBox 25"/>
          <p:cNvSpPr txBox="1"/>
          <p:nvPr/>
        </p:nvSpPr>
        <p:spPr>
          <a:xfrm>
            <a:off x="7498079" y="2432304"/>
            <a:ext cx="2011680" cy="256032"/>
          </a:xfrm>
          <a:prstGeom prst="rect">
            <a:avLst/>
          </a:prstGeom>
          <a:noFill/>
        </p:spPr>
        <p:txBody>
          <a:bodyPr wrap="square" lIns="0" tIns="0" rIns="0" bIns="0" anchor="t">
            <a:spAutoFit/>
          </a:bodyPr>
          <a:lstStyle/>
          <a:p>
            <a:pPr algn="ctr">
              <a:lnSpc>
                <a:spcPct val="125000"/>
              </a:lnSpc>
            </a:pPr>
            <a:r>
              <a:rPr sz="850" b="0" i="0">
                <a:solidFill>
                  <a:srgbClr val="5C6B80"/>
                </a:solidFill>
                <a:latin typeface="Segoe UI"/>
              </a:rPr>
              <a:t>Festival travel</a:t>
            </a:r>
          </a:p>
        </p:txBody>
      </p:sp>
      <p:sp>
        <p:nvSpPr>
          <p:cNvPr id="27" name="Rounded Rectangle 26"/>
          <p:cNvSpPr/>
          <p:nvPr/>
        </p:nvSpPr>
        <p:spPr>
          <a:xfrm>
            <a:off x="7909559" y="4160520"/>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Rounded Rectangle 27"/>
          <p:cNvSpPr/>
          <p:nvPr/>
        </p:nvSpPr>
        <p:spPr>
          <a:xfrm>
            <a:off x="8311895" y="4160520"/>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ounded Rectangle 28"/>
          <p:cNvSpPr/>
          <p:nvPr/>
        </p:nvSpPr>
        <p:spPr>
          <a:xfrm>
            <a:off x="8714232" y="4160520"/>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7909559" y="3685031"/>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Rounded Rectangle 30"/>
          <p:cNvSpPr/>
          <p:nvPr/>
        </p:nvSpPr>
        <p:spPr>
          <a:xfrm>
            <a:off x="8311895" y="3685031"/>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ounded Rectangle 31"/>
          <p:cNvSpPr/>
          <p:nvPr/>
        </p:nvSpPr>
        <p:spPr>
          <a:xfrm>
            <a:off x="8714232" y="3685031"/>
            <a:ext cx="329184" cy="402336"/>
          </a:xfrm>
          <a:prstGeom prst="roundRect">
            <a:avLst>
              <a:gd name="adj" fmla="val 20000"/>
            </a:avLst>
          </a:prstGeom>
          <a:solidFill>
            <a:srgbClr val="FF4D5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7498079" y="4681728"/>
            <a:ext cx="2011680" cy="237744"/>
          </a:xfrm>
          <a:prstGeom prst="rect">
            <a:avLst/>
          </a:prstGeom>
          <a:noFill/>
        </p:spPr>
        <p:txBody>
          <a:bodyPr wrap="square" lIns="0" tIns="0" rIns="0" bIns="0" anchor="t">
            <a:spAutoFit/>
          </a:bodyPr>
          <a:lstStyle/>
          <a:p>
            <a:pPr algn="ctr">
              <a:lnSpc>
                <a:spcPct val="125000"/>
              </a:lnSpc>
            </a:pPr>
            <a:r>
              <a:rPr sz="900" b="0" i="0">
                <a:solidFill>
                  <a:srgbClr val="FF4D5E"/>
                </a:solidFill>
                <a:latin typeface="Consolas"/>
              </a:rPr>
              <a:t>6 instances</a:t>
            </a:r>
          </a:p>
        </p:txBody>
      </p:sp>
      <p:cxnSp>
        <p:nvCxnSpPr>
          <p:cNvPr id="34" name="Connector 33"/>
          <p:cNvCxnSpPr/>
          <p:nvPr/>
        </p:nvCxnSpPr>
        <p:spPr>
          <a:xfrm>
            <a:off x="9546336" y="4206240"/>
            <a:ext cx="164592" cy="0"/>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9738359" y="2194560"/>
            <a:ext cx="2011680" cy="256032"/>
          </a:xfrm>
          <a:prstGeom prst="rect">
            <a:avLst/>
          </a:prstGeom>
          <a:noFill/>
        </p:spPr>
        <p:txBody>
          <a:bodyPr wrap="square" lIns="0" tIns="0" rIns="0" bIns="0" anchor="t">
            <a:spAutoFit/>
          </a:bodyPr>
          <a:lstStyle/>
          <a:p>
            <a:pPr algn="ctr">
              <a:lnSpc>
                <a:spcPct val="125000"/>
              </a:lnSpc>
            </a:pPr>
            <a:r>
              <a:rPr sz="1150" b="1" i="0" spc="160">
                <a:solidFill>
                  <a:srgbClr val="5C6B80"/>
                </a:solidFill>
                <a:latin typeface="Segoe UI"/>
              </a:rPr>
              <a:t>LOW</a:t>
            </a:r>
          </a:p>
        </p:txBody>
      </p:sp>
      <p:sp>
        <p:nvSpPr>
          <p:cNvPr id="36" name="TextBox 35"/>
          <p:cNvSpPr txBox="1"/>
          <p:nvPr/>
        </p:nvSpPr>
        <p:spPr>
          <a:xfrm>
            <a:off x="9738359" y="2432304"/>
            <a:ext cx="2011680" cy="256032"/>
          </a:xfrm>
          <a:prstGeom prst="rect">
            <a:avLst/>
          </a:prstGeom>
          <a:noFill/>
        </p:spPr>
        <p:txBody>
          <a:bodyPr wrap="square" lIns="0" tIns="0" rIns="0" bIns="0" anchor="t">
            <a:spAutoFit/>
          </a:bodyPr>
          <a:lstStyle/>
          <a:p>
            <a:pPr algn="ctr">
              <a:lnSpc>
                <a:spcPct val="125000"/>
              </a:lnSpc>
            </a:pPr>
            <a:r>
              <a:rPr sz="850" b="0" i="0">
                <a:solidFill>
                  <a:srgbClr val="5C6B80"/>
                </a:solidFill>
                <a:latin typeface="Segoe UI"/>
              </a:rPr>
              <a:t>Demand recedes</a:t>
            </a:r>
          </a:p>
        </p:txBody>
      </p:sp>
      <p:sp>
        <p:nvSpPr>
          <p:cNvPr id="37" name="Rounded Rectangle 36"/>
          <p:cNvSpPr/>
          <p:nvPr/>
        </p:nvSpPr>
        <p:spPr>
          <a:xfrm>
            <a:off x="10149839" y="4160520"/>
            <a:ext cx="329184" cy="402336"/>
          </a:xfrm>
          <a:prstGeom prst="roundRect">
            <a:avLst>
              <a:gd name="adj" fmla="val 20000"/>
            </a:avLst>
          </a:prstGeom>
          <a:solidFill>
            <a:srgbClr val="5C6B8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9738359" y="4681728"/>
            <a:ext cx="2011680" cy="237744"/>
          </a:xfrm>
          <a:prstGeom prst="rect">
            <a:avLst/>
          </a:prstGeom>
          <a:noFill/>
        </p:spPr>
        <p:txBody>
          <a:bodyPr wrap="square" lIns="0" tIns="0" rIns="0" bIns="0" anchor="t">
            <a:spAutoFit/>
          </a:bodyPr>
          <a:lstStyle/>
          <a:p>
            <a:pPr algn="ctr">
              <a:lnSpc>
                <a:spcPct val="125000"/>
              </a:lnSpc>
            </a:pPr>
            <a:r>
              <a:rPr sz="900" b="0" i="0">
                <a:solidFill>
                  <a:srgbClr val="5C6B80"/>
                </a:solidFill>
                <a:latin typeface="Consolas"/>
              </a:rPr>
              <a:t>1 instance</a:t>
            </a:r>
          </a:p>
        </p:txBody>
      </p:sp>
      <p:sp>
        <p:nvSpPr>
          <p:cNvPr id="39" name="Rectangle 38"/>
          <p:cNvSpPr/>
          <p:nvPr/>
        </p:nvSpPr>
        <p:spPr>
          <a:xfrm>
            <a:off x="777240" y="5029200"/>
            <a:ext cx="10607040" cy="18288"/>
          </a:xfrm>
          <a:prstGeom prst="rect">
            <a:avLst/>
          </a:prstGeom>
          <a:solidFill>
            <a:srgbClr val="1E2C4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777240" y="5166360"/>
            <a:ext cx="5029200" cy="274320"/>
          </a:xfrm>
          <a:prstGeom prst="rect">
            <a:avLst/>
          </a:prstGeom>
          <a:noFill/>
        </p:spPr>
        <p:txBody>
          <a:bodyPr wrap="square" lIns="0" tIns="0" rIns="0" bIns="0" anchor="t">
            <a:spAutoFit/>
          </a:bodyPr>
          <a:lstStyle/>
          <a:p>
            <a:pPr algn="l">
              <a:lnSpc>
                <a:spcPct val="125000"/>
              </a:lnSpc>
            </a:pPr>
            <a:r>
              <a:rPr sz="1050" b="1" i="0" spc="150">
                <a:solidFill>
                  <a:srgbClr val="34D399"/>
                </a:solidFill>
                <a:latin typeface="Segoe UI"/>
              </a:rPr>
              <a:t>DYNAMIC SCALABILITY</a:t>
            </a:r>
          </a:p>
        </p:txBody>
      </p:sp>
      <p:sp>
        <p:nvSpPr>
          <p:cNvPr id="41" name="TextBox 40"/>
          <p:cNvSpPr txBox="1"/>
          <p:nvPr/>
        </p:nvSpPr>
        <p:spPr>
          <a:xfrm>
            <a:off x="777240" y="5394960"/>
            <a:ext cx="5029200" cy="50292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Instances are added and removed automatically as measured demand crosses thresholds.</a:t>
            </a:r>
          </a:p>
        </p:txBody>
      </p:sp>
      <p:sp>
        <p:nvSpPr>
          <p:cNvPr id="42" name="TextBox 41"/>
          <p:cNvSpPr txBox="1"/>
          <p:nvPr/>
        </p:nvSpPr>
        <p:spPr>
          <a:xfrm>
            <a:off x="6263640" y="5166360"/>
            <a:ext cx="5120640" cy="274320"/>
          </a:xfrm>
          <a:prstGeom prst="rect">
            <a:avLst/>
          </a:prstGeom>
          <a:noFill/>
        </p:spPr>
        <p:txBody>
          <a:bodyPr wrap="square" lIns="0" tIns="0" rIns="0" bIns="0" anchor="t">
            <a:spAutoFit/>
          </a:bodyPr>
          <a:lstStyle/>
          <a:p>
            <a:pPr algn="l">
              <a:lnSpc>
                <a:spcPct val="125000"/>
              </a:lnSpc>
            </a:pPr>
            <a:r>
              <a:rPr sz="1050" b="1" i="0" spc="150">
                <a:solidFill>
                  <a:srgbClr val="22D3EE"/>
                </a:solidFill>
                <a:latin typeface="Segoe UI"/>
              </a:rPr>
              <a:t>ELASTIC RESOURCE CAPACITY</a:t>
            </a:r>
          </a:p>
        </p:txBody>
      </p:sp>
      <p:sp>
        <p:nvSpPr>
          <p:cNvPr id="43" name="TextBox 42"/>
          <p:cNvSpPr txBox="1"/>
          <p:nvPr/>
        </p:nvSpPr>
        <p:spPr>
          <a:xfrm>
            <a:off x="6263640" y="5394960"/>
            <a:ext cx="5120640" cy="50292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Existing instances are resized — more CPU and memory allocated to the same server.</a:t>
            </a:r>
          </a:p>
        </p:txBody>
      </p:sp>
      <p:sp>
        <p:nvSpPr>
          <p:cNvPr id="44" name="Rounded Rectangle 43"/>
          <p:cNvSpPr/>
          <p:nvPr/>
        </p:nvSpPr>
        <p:spPr>
          <a:xfrm>
            <a:off x="777240" y="5870448"/>
            <a:ext cx="10607040" cy="365760"/>
          </a:xfrm>
          <a:prstGeom prst="roundRect">
            <a:avLst>
              <a:gd name="adj" fmla="val 3500"/>
            </a:avLst>
          </a:prstGeom>
          <a:solidFill>
            <a:srgbClr val="0C1322"/>
          </a:solidFill>
          <a:ln w="1270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960120" y="5943600"/>
            <a:ext cx="10241280" cy="256032"/>
          </a:xfrm>
          <a:prstGeom prst="rect">
            <a:avLst/>
          </a:prstGeom>
          <a:noFill/>
        </p:spPr>
        <p:txBody>
          <a:bodyPr wrap="square" lIns="0" tIns="0" rIns="0" bIns="0" anchor="t">
            <a:spAutoFit/>
          </a:bodyPr>
          <a:lstStyle/>
          <a:p>
            <a:pPr algn="l">
              <a:lnSpc>
                <a:spcPct val="125000"/>
              </a:lnSpc>
            </a:pPr>
            <a:r>
              <a:rPr sz="950" b="0" i="0">
                <a:solidFill>
                  <a:srgbClr val="F5B14C"/>
                </a:solidFill>
                <a:latin typeface="Segoe UI"/>
              </a:rPr>
              <a:t>Architectural capability. RoadAssist does NOT implement automatic scaling. It is written to accept it: request handling is stateless, so instances are interchangeable.</a:t>
            </a:r>
          </a:p>
        </p:txBody>
      </p:sp>
      <p:sp>
        <p:nvSpPr>
          <p:cNvPr id="46" name="Rounded Rectangle 45"/>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47" name="Rounded Rectangle 46"/>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48" name="Rounded Rectangle 47"/>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49" name="Rounded Rectangle 48"/>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50" name="TextBox 49"/>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21</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4 · SERVICE LOAD BALANCING + CLOUD BURSTING</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KEEPING SERVICES RESPONSIVE UNDER LOAD</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TextBox 5"/>
          <p:cNvSpPr txBox="1"/>
          <p:nvPr/>
        </p:nvSpPr>
        <p:spPr>
          <a:xfrm>
            <a:off x="777240" y="2103120"/>
            <a:ext cx="5029200" cy="274320"/>
          </a:xfrm>
          <a:prstGeom prst="rect">
            <a:avLst/>
          </a:prstGeom>
          <a:noFill/>
        </p:spPr>
        <p:txBody>
          <a:bodyPr wrap="square" lIns="0" tIns="0" rIns="0" bIns="0" anchor="t">
            <a:spAutoFit/>
          </a:bodyPr>
          <a:lstStyle/>
          <a:p>
            <a:pPr algn="l">
              <a:lnSpc>
                <a:spcPct val="125000"/>
              </a:lnSpc>
            </a:pPr>
            <a:r>
              <a:rPr sz="1100" b="1" i="0" spc="160">
                <a:solidFill>
                  <a:srgbClr val="2E7DFF"/>
                </a:solidFill>
                <a:latin typeface="Segoe UI"/>
              </a:rPr>
              <a:t>SERVICE LOAD BALANCING</a:t>
            </a:r>
          </a:p>
        </p:txBody>
      </p:sp>
      <p:sp>
        <p:nvSpPr>
          <p:cNvPr id="7" name="Rounded Rectangle 6"/>
          <p:cNvSpPr/>
          <p:nvPr/>
        </p:nvSpPr>
        <p:spPr>
          <a:xfrm>
            <a:off x="777240" y="2487168"/>
            <a:ext cx="603504"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USER</a:t>
            </a:r>
          </a:p>
        </p:txBody>
      </p:sp>
      <p:cxnSp>
        <p:nvCxnSpPr>
          <p:cNvPr id="8" name="Connector 7"/>
          <p:cNvCxnSpPr/>
          <p:nvPr/>
        </p:nvCxnSpPr>
        <p:spPr>
          <a:xfrm>
            <a:off x="1078992" y="2816352"/>
            <a:ext cx="1755648" cy="310896"/>
          </a:xfrm>
          <a:prstGeom prst="line">
            <a:avLst/>
          </a:prstGeom>
          <a:ln w="1143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1463040" y="2487168"/>
            <a:ext cx="603504"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USER</a:t>
            </a:r>
          </a:p>
        </p:txBody>
      </p:sp>
      <p:cxnSp>
        <p:nvCxnSpPr>
          <p:cNvPr id="10" name="Connector 9"/>
          <p:cNvCxnSpPr/>
          <p:nvPr/>
        </p:nvCxnSpPr>
        <p:spPr>
          <a:xfrm>
            <a:off x="1764792" y="2816352"/>
            <a:ext cx="1069848" cy="310896"/>
          </a:xfrm>
          <a:prstGeom prst="line">
            <a:avLst/>
          </a:prstGeom>
          <a:ln w="1143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2148840" y="2487168"/>
            <a:ext cx="603504"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USER</a:t>
            </a:r>
          </a:p>
        </p:txBody>
      </p:sp>
      <p:cxnSp>
        <p:nvCxnSpPr>
          <p:cNvPr id="12" name="Connector 11"/>
          <p:cNvCxnSpPr/>
          <p:nvPr/>
        </p:nvCxnSpPr>
        <p:spPr>
          <a:xfrm>
            <a:off x="2450591" y="2816352"/>
            <a:ext cx="384049" cy="310896"/>
          </a:xfrm>
          <a:prstGeom prst="line">
            <a:avLst/>
          </a:prstGeom>
          <a:ln w="1143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834640" y="2487168"/>
            <a:ext cx="603504"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USER</a:t>
            </a:r>
          </a:p>
        </p:txBody>
      </p:sp>
      <p:cxnSp>
        <p:nvCxnSpPr>
          <p:cNvPr id="14" name="Connector 13"/>
          <p:cNvCxnSpPr/>
          <p:nvPr/>
        </p:nvCxnSpPr>
        <p:spPr>
          <a:xfrm flipH="1">
            <a:off x="2834640" y="2816352"/>
            <a:ext cx="301751" cy="310896"/>
          </a:xfrm>
          <a:prstGeom prst="line">
            <a:avLst/>
          </a:prstGeom>
          <a:ln w="1143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1463040" y="3154680"/>
            <a:ext cx="2743200" cy="54864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LOAD BALANCER</a:t>
            </a:r>
          </a:p>
          <a:p>
            <a:pPr algn="ctr">
              <a:lnSpc>
                <a:spcPct val="110000"/>
              </a:lnSpc>
            </a:pPr>
            <a:r>
              <a:rPr sz="800">
                <a:solidFill>
                  <a:srgbClr val="93A1B5"/>
                </a:solidFill>
                <a:latin typeface="Segoe UI"/>
              </a:rPr>
              <a:t>even distribution + health checks</a:t>
            </a:r>
          </a:p>
        </p:txBody>
      </p:sp>
      <p:sp>
        <p:nvSpPr>
          <p:cNvPr id="16" name="Rounded Rectangle 15"/>
          <p:cNvSpPr/>
          <p:nvPr/>
        </p:nvSpPr>
        <p:spPr>
          <a:xfrm>
            <a:off x="777240" y="3977639"/>
            <a:ext cx="1325880" cy="6858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SERVER 1</a:t>
            </a:r>
          </a:p>
        </p:txBody>
      </p:sp>
      <p:cxnSp>
        <p:nvCxnSpPr>
          <p:cNvPr id="17" name="Connector 16"/>
          <p:cNvCxnSpPr/>
          <p:nvPr/>
        </p:nvCxnSpPr>
        <p:spPr>
          <a:xfrm flipH="1">
            <a:off x="1435608" y="3721608"/>
            <a:ext cx="1399032" cy="23774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240280" y="3977639"/>
            <a:ext cx="1325880" cy="6858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SERVER 2</a:t>
            </a:r>
          </a:p>
        </p:txBody>
      </p:sp>
      <p:cxnSp>
        <p:nvCxnSpPr>
          <p:cNvPr id="19" name="Connector 18"/>
          <p:cNvCxnSpPr/>
          <p:nvPr/>
        </p:nvCxnSpPr>
        <p:spPr>
          <a:xfrm>
            <a:off x="2834640" y="3721608"/>
            <a:ext cx="64008" cy="23774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3703320" y="3977639"/>
            <a:ext cx="1325880" cy="6858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SERVER 3</a:t>
            </a:r>
          </a:p>
        </p:txBody>
      </p:sp>
      <p:cxnSp>
        <p:nvCxnSpPr>
          <p:cNvPr id="21" name="Connector 20"/>
          <p:cNvCxnSpPr/>
          <p:nvPr/>
        </p:nvCxnSpPr>
        <p:spPr>
          <a:xfrm>
            <a:off x="2834640" y="3721608"/>
            <a:ext cx="1527048" cy="237744"/>
          </a:xfrm>
          <a:prstGeom prst="line">
            <a:avLst/>
          </a:prstGeom>
          <a:ln w="1270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777240" y="4828032"/>
            <a:ext cx="502920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The balancer also removes an unhealthy instance from rotation, which is how load balancing contributes to availability, not only to throughput.</a:t>
            </a:r>
          </a:p>
        </p:txBody>
      </p:sp>
      <p:sp>
        <p:nvSpPr>
          <p:cNvPr id="23" name="TextBox 22"/>
          <p:cNvSpPr txBox="1"/>
          <p:nvPr/>
        </p:nvSpPr>
        <p:spPr>
          <a:xfrm>
            <a:off x="6263640" y="2103120"/>
            <a:ext cx="5120640" cy="274320"/>
          </a:xfrm>
          <a:prstGeom prst="rect">
            <a:avLst/>
          </a:prstGeom>
          <a:noFill/>
        </p:spPr>
        <p:txBody>
          <a:bodyPr wrap="square" lIns="0" tIns="0" rIns="0" bIns="0" anchor="t">
            <a:spAutoFit/>
          </a:bodyPr>
          <a:lstStyle/>
          <a:p>
            <a:pPr algn="l">
              <a:lnSpc>
                <a:spcPct val="125000"/>
              </a:lnSpc>
            </a:pPr>
            <a:r>
              <a:rPr sz="1100" b="1" i="0" spc="160">
                <a:solidFill>
                  <a:srgbClr val="F5B14C"/>
                </a:solidFill>
                <a:latin typeface="Segoe UI"/>
              </a:rPr>
              <a:t>CLOUD BURSTING</a:t>
            </a:r>
          </a:p>
        </p:txBody>
      </p:sp>
      <p:sp>
        <p:nvSpPr>
          <p:cNvPr id="24" name="Rounded Rectangle 23"/>
          <p:cNvSpPr/>
          <p:nvPr/>
        </p:nvSpPr>
        <p:spPr>
          <a:xfrm>
            <a:off x="6263640" y="2487168"/>
            <a:ext cx="5120640" cy="960120"/>
          </a:xfrm>
          <a:prstGeom prst="roundRect">
            <a:avLst>
              <a:gd name="adj" fmla="val 3500"/>
            </a:avLst>
          </a:prstGeom>
          <a:solidFill>
            <a:srgbClr val="0C1322"/>
          </a:solidFill>
          <a:ln w="1524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446520" y="2633472"/>
            <a:ext cx="4754880" cy="256032"/>
          </a:xfrm>
          <a:prstGeom prst="rect">
            <a:avLst/>
          </a:prstGeom>
          <a:noFill/>
        </p:spPr>
        <p:txBody>
          <a:bodyPr wrap="square" lIns="0" tIns="0" rIns="0" bIns="0" anchor="t">
            <a:spAutoFit/>
          </a:bodyPr>
          <a:lstStyle/>
          <a:p>
            <a:pPr algn="l">
              <a:lnSpc>
                <a:spcPct val="125000"/>
              </a:lnSpc>
            </a:pPr>
            <a:r>
              <a:rPr sz="1050" b="1" i="0">
                <a:solidFill>
                  <a:srgbClr val="34D399"/>
                </a:solidFill>
                <a:latin typeface="Segoe UI"/>
              </a:rPr>
              <a:t>PRIMARY ENVIRONMENT</a:t>
            </a:r>
          </a:p>
        </p:txBody>
      </p:sp>
      <p:sp>
        <p:nvSpPr>
          <p:cNvPr id="26" name="TextBox 25"/>
          <p:cNvSpPr txBox="1"/>
          <p:nvPr/>
        </p:nvSpPr>
        <p:spPr>
          <a:xfrm>
            <a:off x="6446520" y="2871216"/>
            <a:ext cx="4754880" cy="45720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Baseline capacity — private or on-premises. Handles normal demand.</a:t>
            </a:r>
          </a:p>
        </p:txBody>
      </p:sp>
      <p:sp>
        <p:nvSpPr>
          <p:cNvPr id="27" name="Rounded Rectangle 26"/>
          <p:cNvSpPr/>
          <p:nvPr/>
        </p:nvSpPr>
        <p:spPr>
          <a:xfrm>
            <a:off x="6263640" y="3566160"/>
            <a:ext cx="5120640" cy="384048"/>
          </a:xfrm>
          <a:prstGeom prst="roundRect">
            <a:avLst>
              <a:gd name="adj" fmla="val 3500"/>
            </a:avLst>
          </a:prstGeom>
          <a:solidFill>
            <a:srgbClr val="131D30"/>
          </a:solidFill>
          <a:ln w="15240">
            <a:solidFill>
              <a:srgbClr val="FF4D5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6446520" y="3639312"/>
            <a:ext cx="4754880" cy="256032"/>
          </a:xfrm>
          <a:prstGeom prst="rect">
            <a:avLst/>
          </a:prstGeom>
          <a:noFill/>
        </p:spPr>
        <p:txBody>
          <a:bodyPr wrap="square" lIns="0" tIns="0" rIns="0" bIns="0" anchor="t">
            <a:spAutoFit/>
          </a:bodyPr>
          <a:lstStyle/>
          <a:p>
            <a:pPr algn="ctr">
              <a:lnSpc>
                <a:spcPct val="125000"/>
              </a:lnSpc>
            </a:pPr>
            <a:r>
              <a:rPr sz="1000" b="1" i="0" spc="140">
                <a:solidFill>
                  <a:srgbClr val="FF4D5E"/>
                </a:solidFill>
                <a:latin typeface="Segoe UI"/>
              </a:rPr>
              <a:t>CAPACITY LIMIT REACHED</a:t>
            </a:r>
          </a:p>
        </p:txBody>
      </p:sp>
      <p:cxnSp>
        <p:nvCxnSpPr>
          <p:cNvPr id="29" name="Connector 28"/>
          <p:cNvCxnSpPr/>
          <p:nvPr/>
        </p:nvCxnSpPr>
        <p:spPr>
          <a:xfrm>
            <a:off x="8823960" y="3977639"/>
            <a:ext cx="0" cy="210313"/>
          </a:xfrm>
          <a:prstGeom prst="line">
            <a:avLst/>
          </a:prstGeom>
          <a:ln w="17780">
            <a:solidFill>
              <a:srgbClr val="F5B14C"/>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6263640" y="4206240"/>
            <a:ext cx="5120640" cy="960120"/>
          </a:xfrm>
          <a:prstGeom prst="roundRect">
            <a:avLst>
              <a:gd name="adj" fmla="val 3500"/>
            </a:avLst>
          </a:prstGeom>
          <a:solidFill>
            <a:srgbClr val="0C1322"/>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6446520" y="4352544"/>
            <a:ext cx="4754880" cy="256032"/>
          </a:xfrm>
          <a:prstGeom prst="rect">
            <a:avLst/>
          </a:prstGeom>
          <a:noFill/>
        </p:spPr>
        <p:txBody>
          <a:bodyPr wrap="square" lIns="0" tIns="0" rIns="0" bIns="0" anchor="t">
            <a:spAutoFit/>
          </a:bodyPr>
          <a:lstStyle/>
          <a:p>
            <a:pPr algn="l">
              <a:lnSpc>
                <a:spcPct val="125000"/>
              </a:lnSpc>
            </a:pPr>
            <a:r>
              <a:rPr sz="1050" b="1" i="0">
                <a:solidFill>
                  <a:srgbClr val="F5B14C"/>
                </a:solidFill>
                <a:latin typeface="Segoe UI"/>
              </a:rPr>
              <a:t>ADDITIONAL PUBLIC CLOUD CAPACITY</a:t>
            </a:r>
          </a:p>
        </p:txBody>
      </p:sp>
      <p:sp>
        <p:nvSpPr>
          <p:cNvPr id="32" name="TextBox 31"/>
          <p:cNvSpPr txBox="1"/>
          <p:nvPr/>
        </p:nvSpPr>
        <p:spPr>
          <a:xfrm>
            <a:off x="6446520" y="4590288"/>
            <a:ext cx="4754880" cy="457200"/>
          </a:xfrm>
          <a:prstGeom prst="rect">
            <a:avLst/>
          </a:prstGeom>
          <a:noFill/>
        </p:spPr>
        <p:txBody>
          <a:bodyPr wrap="square" lIns="0" tIns="0" rIns="0" bIns="0" anchor="t">
            <a:spAutoFit/>
          </a:bodyPr>
          <a:lstStyle/>
          <a:p>
            <a:pPr algn="l">
              <a:lnSpc>
                <a:spcPct val="125000"/>
              </a:lnSpc>
            </a:pPr>
            <a:r>
              <a:rPr sz="900" b="0" i="0">
                <a:solidFill>
                  <a:srgbClr val="93A1B5"/>
                </a:solidFill>
                <a:latin typeface="Segoe UI"/>
              </a:rPr>
              <a:t>Overflow only, released when the peak passes. Pay for the burst, not the year.</a:t>
            </a:r>
          </a:p>
        </p:txBody>
      </p:sp>
      <p:sp>
        <p:nvSpPr>
          <p:cNvPr id="33" name="TextBox 32"/>
          <p:cNvSpPr txBox="1"/>
          <p:nvPr/>
        </p:nvSpPr>
        <p:spPr>
          <a:xfrm>
            <a:off x="6263640" y="5285232"/>
            <a:ext cx="5120640" cy="45720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Natural fit: a festival weekend or a regional weather event is exactly a short, predictable burst.</a:t>
            </a:r>
          </a:p>
        </p:txBody>
      </p:sp>
      <p:sp>
        <p:nvSpPr>
          <p:cNvPr id="34" name="Rounded Rectangle 33"/>
          <p:cNvSpPr/>
          <p:nvPr/>
        </p:nvSpPr>
        <p:spPr>
          <a:xfrm>
            <a:off x="777240" y="5870448"/>
            <a:ext cx="10607040" cy="365760"/>
          </a:xfrm>
          <a:prstGeom prst="roundRect">
            <a:avLst>
              <a:gd name="adj" fmla="val 3500"/>
            </a:avLst>
          </a:prstGeom>
          <a:solidFill>
            <a:srgbClr val="0C1322"/>
          </a:solidFill>
          <a:ln w="1270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960120" y="5943600"/>
            <a:ext cx="10241280" cy="256032"/>
          </a:xfrm>
          <a:prstGeom prst="rect">
            <a:avLst/>
          </a:prstGeom>
          <a:noFill/>
        </p:spPr>
        <p:txBody>
          <a:bodyPr wrap="square" lIns="0" tIns="0" rIns="0" bIns="0" anchor="t">
            <a:spAutoFit/>
          </a:bodyPr>
          <a:lstStyle/>
          <a:p>
            <a:pPr algn="l">
              <a:lnSpc>
                <a:spcPct val="125000"/>
              </a:lnSpc>
            </a:pPr>
            <a:r>
              <a:rPr sz="950" b="0" i="0">
                <a:solidFill>
                  <a:srgbClr val="F5B14C"/>
                </a:solidFill>
                <a:latin typeface="Segoe UI"/>
              </a:rPr>
              <a:t>Neither is currently implemented. RoadAssist runs a single API process behind an HTTPS tunnel for demonstration; both are described as target architecture.</a:t>
            </a:r>
          </a:p>
        </p:txBody>
      </p:sp>
      <p:sp>
        <p:nvSpPr>
          <p:cNvPr id="36" name="Rounded Rectangle 35"/>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7" name="Rounded Rectangle 36"/>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8" name="Rounded Rectangle 37"/>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9" name="Rounded Rectangle 38"/>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40" name="TextBox 39"/>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22</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4 · ELASTIC DISK PROVISIONING + REDUNDANT STORAGE</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2900" b="1" i="0">
                <a:solidFill>
                  <a:srgbClr val="F4F7FB"/>
                </a:solidFill>
                <a:latin typeface="Segoe UI Semibold"/>
              </a:rPr>
              <a:t>STORAGE THAT GROWS WITH THE SYSTEM</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TextBox 5"/>
          <p:cNvSpPr txBox="1"/>
          <p:nvPr/>
        </p:nvSpPr>
        <p:spPr>
          <a:xfrm>
            <a:off x="777240" y="2103120"/>
            <a:ext cx="5029200" cy="274320"/>
          </a:xfrm>
          <a:prstGeom prst="rect">
            <a:avLst/>
          </a:prstGeom>
          <a:noFill/>
        </p:spPr>
        <p:txBody>
          <a:bodyPr wrap="square" lIns="0" tIns="0" rIns="0" bIns="0" anchor="t">
            <a:spAutoFit/>
          </a:bodyPr>
          <a:lstStyle/>
          <a:p>
            <a:pPr algn="l">
              <a:lnSpc>
                <a:spcPct val="125000"/>
              </a:lnSpc>
            </a:pPr>
            <a:r>
              <a:rPr sz="1100" b="1" i="0" spc="160">
                <a:solidFill>
                  <a:srgbClr val="22D3EE"/>
                </a:solidFill>
                <a:latin typeface="Segoe UI"/>
              </a:rPr>
              <a:t>ELASTIC DISK PROVISIONING</a:t>
            </a:r>
          </a:p>
        </p:txBody>
      </p:sp>
      <p:sp>
        <p:nvSpPr>
          <p:cNvPr id="7" name="Rounded Rectangle 6"/>
          <p:cNvSpPr/>
          <p:nvPr/>
        </p:nvSpPr>
        <p:spPr>
          <a:xfrm>
            <a:off x="777240" y="2468880"/>
            <a:ext cx="5029200" cy="530352"/>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DATA ARRIVES</a:t>
            </a:r>
          </a:p>
          <a:p>
            <a:pPr algn="ctr">
              <a:lnSpc>
                <a:spcPct val="110000"/>
              </a:lnSpc>
            </a:pPr>
            <a:r>
              <a:rPr sz="850">
                <a:solidFill>
                  <a:srgbClr val="93A1B5"/>
                </a:solidFill>
                <a:latin typeface="Segoe UI"/>
              </a:rPr>
              <a:t>bookings · detections · documents · audit</a:t>
            </a:r>
          </a:p>
        </p:txBody>
      </p:sp>
      <p:cxnSp>
        <p:nvCxnSpPr>
          <p:cNvPr id="8" name="Connector 7"/>
          <p:cNvCxnSpPr/>
          <p:nvPr/>
        </p:nvCxnSpPr>
        <p:spPr>
          <a:xfrm>
            <a:off x="3291840" y="3017520"/>
            <a:ext cx="0" cy="182880"/>
          </a:xfrm>
          <a:prstGeom prst="line">
            <a:avLst/>
          </a:prstGeom>
          <a:ln w="1651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9" name="Rounded Rectangle 8"/>
          <p:cNvSpPr/>
          <p:nvPr/>
        </p:nvSpPr>
        <p:spPr>
          <a:xfrm>
            <a:off x="777240" y="3218688"/>
            <a:ext cx="5029200" cy="530352"/>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STORAGE POOL</a:t>
            </a:r>
          </a:p>
          <a:p>
            <a:pPr algn="ctr">
              <a:lnSpc>
                <a:spcPct val="110000"/>
              </a:lnSpc>
            </a:pPr>
            <a:r>
              <a:rPr sz="850">
                <a:solidFill>
                  <a:srgbClr val="93A1B5"/>
                </a:solidFill>
                <a:latin typeface="Segoe UI"/>
              </a:rPr>
              <a:t>allocated on demand, billed on use</a:t>
            </a:r>
          </a:p>
        </p:txBody>
      </p:sp>
      <p:cxnSp>
        <p:nvCxnSpPr>
          <p:cNvPr id="10" name="Connector 9"/>
          <p:cNvCxnSpPr/>
          <p:nvPr/>
        </p:nvCxnSpPr>
        <p:spPr>
          <a:xfrm>
            <a:off x="3291840" y="3767328"/>
            <a:ext cx="0" cy="182880"/>
          </a:xfrm>
          <a:prstGeom prst="line">
            <a:avLst/>
          </a:prstGeom>
          <a:ln w="1651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777240" y="3977639"/>
            <a:ext cx="1280160" cy="365760"/>
          </a:xfrm>
          <a:prstGeom prst="roundRect">
            <a:avLst>
              <a:gd name="adj" fmla="val 2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868680" y="4041648"/>
            <a:ext cx="1188720" cy="237744"/>
          </a:xfrm>
          <a:prstGeom prst="rect">
            <a:avLst/>
          </a:prstGeom>
          <a:noFill/>
        </p:spPr>
        <p:txBody>
          <a:bodyPr wrap="square" lIns="0" tIns="0" rIns="0" bIns="0" anchor="t">
            <a:spAutoFit/>
          </a:bodyPr>
          <a:lstStyle/>
          <a:p>
            <a:pPr algn="l">
              <a:lnSpc>
                <a:spcPct val="125000"/>
              </a:lnSpc>
            </a:pPr>
            <a:r>
              <a:rPr sz="850" b="1" i="0">
                <a:solidFill>
                  <a:srgbClr val="070B14"/>
                </a:solidFill>
                <a:latin typeface="Segoe UI"/>
              </a:rPr>
              <a:t>MONTH 1</a:t>
            </a:r>
          </a:p>
        </p:txBody>
      </p:sp>
      <p:sp>
        <p:nvSpPr>
          <p:cNvPr id="13" name="Rounded Rectangle 12"/>
          <p:cNvSpPr/>
          <p:nvPr/>
        </p:nvSpPr>
        <p:spPr>
          <a:xfrm>
            <a:off x="777240" y="4453127"/>
            <a:ext cx="2468880" cy="365760"/>
          </a:xfrm>
          <a:prstGeom prst="roundRect">
            <a:avLst>
              <a:gd name="adj" fmla="val 2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68680" y="4517136"/>
            <a:ext cx="1188720" cy="237744"/>
          </a:xfrm>
          <a:prstGeom prst="rect">
            <a:avLst/>
          </a:prstGeom>
          <a:noFill/>
        </p:spPr>
        <p:txBody>
          <a:bodyPr wrap="square" lIns="0" tIns="0" rIns="0" bIns="0" anchor="t">
            <a:spAutoFit/>
          </a:bodyPr>
          <a:lstStyle/>
          <a:p>
            <a:pPr algn="l">
              <a:lnSpc>
                <a:spcPct val="125000"/>
              </a:lnSpc>
            </a:pPr>
            <a:r>
              <a:rPr sz="850" b="1" i="0">
                <a:solidFill>
                  <a:srgbClr val="070B14"/>
                </a:solidFill>
                <a:latin typeface="Segoe UI"/>
              </a:rPr>
              <a:t>MONTH 6</a:t>
            </a:r>
          </a:p>
        </p:txBody>
      </p:sp>
      <p:sp>
        <p:nvSpPr>
          <p:cNvPr id="15" name="Rounded Rectangle 14"/>
          <p:cNvSpPr/>
          <p:nvPr/>
        </p:nvSpPr>
        <p:spPr>
          <a:xfrm>
            <a:off x="777240" y="4928616"/>
            <a:ext cx="3840480" cy="365760"/>
          </a:xfrm>
          <a:prstGeom prst="roundRect">
            <a:avLst>
              <a:gd name="adj" fmla="val 25000"/>
            </a:avLst>
          </a:prstGeom>
          <a:solidFill>
            <a:srgbClr val="22D3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68680" y="4992624"/>
            <a:ext cx="1188720" cy="237744"/>
          </a:xfrm>
          <a:prstGeom prst="rect">
            <a:avLst/>
          </a:prstGeom>
          <a:noFill/>
        </p:spPr>
        <p:txBody>
          <a:bodyPr wrap="square" lIns="0" tIns="0" rIns="0" bIns="0" anchor="t">
            <a:spAutoFit/>
          </a:bodyPr>
          <a:lstStyle/>
          <a:p>
            <a:pPr algn="l">
              <a:lnSpc>
                <a:spcPct val="125000"/>
              </a:lnSpc>
            </a:pPr>
            <a:r>
              <a:rPr sz="850" b="1" i="0">
                <a:solidFill>
                  <a:srgbClr val="070B14"/>
                </a:solidFill>
                <a:latin typeface="Segoe UI"/>
              </a:rPr>
              <a:t>MONTH 12</a:t>
            </a:r>
          </a:p>
        </p:txBody>
      </p:sp>
      <p:sp>
        <p:nvSpPr>
          <p:cNvPr id="17" name="TextBox 16"/>
          <p:cNvSpPr txBox="1"/>
          <p:nvPr/>
        </p:nvSpPr>
        <p:spPr>
          <a:xfrm>
            <a:off x="777240" y="5468112"/>
            <a:ext cx="502920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Capacity follows actual growth rather than being bought up-front for a size nobody can predict.</a:t>
            </a:r>
          </a:p>
        </p:txBody>
      </p:sp>
      <p:sp>
        <p:nvSpPr>
          <p:cNvPr id="18" name="TextBox 17"/>
          <p:cNvSpPr txBox="1"/>
          <p:nvPr/>
        </p:nvSpPr>
        <p:spPr>
          <a:xfrm>
            <a:off x="6263640" y="2103120"/>
            <a:ext cx="5120640" cy="274320"/>
          </a:xfrm>
          <a:prstGeom prst="rect">
            <a:avLst/>
          </a:prstGeom>
          <a:noFill/>
        </p:spPr>
        <p:txBody>
          <a:bodyPr wrap="square" lIns="0" tIns="0" rIns="0" bIns="0" anchor="t">
            <a:spAutoFit/>
          </a:bodyPr>
          <a:lstStyle/>
          <a:p>
            <a:pPr algn="l">
              <a:lnSpc>
                <a:spcPct val="125000"/>
              </a:lnSpc>
            </a:pPr>
            <a:r>
              <a:rPr sz="1100" b="1" i="0" spc="160">
                <a:solidFill>
                  <a:srgbClr val="FF4D5E"/>
                </a:solidFill>
                <a:latin typeface="Segoe UI"/>
              </a:rPr>
              <a:t>REDUNDANT STORAGE</a:t>
            </a:r>
          </a:p>
        </p:txBody>
      </p:sp>
      <p:sp>
        <p:nvSpPr>
          <p:cNvPr id="19" name="Rounded Rectangle 18"/>
          <p:cNvSpPr/>
          <p:nvPr/>
        </p:nvSpPr>
        <p:spPr>
          <a:xfrm>
            <a:off x="6263640" y="2468880"/>
            <a:ext cx="2331720" cy="658368"/>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PRIMARY</a:t>
            </a:r>
          </a:p>
          <a:p>
            <a:pPr algn="ctr">
              <a:lnSpc>
                <a:spcPct val="110000"/>
              </a:lnSpc>
            </a:pPr>
            <a:r>
              <a:rPr sz="850">
                <a:solidFill>
                  <a:srgbClr val="93A1B5"/>
                </a:solidFill>
                <a:latin typeface="Segoe UI"/>
              </a:rPr>
              <a:t>authoritative</a:t>
            </a:r>
          </a:p>
        </p:txBody>
      </p:sp>
      <p:sp>
        <p:nvSpPr>
          <p:cNvPr id="20" name="Rounded Rectangle 19"/>
          <p:cNvSpPr/>
          <p:nvPr/>
        </p:nvSpPr>
        <p:spPr>
          <a:xfrm>
            <a:off x="9052560" y="2468880"/>
            <a:ext cx="2331720" cy="658368"/>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100" b="1">
                <a:solidFill>
                  <a:srgbClr val="F4F7FB"/>
                </a:solidFill>
                <a:latin typeface="Segoe UI Semibold"/>
              </a:rPr>
              <a:t>REPLICA</a:t>
            </a:r>
          </a:p>
          <a:p>
            <a:pPr algn="ctr">
              <a:lnSpc>
                <a:spcPct val="110000"/>
              </a:lnSpc>
            </a:pPr>
            <a:r>
              <a:rPr sz="850">
                <a:solidFill>
                  <a:srgbClr val="93A1B5"/>
                </a:solidFill>
                <a:latin typeface="Segoe UI"/>
              </a:rPr>
              <a:t>synchronised copy</a:t>
            </a:r>
          </a:p>
        </p:txBody>
      </p:sp>
      <p:cxnSp>
        <p:nvCxnSpPr>
          <p:cNvPr id="21" name="Connector 20"/>
          <p:cNvCxnSpPr/>
          <p:nvPr/>
        </p:nvCxnSpPr>
        <p:spPr>
          <a:xfrm>
            <a:off x="8613648" y="2798064"/>
            <a:ext cx="420624" cy="0"/>
          </a:xfrm>
          <a:prstGeom prst="line">
            <a:avLst/>
          </a:prstGeom>
          <a:ln w="16510">
            <a:solidFill>
              <a:srgbClr val="F5B14C"/>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a:off x="8613648" y="2962656"/>
            <a:ext cx="420624" cy="0"/>
          </a:xfrm>
          <a:prstGeom prst="line">
            <a:avLst/>
          </a:prstGeom>
          <a:ln w="12700">
            <a:solidFill>
              <a:srgbClr val="F5B14C"/>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23" name="Rounded Rectangle 22"/>
          <p:cNvSpPr/>
          <p:nvPr/>
        </p:nvSpPr>
        <p:spPr>
          <a:xfrm>
            <a:off x="6263640" y="3401568"/>
            <a:ext cx="164592" cy="164592"/>
          </a:xfrm>
          <a:prstGeom prst="roundRect">
            <a:avLst>
              <a:gd name="adj" fmla="val 50000"/>
            </a:avLst>
          </a:prstGeom>
          <a:solidFill>
            <a:srgbClr val="FF4D5E"/>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4" name="TextBox 23"/>
          <p:cNvSpPr txBox="1"/>
          <p:nvPr/>
        </p:nvSpPr>
        <p:spPr>
          <a:xfrm>
            <a:off x="6537960" y="3346704"/>
            <a:ext cx="48463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Vehicle information</a:t>
            </a:r>
          </a:p>
        </p:txBody>
      </p:sp>
      <p:sp>
        <p:nvSpPr>
          <p:cNvPr id="25" name="TextBox 24"/>
          <p:cNvSpPr txBox="1"/>
          <p:nvPr/>
        </p:nvSpPr>
        <p:spPr>
          <a:xfrm>
            <a:off x="6537960" y="3557016"/>
            <a:ext cx="4846320" cy="219456"/>
          </a:xfrm>
          <a:prstGeom prst="rect">
            <a:avLst/>
          </a:prstGeom>
          <a:noFill/>
        </p:spPr>
        <p:txBody>
          <a:bodyPr wrap="square" lIns="0" tIns="0" rIns="0" bIns="0" anchor="t">
            <a:spAutoFit/>
          </a:bodyPr>
          <a:lstStyle/>
          <a:p>
            <a:pPr algn="l">
              <a:lnSpc>
                <a:spcPct val="125000"/>
              </a:lnSpc>
            </a:pPr>
            <a:r>
              <a:rPr sz="850" b="0" i="0">
                <a:solidFill>
                  <a:srgbClr val="93A1B5"/>
                </a:solidFill>
                <a:latin typeface="Segoe UI"/>
              </a:rPr>
              <a:t>registrations, class, documents</a:t>
            </a:r>
          </a:p>
        </p:txBody>
      </p:sp>
      <p:sp>
        <p:nvSpPr>
          <p:cNvPr id="26" name="Rounded Rectangle 25"/>
          <p:cNvSpPr/>
          <p:nvPr/>
        </p:nvSpPr>
        <p:spPr>
          <a:xfrm>
            <a:off x="6263640" y="3858768"/>
            <a:ext cx="164592" cy="164592"/>
          </a:xfrm>
          <a:prstGeom prst="roundRect">
            <a:avLst>
              <a:gd name="adj" fmla="val 50000"/>
            </a:avLst>
          </a:prstGeom>
          <a:solidFill>
            <a:srgbClr val="FF4D5E"/>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27" name="TextBox 26"/>
          <p:cNvSpPr txBox="1"/>
          <p:nvPr/>
        </p:nvSpPr>
        <p:spPr>
          <a:xfrm>
            <a:off x="6537960" y="3803904"/>
            <a:ext cx="48463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Booking records</a:t>
            </a:r>
          </a:p>
        </p:txBody>
      </p:sp>
      <p:sp>
        <p:nvSpPr>
          <p:cNvPr id="28" name="TextBox 27"/>
          <p:cNvSpPr txBox="1"/>
          <p:nvPr/>
        </p:nvSpPr>
        <p:spPr>
          <a:xfrm>
            <a:off x="6537960" y="4014215"/>
            <a:ext cx="4846320" cy="219456"/>
          </a:xfrm>
          <a:prstGeom prst="rect">
            <a:avLst/>
          </a:prstGeom>
          <a:noFill/>
        </p:spPr>
        <p:txBody>
          <a:bodyPr wrap="square" lIns="0" tIns="0" rIns="0" bIns="0" anchor="t">
            <a:spAutoFit/>
          </a:bodyPr>
          <a:lstStyle/>
          <a:p>
            <a:pPr algn="l">
              <a:lnSpc>
                <a:spcPct val="125000"/>
              </a:lnSpc>
            </a:pPr>
            <a:r>
              <a:rPr sz="850" b="0" i="0">
                <a:solidFill>
                  <a:srgbClr val="93A1B5"/>
                </a:solidFill>
                <a:latin typeface="Segoe UI"/>
              </a:rPr>
              <a:t>state history, offers, invoices</a:t>
            </a:r>
          </a:p>
        </p:txBody>
      </p:sp>
      <p:sp>
        <p:nvSpPr>
          <p:cNvPr id="29" name="Rounded Rectangle 28"/>
          <p:cNvSpPr/>
          <p:nvPr/>
        </p:nvSpPr>
        <p:spPr>
          <a:xfrm>
            <a:off x="6263640" y="4315968"/>
            <a:ext cx="164592" cy="164592"/>
          </a:xfrm>
          <a:prstGeom prst="roundRect">
            <a:avLst>
              <a:gd name="adj" fmla="val 50000"/>
            </a:avLst>
          </a:prstGeom>
          <a:solidFill>
            <a:srgbClr val="FF4D5E"/>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0" name="TextBox 29"/>
          <p:cNvSpPr txBox="1"/>
          <p:nvPr/>
        </p:nvSpPr>
        <p:spPr>
          <a:xfrm>
            <a:off x="6537960" y="4261104"/>
            <a:ext cx="48463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Service records</a:t>
            </a:r>
          </a:p>
        </p:txBody>
      </p:sp>
      <p:sp>
        <p:nvSpPr>
          <p:cNvPr id="31" name="TextBox 30"/>
          <p:cNvSpPr txBox="1"/>
          <p:nvPr/>
        </p:nvSpPr>
        <p:spPr>
          <a:xfrm>
            <a:off x="6537960" y="4471416"/>
            <a:ext cx="4846320" cy="219456"/>
          </a:xfrm>
          <a:prstGeom prst="rect">
            <a:avLst/>
          </a:prstGeom>
          <a:noFill/>
        </p:spPr>
        <p:txBody>
          <a:bodyPr wrap="square" lIns="0" tIns="0" rIns="0" bIns="0" anchor="t">
            <a:spAutoFit/>
          </a:bodyPr>
          <a:lstStyle/>
          <a:p>
            <a:pPr algn="l">
              <a:lnSpc>
                <a:spcPct val="125000"/>
              </a:lnSpc>
            </a:pPr>
            <a:r>
              <a:rPr sz="850" b="0" i="0">
                <a:solidFill>
                  <a:srgbClr val="93A1B5"/>
                </a:solidFill>
                <a:latin typeface="Segoe UI"/>
              </a:rPr>
              <a:t>completed work, reviews, ratings</a:t>
            </a:r>
          </a:p>
        </p:txBody>
      </p:sp>
      <p:sp>
        <p:nvSpPr>
          <p:cNvPr id="32" name="Rounded Rectangle 31"/>
          <p:cNvSpPr/>
          <p:nvPr/>
        </p:nvSpPr>
        <p:spPr>
          <a:xfrm>
            <a:off x="6263640" y="4773168"/>
            <a:ext cx="164592" cy="164592"/>
          </a:xfrm>
          <a:prstGeom prst="roundRect">
            <a:avLst>
              <a:gd name="adj" fmla="val 50000"/>
            </a:avLst>
          </a:prstGeom>
          <a:solidFill>
            <a:srgbClr val="FF4D5E"/>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3" name="TextBox 32"/>
          <p:cNvSpPr txBox="1"/>
          <p:nvPr/>
        </p:nvSpPr>
        <p:spPr>
          <a:xfrm>
            <a:off x="6537960" y="4718304"/>
            <a:ext cx="48463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Audit information</a:t>
            </a:r>
          </a:p>
        </p:txBody>
      </p:sp>
      <p:sp>
        <p:nvSpPr>
          <p:cNvPr id="34" name="TextBox 33"/>
          <p:cNvSpPr txBox="1"/>
          <p:nvPr/>
        </p:nvSpPr>
        <p:spPr>
          <a:xfrm>
            <a:off x="6537960" y="4928616"/>
            <a:ext cx="4846320" cy="219456"/>
          </a:xfrm>
          <a:prstGeom prst="rect">
            <a:avLst/>
          </a:prstGeom>
          <a:noFill/>
        </p:spPr>
        <p:txBody>
          <a:bodyPr wrap="square" lIns="0" tIns="0" rIns="0" bIns="0" anchor="t">
            <a:spAutoFit/>
          </a:bodyPr>
          <a:lstStyle/>
          <a:p>
            <a:pPr algn="l">
              <a:lnSpc>
                <a:spcPct val="125000"/>
              </a:lnSpc>
            </a:pPr>
            <a:r>
              <a:rPr sz="850" b="0" i="0">
                <a:solidFill>
                  <a:srgbClr val="93A1B5"/>
                </a:solidFill>
                <a:latin typeface="Segoe UI"/>
              </a:rPr>
              <a:t>hash-chained, must survive intact</a:t>
            </a:r>
          </a:p>
        </p:txBody>
      </p:sp>
      <p:sp>
        <p:nvSpPr>
          <p:cNvPr id="35" name="Rounded Rectangle 34"/>
          <p:cNvSpPr/>
          <p:nvPr/>
        </p:nvSpPr>
        <p:spPr>
          <a:xfrm>
            <a:off x="6263640" y="5230368"/>
            <a:ext cx="164592" cy="164592"/>
          </a:xfrm>
          <a:prstGeom prst="roundRect">
            <a:avLst>
              <a:gd name="adj" fmla="val 50000"/>
            </a:avLst>
          </a:prstGeom>
          <a:solidFill>
            <a:srgbClr val="FF4D5E"/>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endParaRPr/>
          </a:p>
        </p:txBody>
      </p:sp>
      <p:sp>
        <p:nvSpPr>
          <p:cNvPr id="36" name="TextBox 35"/>
          <p:cNvSpPr txBox="1"/>
          <p:nvPr/>
        </p:nvSpPr>
        <p:spPr>
          <a:xfrm>
            <a:off x="6537960" y="5175504"/>
            <a:ext cx="4846320" cy="237744"/>
          </a:xfrm>
          <a:prstGeom prst="rect">
            <a:avLst/>
          </a:prstGeom>
          <a:noFill/>
        </p:spPr>
        <p:txBody>
          <a:bodyPr wrap="square" lIns="0" tIns="0" rIns="0" bIns="0" anchor="t">
            <a:spAutoFit/>
          </a:bodyPr>
          <a:lstStyle/>
          <a:p>
            <a:pPr algn="l">
              <a:lnSpc>
                <a:spcPct val="125000"/>
              </a:lnSpc>
            </a:pPr>
            <a:r>
              <a:rPr sz="1050" b="1" i="0">
                <a:solidFill>
                  <a:srgbClr val="F4F7FB"/>
                </a:solidFill>
                <a:latin typeface="Segoe UI"/>
              </a:rPr>
              <a:t>RAKSHA operational data</a:t>
            </a:r>
          </a:p>
        </p:txBody>
      </p:sp>
      <p:sp>
        <p:nvSpPr>
          <p:cNvPr id="37" name="TextBox 36"/>
          <p:cNvSpPr txBox="1"/>
          <p:nvPr/>
        </p:nvSpPr>
        <p:spPr>
          <a:xfrm>
            <a:off x="6537960" y="5385816"/>
            <a:ext cx="4846320" cy="219456"/>
          </a:xfrm>
          <a:prstGeom prst="rect">
            <a:avLst/>
          </a:prstGeom>
          <a:noFill/>
        </p:spPr>
        <p:txBody>
          <a:bodyPr wrap="square" lIns="0" tIns="0" rIns="0" bIns="0" anchor="t">
            <a:spAutoFit/>
          </a:bodyPr>
          <a:lstStyle/>
          <a:p>
            <a:pPr algn="l">
              <a:lnSpc>
                <a:spcPct val="125000"/>
              </a:lnSpc>
            </a:pPr>
            <a:r>
              <a:rPr sz="850" b="0" i="0">
                <a:solidFill>
                  <a:srgbClr val="93A1B5"/>
                </a:solidFill>
                <a:latin typeface="Segoe UI"/>
              </a:rPr>
              <a:t>detections, road health, devices</a:t>
            </a:r>
          </a:p>
        </p:txBody>
      </p:sp>
      <p:sp>
        <p:nvSpPr>
          <p:cNvPr id="38" name="TextBox 37"/>
          <p:cNvSpPr txBox="1"/>
          <p:nvPr/>
        </p:nvSpPr>
        <p:spPr>
          <a:xfrm>
            <a:off x="6263640" y="5650992"/>
            <a:ext cx="5120640" cy="292608"/>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The audit chain is the strongest case: it is legally meaningful only if it cannot be lost.</a:t>
            </a:r>
          </a:p>
        </p:txBody>
      </p:sp>
      <p:sp>
        <p:nvSpPr>
          <p:cNvPr id="39" name="Rounded Rectangle 38"/>
          <p:cNvSpPr/>
          <p:nvPr/>
        </p:nvSpPr>
        <p:spPr>
          <a:xfrm>
            <a:off x="777240" y="6053328"/>
            <a:ext cx="10607040" cy="310896"/>
          </a:xfrm>
          <a:prstGeom prst="roundRect">
            <a:avLst>
              <a:gd name="adj" fmla="val 3500"/>
            </a:avLst>
          </a:prstGeom>
          <a:solidFill>
            <a:srgbClr val="0C1322"/>
          </a:solidFill>
          <a:ln w="1270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0" name="TextBox 39"/>
          <p:cNvSpPr txBox="1"/>
          <p:nvPr/>
        </p:nvSpPr>
        <p:spPr>
          <a:xfrm>
            <a:off x="960120" y="6108192"/>
            <a:ext cx="10241280" cy="237744"/>
          </a:xfrm>
          <a:prstGeom prst="rect">
            <a:avLst/>
          </a:prstGeom>
          <a:noFill/>
        </p:spPr>
        <p:txBody>
          <a:bodyPr wrap="square" lIns="0" tIns="0" rIns="0" bIns="0" anchor="t">
            <a:spAutoFit/>
          </a:bodyPr>
          <a:lstStyle/>
          <a:p>
            <a:pPr algn="l">
              <a:lnSpc>
                <a:spcPct val="125000"/>
              </a:lnSpc>
            </a:pPr>
            <a:r>
              <a:rPr sz="900" b="0" i="0">
                <a:solidFill>
                  <a:srgbClr val="F5B14C"/>
                </a:solidFill>
                <a:latin typeface="Segoe UI"/>
              </a:rPr>
              <a:t>Current implementation: one PostgreSQL instance with a fixed local volume. Both architectures on this slide are target state.</a:t>
            </a:r>
          </a:p>
        </p:txBody>
      </p:sp>
      <p:sp>
        <p:nvSpPr>
          <p:cNvPr id="41" name="Rounded Rectangle 40"/>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42" name="Rounded Rectangle 41"/>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43" name="Rounded Rectangle 42"/>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44" name="Rounded Rectangle 43"/>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45" name="TextBox 4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23</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mod.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MODULE 4 · MIGRATION · STATIC AND DYNAMIC SCHEDULING</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OPERATING THE CLOUD</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22D3EE"/>
                </a:solidFill>
                <a:latin typeface="Segoe UI"/>
              </a:rPr>
              <a:t>ARCHITECTURAL CONCEPT</a:t>
            </a:r>
          </a:p>
        </p:txBody>
      </p:sp>
      <p:sp>
        <p:nvSpPr>
          <p:cNvPr id="6" name="Rounded Rectangle 5"/>
          <p:cNvSpPr/>
          <p:nvPr/>
        </p:nvSpPr>
        <p:spPr>
          <a:xfrm>
            <a:off x="777240" y="2194560"/>
            <a:ext cx="3383280" cy="3520440"/>
          </a:xfrm>
          <a:prstGeom prst="roundRect">
            <a:avLst>
              <a:gd name="adj" fmla="val 3500"/>
            </a:avLst>
          </a:prstGeom>
          <a:solidFill>
            <a:srgbClr val="0C1322"/>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005840" y="2359152"/>
            <a:ext cx="2926080" cy="274320"/>
          </a:xfrm>
          <a:prstGeom prst="rect">
            <a:avLst/>
          </a:prstGeom>
          <a:noFill/>
        </p:spPr>
        <p:txBody>
          <a:bodyPr wrap="square" lIns="0" tIns="0" rIns="0" bIns="0" anchor="t">
            <a:spAutoFit/>
          </a:bodyPr>
          <a:lstStyle/>
          <a:p>
            <a:pPr algn="l">
              <a:lnSpc>
                <a:spcPct val="125000"/>
              </a:lnSpc>
            </a:pPr>
            <a:r>
              <a:rPr sz="1250" b="1" i="0" spc="150">
                <a:solidFill>
                  <a:srgbClr val="2E7DFF"/>
                </a:solidFill>
                <a:latin typeface="Segoe UI Semibold"/>
              </a:rPr>
              <a:t>MIGRATION</a:t>
            </a:r>
          </a:p>
        </p:txBody>
      </p:sp>
      <p:sp>
        <p:nvSpPr>
          <p:cNvPr id="8" name="TextBox 7"/>
          <p:cNvSpPr txBox="1"/>
          <p:nvPr/>
        </p:nvSpPr>
        <p:spPr>
          <a:xfrm>
            <a:off x="1005840" y="2670048"/>
            <a:ext cx="2926080" cy="868680"/>
          </a:xfrm>
          <a:prstGeom prst="rect">
            <a:avLst/>
          </a:prstGeom>
          <a:noFill/>
        </p:spPr>
        <p:txBody>
          <a:bodyPr wrap="square" lIns="0" tIns="0" rIns="0" bIns="0" anchor="t">
            <a:spAutoFit/>
          </a:bodyPr>
          <a:lstStyle/>
          <a:p>
            <a:pPr algn="l">
              <a:lnSpc>
                <a:spcPct val="135000"/>
              </a:lnSpc>
            </a:pPr>
            <a:r>
              <a:rPr sz="950" b="0" i="0">
                <a:solidFill>
                  <a:srgbClr val="93A1B5"/>
                </a:solidFill>
                <a:latin typeface="Segoe UI"/>
              </a:rPr>
              <a:t>Moving a workload or resource from one host to another — for maintenance, consolidation, cost, or to recover from a failing node.</a:t>
            </a:r>
          </a:p>
        </p:txBody>
      </p:sp>
      <p:sp>
        <p:nvSpPr>
          <p:cNvPr id="9" name="Rounded Rectangle 8"/>
          <p:cNvSpPr/>
          <p:nvPr/>
        </p:nvSpPr>
        <p:spPr>
          <a:xfrm>
            <a:off x="1005840" y="3703320"/>
            <a:ext cx="2926080" cy="457200"/>
          </a:xfrm>
          <a:prstGeom prst="roundRect">
            <a:avLst>
              <a:gd name="adj" fmla="val 3500"/>
            </a:avLst>
          </a:prstGeom>
          <a:solidFill>
            <a:srgbClr val="0C1322"/>
          </a:solidFill>
          <a:ln w="15875">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Source host</a:t>
            </a:r>
          </a:p>
        </p:txBody>
      </p:sp>
      <p:cxnSp>
        <p:nvCxnSpPr>
          <p:cNvPr id="10" name="Connector 9"/>
          <p:cNvCxnSpPr/>
          <p:nvPr/>
        </p:nvCxnSpPr>
        <p:spPr>
          <a:xfrm>
            <a:off x="2468880" y="4178808"/>
            <a:ext cx="0" cy="146304"/>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1" name="Rounded Rectangle 10"/>
          <p:cNvSpPr/>
          <p:nvPr/>
        </p:nvSpPr>
        <p:spPr>
          <a:xfrm>
            <a:off x="1005840" y="4343400"/>
            <a:ext cx="2926080" cy="45720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workload moves</a:t>
            </a:r>
          </a:p>
        </p:txBody>
      </p:sp>
      <p:cxnSp>
        <p:nvCxnSpPr>
          <p:cNvPr id="12" name="Connector 11"/>
          <p:cNvCxnSpPr/>
          <p:nvPr/>
        </p:nvCxnSpPr>
        <p:spPr>
          <a:xfrm>
            <a:off x="2468880" y="4818888"/>
            <a:ext cx="0" cy="146304"/>
          </a:xfrm>
          <a:prstGeom prst="line">
            <a:avLst/>
          </a:prstGeom>
          <a:ln w="13970">
            <a:solidFill>
              <a:srgbClr val="2E7DFF"/>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1005840" y="4983480"/>
            <a:ext cx="2926080" cy="45720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Target host</a:t>
            </a:r>
          </a:p>
        </p:txBody>
      </p:sp>
      <p:sp>
        <p:nvSpPr>
          <p:cNvPr id="14" name="Rounded Rectangle 13"/>
          <p:cNvSpPr/>
          <p:nvPr/>
        </p:nvSpPr>
        <p:spPr>
          <a:xfrm>
            <a:off x="4389120" y="2194560"/>
            <a:ext cx="3383280" cy="3520440"/>
          </a:xfrm>
          <a:prstGeom prst="roundRect">
            <a:avLst>
              <a:gd name="adj" fmla="val 3500"/>
            </a:avLst>
          </a:prstGeom>
          <a:solidFill>
            <a:srgbClr val="0C1322"/>
          </a:solidFill>
          <a:ln w="1651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617720" y="2359152"/>
            <a:ext cx="2926080" cy="274320"/>
          </a:xfrm>
          <a:prstGeom prst="rect">
            <a:avLst/>
          </a:prstGeom>
          <a:noFill/>
        </p:spPr>
        <p:txBody>
          <a:bodyPr wrap="square" lIns="0" tIns="0" rIns="0" bIns="0" anchor="t">
            <a:spAutoFit/>
          </a:bodyPr>
          <a:lstStyle/>
          <a:p>
            <a:pPr algn="l">
              <a:lnSpc>
                <a:spcPct val="125000"/>
              </a:lnSpc>
            </a:pPr>
            <a:r>
              <a:rPr sz="1250" b="1" i="0" spc="150">
                <a:solidFill>
                  <a:srgbClr val="22D3EE"/>
                </a:solidFill>
                <a:latin typeface="Segoe UI Semibold"/>
              </a:rPr>
              <a:t>STATIC SCHEDULING</a:t>
            </a:r>
          </a:p>
        </p:txBody>
      </p:sp>
      <p:sp>
        <p:nvSpPr>
          <p:cNvPr id="16" name="TextBox 15"/>
          <p:cNvSpPr txBox="1"/>
          <p:nvPr/>
        </p:nvSpPr>
        <p:spPr>
          <a:xfrm>
            <a:off x="4617720" y="2670048"/>
            <a:ext cx="2926080" cy="868680"/>
          </a:xfrm>
          <a:prstGeom prst="rect">
            <a:avLst/>
          </a:prstGeom>
          <a:noFill/>
        </p:spPr>
        <p:txBody>
          <a:bodyPr wrap="square" lIns="0" tIns="0" rIns="0" bIns="0" anchor="t">
            <a:spAutoFit/>
          </a:bodyPr>
          <a:lstStyle/>
          <a:p>
            <a:pPr algn="l">
              <a:lnSpc>
                <a:spcPct val="135000"/>
              </a:lnSpc>
            </a:pPr>
            <a:r>
              <a:rPr sz="950" b="0" i="0">
                <a:solidFill>
                  <a:srgbClr val="93A1B5"/>
                </a:solidFill>
                <a:latin typeface="Segoe UI"/>
              </a:rPr>
              <a:t>Allocation decided in advance and held. Predictable, simple to reason about, but blind to what actually happens at runtime.</a:t>
            </a:r>
          </a:p>
        </p:txBody>
      </p:sp>
      <p:sp>
        <p:nvSpPr>
          <p:cNvPr id="17" name="Rounded Rectangle 16"/>
          <p:cNvSpPr/>
          <p:nvPr/>
        </p:nvSpPr>
        <p:spPr>
          <a:xfrm>
            <a:off x="4617720" y="3703320"/>
            <a:ext cx="2926080" cy="4572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Plan fixed ahead</a:t>
            </a:r>
          </a:p>
        </p:txBody>
      </p:sp>
      <p:cxnSp>
        <p:nvCxnSpPr>
          <p:cNvPr id="18" name="Connector 17"/>
          <p:cNvCxnSpPr/>
          <p:nvPr/>
        </p:nvCxnSpPr>
        <p:spPr>
          <a:xfrm>
            <a:off x="6080760" y="4178808"/>
            <a:ext cx="0" cy="146304"/>
          </a:xfrm>
          <a:prstGeom prst="line">
            <a:avLst/>
          </a:prstGeom>
          <a:ln w="13970">
            <a:solidFill>
              <a:srgbClr val="22D3EE"/>
            </a:solidFill>
            <a:tailEnd type="triangle" w="sm" len="sm"/>
          </a:ln>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4617720" y="4343400"/>
            <a:ext cx="2926080" cy="457200"/>
          </a:xfrm>
          <a:prstGeom prst="roundRect">
            <a:avLst>
              <a:gd name="adj" fmla="val 3500"/>
            </a:avLst>
          </a:prstGeom>
          <a:solidFill>
            <a:srgbClr val="0C1322"/>
          </a:solidFill>
          <a:ln w="15875">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Slot 1 · Slot 2 · Slot 3</a:t>
            </a:r>
          </a:p>
        </p:txBody>
      </p:sp>
      <p:cxnSp>
        <p:nvCxnSpPr>
          <p:cNvPr id="20" name="Connector 19"/>
          <p:cNvCxnSpPr/>
          <p:nvPr/>
        </p:nvCxnSpPr>
        <p:spPr>
          <a:xfrm>
            <a:off x="6080760" y="4818888"/>
            <a:ext cx="0" cy="146304"/>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617720" y="4983480"/>
            <a:ext cx="2926080" cy="45720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Unchanged under load</a:t>
            </a:r>
          </a:p>
        </p:txBody>
      </p:sp>
      <p:sp>
        <p:nvSpPr>
          <p:cNvPr id="22" name="Rounded Rectangle 21"/>
          <p:cNvSpPr/>
          <p:nvPr/>
        </p:nvSpPr>
        <p:spPr>
          <a:xfrm>
            <a:off x="8001000" y="2194560"/>
            <a:ext cx="3383280" cy="3520440"/>
          </a:xfrm>
          <a:prstGeom prst="roundRect">
            <a:avLst>
              <a:gd name="adj" fmla="val 3500"/>
            </a:avLst>
          </a:prstGeom>
          <a:solidFill>
            <a:srgbClr val="0C1322"/>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29600" y="2359152"/>
            <a:ext cx="2926080" cy="274320"/>
          </a:xfrm>
          <a:prstGeom prst="rect">
            <a:avLst/>
          </a:prstGeom>
          <a:noFill/>
        </p:spPr>
        <p:txBody>
          <a:bodyPr wrap="square" lIns="0" tIns="0" rIns="0" bIns="0" anchor="t">
            <a:spAutoFit/>
          </a:bodyPr>
          <a:lstStyle/>
          <a:p>
            <a:pPr algn="l">
              <a:lnSpc>
                <a:spcPct val="125000"/>
              </a:lnSpc>
            </a:pPr>
            <a:r>
              <a:rPr sz="1250" b="1" i="0" spc="150">
                <a:solidFill>
                  <a:srgbClr val="34D399"/>
                </a:solidFill>
                <a:latin typeface="Segoe UI Semibold"/>
              </a:rPr>
              <a:t>DYNAMIC SCHEDULING</a:t>
            </a:r>
          </a:p>
        </p:txBody>
      </p:sp>
      <p:sp>
        <p:nvSpPr>
          <p:cNvPr id="24" name="TextBox 23"/>
          <p:cNvSpPr txBox="1"/>
          <p:nvPr/>
        </p:nvSpPr>
        <p:spPr>
          <a:xfrm>
            <a:off x="8229600" y="2670048"/>
            <a:ext cx="2926080" cy="868680"/>
          </a:xfrm>
          <a:prstGeom prst="rect">
            <a:avLst/>
          </a:prstGeom>
          <a:noFill/>
        </p:spPr>
        <p:txBody>
          <a:bodyPr wrap="square" lIns="0" tIns="0" rIns="0" bIns="0" anchor="t">
            <a:spAutoFit/>
          </a:bodyPr>
          <a:lstStyle/>
          <a:p>
            <a:pPr algn="l">
              <a:lnSpc>
                <a:spcPct val="135000"/>
              </a:lnSpc>
            </a:pPr>
            <a:r>
              <a:rPr sz="950" b="0" i="0">
                <a:solidFill>
                  <a:srgbClr val="93A1B5"/>
                </a:solidFill>
                <a:latin typeface="Segoe UI"/>
              </a:rPr>
              <a:t>Allocation recomputed as demand changes. Higher utilisation, at the cost of needing live measurement to decide on.</a:t>
            </a:r>
          </a:p>
        </p:txBody>
      </p:sp>
      <p:sp>
        <p:nvSpPr>
          <p:cNvPr id="25" name="Rounded Rectangle 24"/>
          <p:cNvSpPr/>
          <p:nvPr/>
        </p:nvSpPr>
        <p:spPr>
          <a:xfrm>
            <a:off x="8229600" y="3703320"/>
            <a:ext cx="2926080" cy="45720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Observe demand</a:t>
            </a:r>
          </a:p>
        </p:txBody>
      </p:sp>
      <p:cxnSp>
        <p:nvCxnSpPr>
          <p:cNvPr id="26" name="Connector 25"/>
          <p:cNvCxnSpPr/>
          <p:nvPr/>
        </p:nvCxnSpPr>
        <p:spPr>
          <a:xfrm>
            <a:off x="9692640" y="4178808"/>
            <a:ext cx="0" cy="146304"/>
          </a:xfrm>
          <a:prstGeom prst="line">
            <a:avLst/>
          </a:prstGeom>
          <a:ln w="13970">
            <a:solidFill>
              <a:srgbClr val="34D399"/>
            </a:solidFill>
            <a:tailEnd type="triangle" w="sm" len="sm"/>
          </a:ln>
        </p:spPr>
        <p:style>
          <a:lnRef idx="2">
            <a:schemeClr val="accent1"/>
          </a:lnRef>
          <a:fillRef idx="0">
            <a:schemeClr val="accent1"/>
          </a:fillRef>
          <a:effectRef idx="1">
            <a:schemeClr val="accent1"/>
          </a:effectRef>
          <a:fontRef idx="minor">
            <a:schemeClr val="tx1"/>
          </a:fontRef>
        </p:style>
      </p:cxnSp>
      <p:sp>
        <p:nvSpPr>
          <p:cNvPr id="27" name="Rounded Rectangle 26"/>
          <p:cNvSpPr/>
          <p:nvPr/>
        </p:nvSpPr>
        <p:spPr>
          <a:xfrm>
            <a:off x="8229600" y="4343400"/>
            <a:ext cx="2926080" cy="45720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Recompute placement</a:t>
            </a:r>
          </a:p>
        </p:txBody>
      </p:sp>
      <p:cxnSp>
        <p:nvCxnSpPr>
          <p:cNvPr id="28" name="Connector 27"/>
          <p:cNvCxnSpPr/>
          <p:nvPr/>
        </p:nvCxnSpPr>
        <p:spPr>
          <a:xfrm>
            <a:off x="9692640" y="4818888"/>
            <a:ext cx="0" cy="146304"/>
          </a:xfrm>
          <a:prstGeom prst="line">
            <a:avLst/>
          </a:prstGeom>
          <a:ln w="13970">
            <a:solidFill>
              <a:srgbClr val="F5B14C"/>
            </a:solidFill>
            <a:tailEnd type="triangle" w="sm" len="sm"/>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8229600" y="4983480"/>
            <a:ext cx="2926080" cy="45720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950" b="1">
                <a:solidFill>
                  <a:srgbClr val="F4F7FB"/>
                </a:solidFill>
                <a:latin typeface="Segoe UI Semibold"/>
              </a:rPr>
              <a:t>Rebalance workloads</a:t>
            </a:r>
          </a:p>
        </p:txBody>
      </p:sp>
      <p:sp>
        <p:nvSpPr>
          <p:cNvPr id="30" name="Rounded Rectangle 29"/>
          <p:cNvSpPr/>
          <p:nvPr/>
        </p:nvSpPr>
        <p:spPr>
          <a:xfrm>
            <a:off x="777240" y="5852160"/>
            <a:ext cx="10607040" cy="384048"/>
          </a:xfrm>
          <a:prstGeom prst="roundRect">
            <a:avLst>
              <a:gd name="adj" fmla="val 3500"/>
            </a:avLst>
          </a:prstGeom>
          <a:solidFill>
            <a:srgbClr val="0C1322"/>
          </a:solidFill>
          <a:ln w="1270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960120" y="5925312"/>
            <a:ext cx="10241280" cy="274320"/>
          </a:xfrm>
          <a:prstGeom prst="rect">
            <a:avLst/>
          </a:prstGeom>
          <a:noFill/>
        </p:spPr>
        <p:txBody>
          <a:bodyPr wrap="square" lIns="0" tIns="0" rIns="0" bIns="0" anchor="t">
            <a:spAutoFit/>
          </a:bodyPr>
          <a:lstStyle/>
          <a:p>
            <a:pPr algn="l">
              <a:lnSpc>
                <a:spcPct val="125000"/>
              </a:lnSpc>
            </a:pPr>
            <a:r>
              <a:rPr sz="950" b="0" i="0">
                <a:solidFill>
                  <a:srgbClr val="22D3EE"/>
                </a:solidFill>
                <a:latin typeface="Segoe UI"/>
              </a:rPr>
              <a:t>Closest real analogue in the project: dispatch is a scheduler. It observes which mechanics are available and where, then allocates a job — a dynamic scheduling decision at application level.</a:t>
            </a:r>
          </a:p>
        </p:txBody>
      </p:sp>
      <p:sp>
        <p:nvSpPr>
          <p:cNvPr id="32" name="Rounded Rectangle 31"/>
          <p:cNvSpPr/>
          <p:nvPr/>
        </p:nvSpPr>
        <p:spPr>
          <a:xfrm>
            <a:off x="777240"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M1 · UNDERSTANDING</a:t>
            </a:r>
          </a:p>
        </p:txBody>
      </p:sp>
      <p:sp>
        <p:nvSpPr>
          <p:cNvPr id="33" name="Rounded Rectangle 32"/>
          <p:cNvSpPr/>
          <p:nvPr/>
        </p:nvSpPr>
        <p:spPr>
          <a:xfrm>
            <a:off x="3319272"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M2 · ENABLING TECH</a:t>
            </a:r>
          </a:p>
        </p:txBody>
      </p:sp>
      <p:sp>
        <p:nvSpPr>
          <p:cNvPr id="34" name="Rounded Rectangle 33"/>
          <p:cNvSpPr/>
          <p:nvPr/>
        </p:nvSpPr>
        <p:spPr>
          <a:xfrm>
            <a:off x="5861304" y="6272784"/>
            <a:ext cx="2395728" cy="274320"/>
          </a:xfrm>
          <a:prstGeom prst="roundRect">
            <a:avLst>
              <a:gd name="adj" fmla="val 50000"/>
            </a:avLst>
          </a:prstGeom>
          <a:solidFill>
            <a:srgbClr val="070B14"/>
          </a:solidFill>
          <a:ln w="11430">
            <a:solidFill>
              <a:srgbClr val="5C6B80"/>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0">
                <a:solidFill>
                  <a:srgbClr val="5C6B80"/>
                </a:solidFill>
                <a:latin typeface="Segoe UI"/>
              </a:rPr>
              <a:t>M3 · INFRASTRUCTURE</a:t>
            </a:r>
          </a:p>
        </p:txBody>
      </p:sp>
      <p:sp>
        <p:nvSpPr>
          <p:cNvPr id="35" name="Rounded Rectangle 34"/>
          <p:cNvSpPr/>
          <p:nvPr/>
        </p:nvSpPr>
        <p:spPr>
          <a:xfrm>
            <a:off x="8403336" y="6272784"/>
            <a:ext cx="2395728" cy="274320"/>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M4 · ARCHITECTURES</a:t>
            </a:r>
          </a:p>
        </p:txBody>
      </p:sp>
      <p:sp>
        <p:nvSpPr>
          <p:cNvPr id="36" name="TextBox 35"/>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24</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THE COMPLETE PICTURE</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ROADASSIST BHARAT — CLOUD ARCHITECTURE</a:t>
            </a:r>
          </a:p>
        </p:txBody>
      </p:sp>
      <p:sp>
        <p:nvSpPr>
          <p:cNvPr id="5" name="Rounded Rectangle 4"/>
          <p:cNvSpPr/>
          <p:nvPr/>
        </p:nvSpPr>
        <p:spPr>
          <a:xfrm>
            <a:off x="2514600" y="1783080"/>
            <a:ext cx="7223760" cy="548640"/>
          </a:xfrm>
          <a:prstGeom prst="roundRect">
            <a:avLst>
              <a:gd name="adj" fmla="val 3500"/>
            </a:avLst>
          </a:prstGeom>
          <a:solidFill>
            <a:srgbClr val="0C1322"/>
          </a:solidFill>
          <a:ln w="1524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777240" y="1901952"/>
            <a:ext cx="1600200" cy="329184"/>
          </a:xfrm>
          <a:prstGeom prst="rect">
            <a:avLst/>
          </a:prstGeom>
          <a:noFill/>
        </p:spPr>
        <p:txBody>
          <a:bodyPr wrap="square" lIns="0" tIns="0" rIns="0" bIns="0" anchor="t">
            <a:spAutoFit/>
          </a:bodyPr>
          <a:lstStyle/>
          <a:p>
            <a:pPr algn="r">
              <a:lnSpc>
                <a:spcPct val="112000"/>
              </a:lnSpc>
            </a:pPr>
            <a:r>
              <a:rPr sz="850" b="1" i="0" spc="100">
                <a:solidFill>
                  <a:srgbClr val="34D399"/>
                </a:solidFill>
                <a:latin typeface="Segoe UI"/>
              </a:rPr>
              <a:t>CLIENTS</a:t>
            </a:r>
          </a:p>
        </p:txBody>
      </p:sp>
      <p:sp>
        <p:nvSpPr>
          <p:cNvPr id="7" name="Rounded Rectangle 6"/>
          <p:cNvSpPr/>
          <p:nvPr/>
        </p:nvSpPr>
        <p:spPr>
          <a:xfrm>
            <a:off x="2606040" y="1901952"/>
            <a:ext cx="1677924" cy="310896"/>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CUSTOMER PWA</a:t>
            </a:r>
          </a:p>
        </p:txBody>
      </p:sp>
      <p:sp>
        <p:nvSpPr>
          <p:cNvPr id="8" name="Rounded Rectangle 7"/>
          <p:cNvSpPr/>
          <p:nvPr/>
        </p:nvSpPr>
        <p:spPr>
          <a:xfrm>
            <a:off x="4366260" y="1901952"/>
            <a:ext cx="1677924" cy="310896"/>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MECHANIC CONSOLE</a:t>
            </a:r>
          </a:p>
        </p:txBody>
      </p:sp>
      <p:sp>
        <p:nvSpPr>
          <p:cNvPr id="9" name="Rounded Rectangle 8"/>
          <p:cNvSpPr/>
          <p:nvPr/>
        </p:nvSpPr>
        <p:spPr>
          <a:xfrm>
            <a:off x="6126480" y="1901952"/>
            <a:ext cx="1677924" cy="310896"/>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AUTHORITY DASHBOARD</a:t>
            </a:r>
          </a:p>
        </p:txBody>
      </p:sp>
      <p:sp>
        <p:nvSpPr>
          <p:cNvPr id="10" name="Rounded Rectangle 9"/>
          <p:cNvSpPr/>
          <p:nvPr/>
        </p:nvSpPr>
        <p:spPr>
          <a:xfrm>
            <a:off x="7886700" y="1901952"/>
            <a:ext cx="1677924" cy="310896"/>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PUBLIC SITE</a:t>
            </a:r>
          </a:p>
        </p:txBody>
      </p:sp>
      <p:sp>
        <p:nvSpPr>
          <p:cNvPr id="11" name="Rounded Rectangle 10"/>
          <p:cNvSpPr/>
          <p:nvPr/>
        </p:nvSpPr>
        <p:spPr>
          <a:xfrm>
            <a:off x="9921240" y="1920240"/>
            <a:ext cx="1463040" cy="274320"/>
          </a:xfrm>
          <a:prstGeom prst="roundRect">
            <a:avLst>
              <a:gd name="adj" fmla="val 50000"/>
            </a:avLst>
          </a:prstGeom>
          <a:solidFill>
            <a:srgbClr val="070B14"/>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IMPLEMENTED</a:t>
            </a:r>
          </a:p>
        </p:txBody>
      </p:sp>
      <p:cxnSp>
        <p:nvCxnSpPr>
          <p:cNvPr id="12" name="Connector 11"/>
          <p:cNvCxnSpPr/>
          <p:nvPr/>
        </p:nvCxnSpPr>
        <p:spPr>
          <a:xfrm>
            <a:off x="6126480" y="2340863"/>
            <a:ext cx="0" cy="82297"/>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3" name="Rounded Rectangle 12"/>
          <p:cNvSpPr/>
          <p:nvPr/>
        </p:nvSpPr>
        <p:spPr>
          <a:xfrm>
            <a:off x="2514600" y="2432304"/>
            <a:ext cx="7223760" cy="548640"/>
          </a:xfrm>
          <a:prstGeom prst="roundRect">
            <a:avLst>
              <a:gd name="adj" fmla="val 3500"/>
            </a:avLst>
          </a:prstGeom>
          <a:solidFill>
            <a:srgbClr val="0C1322"/>
          </a:solidFill>
          <a:ln w="1524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77240" y="2551176"/>
            <a:ext cx="1600200" cy="329184"/>
          </a:xfrm>
          <a:prstGeom prst="rect">
            <a:avLst/>
          </a:prstGeom>
          <a:noFill/>
        </p:spPr>
        <p:txBody>
          <a:bodyPr wrap="square" lIns="0" tIns="0" rIns="0" bIns="0" anchor="t">
            <a:spAutoFit/>
          </a:bodyPr>
          <a:lstStyle/>
          <a:p>
            <a:pPr algn="r">
              <a:lnSpc>
                <a:spcPct val="112000"/>
              </a:lnSpc>
            </a:pPr>
            <a:r>
              <a:rPr sz="850" b="1" i="0" spc="100">
                <a:solidFill>
                  <a:srgbClr val="2E7DFF"/>
                </a:solidFill>
                <a:latin typeface="Segoe UI"/>
              </a:rPr>
              <a:t>API / WEB SERVICES</a:t>
            </a:r>
          </a:p>
        </p:txBody>
      </p:sp>
      <p:sp>
        <p:nvSpPr>
          <p:cNvPr id="15" name="TextBox 14"/>
          <p:cNvSpPr txBox="1"/>
          <p:nvPr/>
        </p:nvSpPr>
        <p:spPr>
          <a:xfrm>
            <a:off x="2651760" y="2596896"/>
            <a:ext cx="6949440" cy="274320"/>
          </a:xfrm>
          <a:prstGeom prst="rect">
            <a:avLst/>
          </a:prstGeom>
          <a:noFill/>
        </p:spPr>
        <p:txBody>
          <a:bodyPr wrap="square" lIns="0" tIns="0" rIns="0" bIns="0" anchor="t">
            <a:spAutoFit/>
          </a:bodyPr>
          <a:lstStyle/>
          <a:p>
            <a:pPr algn="ctr">
              <a:lnSpc>
                <a:spcPct val="125000"/>
              </a:lnSpc>
            </a:pPr>
            <a:r>
              <a:rPr sz="950" b="1" i="0">
                <a:solidFill>
                  <a:srgbClr val="F4F7FB"/>
                </a:solidFill>
                <a:latin typeface="Consolas"/>
              </a:rPr>
              <a:t>FASTIFY · 58 ROUTES · JSON · SCHEMA-VALIDATED</a:t>
            </a:r>
          </a:p>
        </p:txBody>
      </p:sp>
      <p:sp>
        <p:nvSpPr>
          <p:cNvPr id="16" name="Rounded Rectangle 15"/>
          <p:cNvSpPr/>
          <p:nvPr/>
        </p:nvSpPr>
        <p:spPr>
          <a:xfrm>
            <a:off x="9921240" y="2569464"/>
            <a:ext cx="1463040" cy="274320"/>
          </a:xfrm>
          <a:prstGeom prst="roundRect">
            <a:avLst>
              <a:gd name="adj" fmla="val 50000"/>
            </a:avLst>
          </a:prstGeom>
          <a:solidFill>
            <a:srgbClr val="070B14"/>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IMPLEMENTED</a:t>
            </a:r>
          </a:p>
        </p:txBody>
      </p:sp>
      <p:cxnSp>
        <p:nvCxnSpPr>
          <p:cNvPr id="17" name="Connector 16"/>
          <p:cNvCxnSpPr/>
          <p:nvPr/>
        </p:nvCxnSpPr>
        <p:spPr>
          <a:xfrm>
            <a:off x="6126480" y="2990088"/>
            <a:ext cx="0" cy="82296"/>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514600" y="3081528"/>
            <a:ext cx="7223760" cy="548640"/>
          </a:xfrm>
          <a:prstGeom prst="roundRect">
            <a:avLst>
              <a:gd name="adj" fmla="val 3500"/>
            </a:avLst>
          </a:prstGeom>
          <a:solidFill>
            <a:srgbClr val="0C1322"/>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777240" y="3200400"/>
            <a:ext cx="1600200" cy="329184"/>
          </a:xfrm>
          <a:prstGeom prst="rect">
            <a:avLst/>
          </a:prstGeom>
          <a:noFill/>
        </p:spPr>
        <p:txBody>
          <a:bodyPr wrap="square" lIns="0" tIns="0" rIns="0" bIns="0" anchor="t">
            <a:spAutoFit/>
          </a:bodyPr>
          <a:lstStyle/>
          <a:p>
            <a:pPr algn="r">
              <a:lnSpc>
                <a:spcPct val="112000"/>
              </a:lnSpc>
            </a:pPr>
            <a:r>
              <a:rPr sz="850" b="1" i="0" spc="100">
                <a:solidFill>
                  <a:srgbClr val="22D3EE"/>
                </a:solidFill>
                <a:latin typeface="Segoe UI"/>
              </a:rPr>
              <a:t>PLATFORM SERVICES</a:t>
            </a:r>
          </a:p>
        </p:txBody>
      </p:sp>
      <p:sp>
        <p:nvSpPr>
          <p:cNvPr id="20" name="Rounded Rectangle 19"/>
          <p:cNvSpPr/>
          <p:nvPr/>
        </p:nvSpPr>
        <p:spPr>
          <a:xfrm>
            <a:off x="260604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AUTH</a:t>
            </a:r>
          </a:p>
        </p:txBody>
      </p:sp>
      <p:sp>
        <p:nvSpPr>
          <p:cNvPr id="21" name="Rounded Rectangle 20"/>
          <p:cNvSpPr/>
          <p:nvPr/>
        </p:nvSpPr>
        <p:spPr>
          <a:xfrm>
            <a:off x="348615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BOOKING</a:t>
            </a:r>
          </a:p>
        </p:txBody>
      </p:sp>
      <p:sp>
        <p:nvSpPr>
          <p:cNvPr id="22" name="Rounded Rectangle 21"/>
          <p:cNvSpPr/>
          <p:nvPr/>
        </p:nvSpPr>
        <p:spPr>
          <a:xfrm>
            <a:off x="436626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AI</a:t>
            </a:r>
          </a:p>
        </p:txBody>
      </p:sp>
      <p:sp>
        <p:nvSpPr>
          <p:cNvPr id="23" name="Rounded Rectangle 22"/>
          <p:cNvSpPr/>
          <p:nvPr/>
        </p:nvSpPr>
        <p:spPr>
          <a:xfrm>
            <a:off x="524637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MAP</a:t>
            </a:r>
          </a:p>
        </p:txBody>
      </p:sp>
      <p:sp>
        <p:nvSpPr>
          <p:cNvPr id="24" name="Rounded Rectangle 23"/>
          <p:cNvSpPr/>
          <p:nvPr/>
        </p:nvSpPr>
        <p:spPr>
          <a:xfrm>
            <a:off x="612648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RAKSHA</a:t>
            </a:r>
          </a:p>
        </p:txBody>
      </p:sp>
      <p:sp>
        <p:nvSpPr>
          <p:cNvPr id="25" name="Rounded Rectangle 24"/>
          <p:cNvSpPr/>
          <p:nvPr/>
        </p:nvSpPr>
        <p:spPr>
          <a:xfrm>
            <a:off x="700659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PAYMENT</a:t>
            </a:r>
          </a:p>
        </p:txBody>
      </p:sp>
      <p:sp>
        <p:nvSpPr>
          <p:cNvPr id="26" name="Rounded Rectangle 25"/>
          <p:cNvSpPr/>
          <p:nvPr/>
        </p:nvSpPr>
        <p:spPr>
          <a:xfrm>
            <a:off x="788670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NOTIFY</a:t>
            </a:r>
          </a:p>
        </p:txBody>
      </p:sp>
      <p:sp>
        <p:nvSpPr>
          <p:cNvPr id="27" name="Rounded Rectangle 26"/>
          <p:cNvSpPr/>
          <p:nvPr/>
        </p:nvSpPr>
        <p:spPr>
          <a:xfrm>
            <a:off x="8766810" y="3200400"/>
            <a:ext cx="797814" cy="310896"/>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SYNC</a:t>
            </a:r>
          </a:p>
        </p:txBody>
      </p:sp>
      <p:sp>
        <p:nvSpPr>
          <p:cNvPr id="28" name="Rounded Rectangle 27"/>
          <p:cNvSpPr/>
          <p:nvPr/>
        </p:nvSpPr>
        <p:spPr>
          <a:xfrm>
            <a:off x="9921240" y="3218688"/>
            <a:ext cx="1463040" cy="274320"/>
          </a:xfrm>
          <a:prstGeom prst="roundRect">
            <a:avLst>
              <a:gd name="adj" fmla="val 50000"/>
            </a:avLst>
          </a:prstGeom>
          <a:solidFill>
            <a:srgbClr val="070B14"/>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IMPLEMENTED</a:t>
            </a:r>
          </a:p>
        </p:txBody>
      </p:sp>
      <p:cxnSp>
        <p:nvCxnSpPr>
          <p:cNvPr id="29" name="Connector 28"/>
          <p:cNvCxnSpPr/>
          <p:nvPr/>
        </p:nvCxnSpPr>
        <p:spPr>
          <a:xfrm>
            <a:off x="6126480" y="3639312"/>
            <a:ext cx="0" cy="82296"/>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2514600" y="3730752"/>
            <a:ext cx="7223760" cy="548640"/>
          </a:xfrm>
          <a:prstGeom prst="roundRect">
            <a:avLst>
              <a:gd name="adj" fmla="val 3500"/>
            </a:avLst>
          </a:prstGeom>
          <a:solidFill>
            <a:srgbClr val="0C1322"/>
          </a:solidFill>
          <a:ln w="1524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777240" y="3849624"/>
            <a:ext cx="1600200" cy="329184"/>
          </a:xfrm>
          <a:prstGeom prst="rect">
            <a:avLst/>
          </a:prstGeom>
          <a:noFill/>
        </p:spPr>
        <p:txBody>
          <a:bodyPr wrap="square" lIns="0" tIns="0" rIns="0" bIns="0" anchor="t">
            <a:spAutoFit/>
          </a:bodyPr>
          <a:lstStyle/>
          <a:p>
            <a:pPr algn="r">
              <a:lnSpc>
                <a:spcPct val="112000"/>
              </a:lnSpc>
            </a:pPr>
            <a:r>
              <a:rPr sz="850" b="1" i="0" spc="100">
                <a:solidFill>
                  <a:srgbClr val="F5B14C"/>
                </a:solidFill>
                <a:latin typeface="Segoe UI"/>
              </a:rPr>
              <a:t>COMPUTE / VIRTUAL RESOURCES</a:t>
            </a:r>
          </a:p>
        </p:txBody>
      </p:sp>
      <p:sp>
        <p:nvSpPr>
          <p:cNvPr id="32" name="TextBox 31"/>
          <p:cNvSpPr txBox="1"/>
          <p:nvPr/>
        </p:nvSpPr>
        <p:spPr>
          <a:xfrm>
            <a:off x="2651760" y="3895344"/>
            <a:ext cx="6949440" cy="274320"/>
          </a:xfrm>
          <a:prstGeom prst="rect">
            <a:avLst/>
          </a:prstGeom>
          <a:noFill/>
        </p:spPr>
        <p:txBody>
          <a:bodyPr wrap="square" lIns="0" tIns="0" rIns="0" bIns="0" anchor="t">
            <a:spAutoFit/>
          </a:bodyPr>
          <a:lstStyle/>
          <a:p>
            <a:pPr algn="ctr">
              <a:lnSpc>
                <a:spcPct val="125000"/>
              </a:lnSpc>
            </a:pPr>
            <a:r>
              <a:rPr sz="950" b="1" i="0">
                <a:solidFill>
                  <a:srgbClr val="F4F7FB"/>
                </a:solidFill>
                <a:latin typeface="Consolas"/>
              </a:rPr>
              <a:t>STATELESS API INSTANCES  ·  CONTAINERISED SERVICES</a:t>
            </a:r>
          </a:p>
        </p:txBody>
      </p:sp>
      <p:sp>
        <p:nvSpPr>
          <p:cNvPr id="33" name="Rounded Rectangle 32"/>
          <p:cNvSpPr/>
          <p:nvPr/>
        </p:nvSpPr>
        <p:spPr>
          <a:xfrm>
            <a:off x="9921240" y="3867912"/>
            <a:ext cx="1463040" cy="274320"/>
          </a:xfrm>
          <a:prstGeom prst="roundRect">
            <a:avLst>
              <a:gd name="adj" fmla="val 50000"/>
            </a:avLst>
          </a:prstGeom>
          <a:solidFill>
            <a:srgbClr val="070B14"/>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F5B14C"/>
                </a:solidFill>
                <a:latin typeface="Segoe UI"/>
              </a:rPr>
              <a:t>PARTIALLY</a:t>
            </a:r>
          </a:p>
        </p:txBody>
      </p:sp>
      <p:cxnSp>
        <p:nvCxnSpPr>
          <p:cNvPr id="34" name="Connector 33"/>
          <p:cNvCxnSpPr/>
          <p:nvPr/>
        </p:nvCxnSpPr>
        <p:spPr>
          <a:xfrm>
            <a:off x="6126480" y="4288536"/>
            <a:ext cx="0" cy="82296"/>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35" name="Rounded Rectangle 34"/>
          <p:cNvSpPr/>
          <p:nvPr/>
        </p:nvSpPr>
        <p:spPr>
          <a:xfrm>
            <a:off x="2514600" y="4379976"/>
            <a:ext cx="7223760" cy="548640"/>
          </a:xfrm>
          <a:prstGeom prst="roundRect">
            <a:avLst>
              <a:gd name="adj" fmla="val 3500"/>
            </a:avLst>
          </a:prstGeom>
          <a:solidFill>
            <a:srgbClr val="0C1322"/>
          </a:solidFill>
          <a:ln w="1524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777240" y="4498848"/>
            <a:ext cx="1600200" cy="329184"/>
          </a:xfrm>
          <a:prstGeom prst="rect">
            <a:avLst/>
          </a:prstGeom>
          <a:noFill/>
        </p:spPr>
        <p:txBody>
          <a:bodyPr wrap="square" lIns="0" tIns="0" rIns="0" bIns="0" anchor="t">
            <a:spAutoFit/>
          </a:bodyPr>
          <a:lstStyle/>
          <a:p>
            <a:pPr algn="r">
              <a:lnSpc>
                <a:spcPct val="112000"/>
              </a:lnSpc>
            </a:pPr>
            <a:r>
              <a:rPr sz="850" b="1" i="0" spc="100">
                <a:solidFill>
                  <a:srgbClr val="22D3EE"/>
                </a:solidFill>
                <a:latin typeface="Segoe UI"/>
              </a:rPr>
              <a:t>STORAGE / DATABASE</a:t>
            </a:r>
          </a:p>
        </p:txBody>
      </p:sp>
      <p:sp>
        <p:nvSpPr>
          <p:cNvPr id="37" name="TextBox 36"/>
          <p:cNvSpPr txBox="1"/>
          <p:nvPr/>
        </p:nvSpPr>
        <p:spPr>
          <a:xfrm>
            <a:off x="2651760" y="4544568"/>
            <a:ext cx="6949440" cy="274320"/>
          </a:xfrm>
          <a:prstGeom prst="rect">
            <a:avLst/>
          </a:prstGeom>
          <a:noFill/>
        </p:spPr>
        <p:txBody>
          <a:bodyPr wrap="square" lIns="0" tIns="0" rIns="0" bIns="0" anchor="t">
            <a:spAutoFit/>
          </a:bodyPr>
          <a:lstStyle/>
          <a:p>
            <a:pPr algn="ctr">
              <a:lnSpc>
                <a:spcPct val="125000"/>
              </a:lnSpc>
            </a:pPr>
            <a:r>
              <a:rPr sz="950" b="1" i="0">
                <a:solidFill>
                  <a:srgbClr val="F4F7FB"/>
                </a:solidFill>
                <a:latin typeface="Consolas"/>
              </a:rPr>
              <a:t>POSTGRESQL 16 + POSTGIS 3.4.3  ·  61 TABLES  ·  AUDIT CHAIN</a:t>
            </a:r>
          </a:p>
        </p:txBody>
      </p:sp>
      <p:sp>
        <p:nvSpPr>
          <p:cNvPr id="38" name="Rounded Rectangle 37"/>
          <p:cNvSpPr/>
          <p:nvPr/>
        </p:nvSpPr>
        <p:spPr>
          <a:xfrm>
            <a:off x="9921240" y="4517136"/>
            <a:ext cx="1463040" cy="274320"/>
          </a:xfrm>
          <a:prstGeom prst="roundRect">
            <a:avLst>
              <a:gd name="adj" fmla="val 50000"/>
            </a:avLst>
          </a:prstGeom>
          <a:solidFill>
            <a:srgbClr val="070B14"/>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34D399"/>
                </a:solidFill>
                <a:latin typeface="Segoe UI"/>
              </a:rPr>
              <a:t>IMPLEMENTED</a:t>
            </a:r>
          </a:p>
        </p:txBody>
      </p:sp>
      <p:cxnSp>
        <p:nvCxnSpPr>
          <p:cNvPr id="39" name="Connector 38"/>
          <p:cNvCxnSpPr/>
          <p:nvPr/>
        </p:nvCxnSpPr>
        <p:spPr>
          <a:xfrm>
            <a:off x="6126480" y="4937759"/>
            <a:ext cx="0" cy="82297"/>
          </a:xfrm>
          <a:prstGeom prst="line">
            <a:avLst/>
          </a:prstGeom>
          <a:ln w="1397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40" name="Rounded Rectangle 39"/>
          <p:cNvSpPr/>
          <p:nvPr/>
        </p:nvSpPr>
        <p:spPr>
          <a:xfrm>
            <a:off x="2514600" y="5029200"/>
            <a:ext cx="7223760" cy="548640"/>
          </a:xfrm>
          <a:prstGeom prst="roundRect">
            <a:avLst>
              <a:gd name="adj" fmla="val 3500"/>
            </a:avLst>
          </a:prstGeom>
          <a:solidFill>
            <a:srgbClr val="0C1322"/>
          </a:solidFill>
          <a:ln w="15240">
            <a:solidFill>
              <a:srgbClr val="5C6B8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777240" y="5148072"/>
            <a:ext cx="1600200" cy="329184"/>
          </a:xfrm>
          <a:prstGeom prst="rect">
            <a:avLst/>
          </a:prstGeom>
          <a:noFill/>
        </p:spPr>
        <p:txBody>
          <a:bodyPr wrap="square" lIns="0" tIns="0" rIns="0" bIns="0" anchor="t">
            <a:spAutoFit/>
          </a:bodyPr>
          <a:lstStyle/>
          <a:p>
            <a:pPr algn="r">
              <a:lnSpc>
                <a:spcPct val="112000"/>
              </a:lnSpc>
            </a:pPr>
            <a:r>
              <a:rPr sz="850" b="1" i="0" spc="100">
                <a:solidFill>
                  <a:srgbClr val="5C6B80"/>
                </a:solidFill>
                <a:latin typeface="Segoe UI"/>
              </a:rPr>
              <a:t>CLOUD INFRASTRUCTURE</a:t>
            </a:r>
          </a:p>
        </p:txBody>
      </p:sp>
      <p:sp>
        <p:nvSpPr>
          <p:cNvPr id="42" name="TextBox 41"/>
          <p:cNvSpPr txBox="1"/>
          <p:nvPr/>
        </p:nvSpPr>
        <p:spPr>
          <a:xfrm>
            <a:off x="2651760" y="5193792"/>
            <a:ext cx="6949440" cy="274320"/>
          </a:xfrm>
          <a:prstGeom prst="rect">
            <a:avLst/>
          </a:prstGeom>
          <a:noFill/>
        </p:spPr>
        <p:txBody>
          <a:bodyPr wrap="square" lIns="0" tIns="0" rIns="0" bIns="0" anchor="t">
            <a:spAutoFit/>
          </a:bodyPr>
          <a:lstStyle/>
          <a:p>
            <a:pPr algn="ctr">
              <a:lnSpc>
                <a:spcPct val="125000"/>
              </a:lnSpc>
            </a:pPr>
            <a:r>
              <a:rPr sz="950" b="1" i="0">
                <a:solidFill>
                  <a:srgbClr val="F4F7FB"/>
                </a:solidFill>
                <a:latin typeface="Consolas"/>
              </a:rPr>
              <a:t>PROVIDER ESTATE — DATA CENTRE · HYPERVISOR · NETWORK · STORAGE</a:t>
            </a:r>
          </a:p>
        </p:txBody>
      </p:sp>
      <p:sp>
        <p:nvSpPr>
          <p:cNvPr id="43" name="Rounded Rectangle 42"/>
          <p:cNvSpPr/>
          <p:nvPr/>
        </p:nvSpPr>
        <p:spPr>
          <a:xfrm>
            <a:off x="9921240" y="5166360"/>
            <a:ext cx="1463040" cy="274320"/>
          </a:xfrm>
          <a:prstGeom prst="roundRect">
            <a:avLst>
              <a:gd name="adj" fmla="val 50000"/>
            </a:avLst>
          </a:prstGeom>
          <a:solidFill>
            <a:srgbClr val="070B14"/>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00" b="1">
                <a:solidFill>
                  <a:srgbClr val="22D3EE"/>
                </a:solidFill>
                <a:latin typeface="Segoe UI"/>
              </a:rPr>
              <a:t>ARCHITECTURAL</a:t>
            </a:r>
          </a:p>
        </p:txBody>
      </p:sp>
      <p:sp>
        <p:nvSpPr>
          <p:cNvPr id="44" name="TextBox 43"/>
          <p:cNvSpPr txBox="1"/>
          <p:nvPr/>
        </p:nvSpPr>
        <p:spPr>
          <a:xfrm>
            <a:off x="777240" y="5751576"/>
            <a:ext cx="10607040" cy="256032"/>
          </a:xfrm>
          <a:prstGeom prst="rect">
            <a:avLst/>
          </a:prstGeom>
          <a:noFill/>
        </p:spPr>
        <p:txBody>
          <a:bodyPr wrap="square" lIns="0" tIns="0" rIns="0" bIns="0" anchor="t">
            <a:spAutoFit/>
          </a:bodyPr>
          <a:lstStyle/>
          <a:p>
            <a:pPr algn="l">
              <a:lnSpc>
                <a:spcPct val="125000"/>
              </a:lnSpc>
            </a:pPr>
            <a:r>
              <a:rPr sz="850" b="1" i="0" spc="180">
                <a:solidFill>
                  <a:srgbClr val="5C6B80"/>
                </a:solidFill>
                <a:latin typeface="Segoe UI"/>
              </a:rPr>
              <a:t>CROSS-CUTTING CLOUD ARCHITECTURES — MODULE 4</a:t>
            </a:r>
          </a:p>
        </p:txBody>
      </p:sp>
      <p:sp>
        <p:nvSpPr>
          <p:cNvPr id="45" name="Rounded Rectangle 44"/>
          <p:cNvSpPr/>
          <p:nvPr/>
        </p:nvSpPr>
        <p:spPr>
          <a:xfrm>
            <a:off x="777240" y="6035040"/>
            <a:ext cx="1664208" cy="329184"/>
          </a:xfrm>
          <a:prstGeom prst="roundRect">
            <a:avLst>
              <a:gd name="adj" fmla="val 50000"/>
            </a:avLst>
          </a:prstGeom>
          <a:solidFill>
            <a:srgbClr val="070B14"/>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F4D5E"/>
                </a:solidFill>
                <a:latin typeface="Segoe UI"/>
              </a:rPr>
              <a:t>SECURITY BOUNDARY</a:t>
            </a:r>
          </a:p>
        </p:txBody>
      </p:sp>
      <p:sp>
        <p:nvSpPr>
          <p:cNvPr id="46" name="Rounded Rectangle 45"/>
          <p:cNvSpPr/>
          <p:nvPr/>
        </p:nvSpPr>
        <p:spPr>
          <a:xfrm>
            <a:off x="2560320" y="6035040"/>
            <a:ext cx="1664208" cy="329184"/>
          </a:xfrm>
          <a:prstGeom prst="roundRect">
            <a:avLst>
              <a:gd name="adj" fmla="val 50000"/>
            </a:avLst>
          </a:prstGeom>
          <a:solidFill>
            <a:srgbClr val="070B14"/>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E7DFF"/>
                </a:solidFill>
                <a:latin typeface="Segoe UI"/>
              </a:rPr>
              <a:t>LOAD BALANCING</a:t>
            </a:r>
          </a:p>
        </p:txBody>
      </p:sp>
      <p:sp>
        <p:nvSpPr>
          <p:cNvPr id="47" name="Rounded Rectangle 46"/>
          <p:cNvSpPr/>
          <p:nvPr/>
        </p:nvSpPr>
        <p:spPr>
          <a:xfrm>
            <a:off x="4343400" y="6035040"/>
            <a:ext cx="1664208" cy="329184"/>
          </a:xfrm>
          <a:prstGeom prst="roundRect">
            <a:avLst>
              <a:gd name="adj" fmla="val 50000"/>
            </a:avLst>
          </a:prstGeom>
          <a:solidFill>
            <a:srgbClr val="070B14"/>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2D3EE"/>
                </a:solidFill>
                <a:latin typeface="Segoe UI"/>
              </a:rPr>
              <a:t>RESOURCE POOLING</a:t>
            </a:r>
          </a:p>
        </p:txBody>
      </p:sp>
      <p:sp>
        <p:nvSpPr>
          <p:cNvPr id="48" name="Rounded Rectangle 47"/>
          <p:cNvSpPr/>
          <p:nvPr/>
        </p:nvSpPr>
        <p:spPr>
          <a:xfrm>
            <a:off x="6126479" y="6035040"/>
            <a:ext cx="1664208" cy="329184"/>
          </a:xfrm>
          <a:prstGeom prst="roundRect">
            <a:avLst>
              <a:gd name="adj" fmla="val 50000"/>
            </a:avLst>
          </a:prstGeom>
          <a:solidFill>
            <a:srgbClr val="070B14"/>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F5B14C"/>
                </a:solidFill>
                <a:latin typeface="Segoe UI"/>
              </a:rPr>
              <a:t>MONITORING</a:t>
            </a:r>
          </a:p>
        </p:txBody>
      </p:sp>
      <p:sp>
        <p:nvSpPr>
          <p:cNvPr id="49" name="Rounded Rectangle 48"/>
          <p:cNvSpPr/>
          <p:nvPr/>
        </p:nvSpPr>
        <p:spPr>
          <a:xfrm>
            <a:off x="7909560" y="6035040"/>
            <a:ext cx="1664208" cy="329184"/>
          </a:xfrm>
          <a:prstGeom prst="roundRect">
            <a:avLst>
              <a:gd name="adj" fmla="val 50000"/>
            </a:avLst>
          </a:prstGeom>
          <a:solidFill>
            <a:srgbClr val="070B14"/>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34D399"/>
                </a:solidFill>
                <a:latin typeface="Segoe UI"/>
              </a:rPr>
              <a:t>SCALABILITY</a:t>
            </a:r>
          </a:p>
        </p:txBody>
      </p:sp>
      <p:sp>
        <p:nvSpPr>
          <p:cNvPr id="50" name="Rounded Rectangle 49"/>
          <p:cNvSpPr/>
          <p:nvPr/>
        </p:nvSpPr>
        <p:spPr>
          <a:xfrm>
            <a:off x="9692640" y="6035040"/>
            <a:ext cx="1664208" cy="329184"/>
          </a:xfrm>
          <a:prstGeom prst="roundRect">
            <a:avLst>
              <a:gd name="adj" fmla="val 50000"/>
            </a:avLst>
          </a:prstGeom>
          <a:solidFill>
            <a:srgbClr val="070B14"/>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750" b="1">
                <a:solidFill>
                  <a:srgbClr val="22D3EE"/>
                </a:solidFill>
                <a:latin typeface="Segoe UI"/>
              </a:rPr>
              <a:t>REPLICATION</a:t>
            </a:r>
          </a:p>
        </p:txBody>
      </p:sp>
      <p:sp>
        <p:nvSpPr>
          <p:cNvPr id="51" name="TextBox 50"/>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25</a:t>
            </a:r>
          </a:p>
        </p:txBody>
      </p:sp>
      <p:sp>
        <p:nvSpPr>
          <p:cNvPr id="52" name="TextBox 51"/>
          <p:cNvSpPr txBox="1"/>
          <p:nvPr/>
        </p:nvSpPr>
        <p:spPr>
          <a:xfrm>
            <a:off x="777240" y="6473952"/>
            <a:ext cx="8686800" cy="256032"/>
          </a:xfrm>
          <a:prstGeom prst="rect">
            <a:avLst/>
          </a:prstGeom>
          <a:noFill/>
        </p:spPr>
        <p:txBody>
          <a:bodyPr wrap="square" lIns="0" tIns="0" rIns="0" bIns="0" anchor="t">
            <a:spAutoFit/>
          </a:bodyPr>
          <a:lstStyle/>
          <a:p>
            <a:pPr algn="l">
              <a:lnSpc>
                <a:spcPct val="125000"/>
              </a:lnSpc>
            </a:pPr>
            <a:r>
              <a:rPr sz="800" b="0" i="0">
                <a:solidFill>
                  <a:srgbClr val="5C6B80"/>
                </a:solidFill>
                <a:latin typeface="Segoe UI"/>
              </a:rPr>
              <a:t>Right-hand badges give the honest status of each layer.</a:t>
            </a:r>
          </a:p>
        </p:txBody>
      </p:sp>
    </p:spTree>
  </p:cSld>
  <p:clrMapOvr>
    <a:masterClrMapping/>
  </p:clrMapOvr>
  <mc:AlternateContent xmlns:mc="http://schemas.openxmlformats.org/markup-compatibility/2006">
    <mc:Choice xmlns:p14="http://schemas.microsoft.com/office/powerpoint/2010/main" Requires="p14">
      <p:transition spd="med" p14:dur="700">
        <p:dissolve/>
      </p:transition>
    </mc:Choice>
    <mc:Fallback>
      <p:transition spd="med">
        <p:dissolv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deep.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THE COMPLETE USER JOURNEY</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FROM BREAKDOWN TO RESOLUTION</a:t>
            </a:r>
          </a:p>
        </p:txBody>
      </p:sp>
      <p:sp>
        <p:nvSpPr>
          <p:cNvPr id="5" name="Rounded Rectangle 4"/>
          <p:cNvSpPr/>
          <p:nvPr/>
        </p:nvSpPr>
        <p:spPr>
          <a:xfrm>
            <a:off x="9082735" y="493775"/>
            <a:ext cx="2331720" cy="274320"/>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900" b="1">
                <a:solidFill>
                  <a:srgbClr val="34D399"/>
                </a:solidFill>
                <a:latin typeface="Segoe UI"/>
              </a:rPr>
              <a:t>IMPLEMENTED</a:t>
            </a:r>
          </a:p>
        </p:txBody>
      </p:sp>
      <p:sp>
        <p:nvSpPr>
          <p:cNvPr id="6" name="Rounded Rectangle 5"/>
          <p:cNvSpPr/>
          <p:nvPr/>
        </p:nvSpPr>
        <p:spPr>
          <a:xfrm>
            <a:off x="777240" y="2286000"/>
            <a:ext cx="205740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LOGIN</a:t>
            </a:r>
          </a:p>
          <a:p>
            <a:pPr algn="ctr">
              <a:lnSpc>
                <a:spcPct val="110000"/>
              </a:lnSpc>
            </a:pPr>
            <a:r>
              <a:rPr sz="850">
                <a:solidFill>
                  <a:srgbClr val="93A1B5"/>
                </a:solidFill>
                <a:latin typeface="Segoe UI"/>
              </a:rPr>
              <a:t>OTP · JWT</a:t>
            </a:r>
          </a:p>
        </p:txBody>
      </p:sp>
      <p:cxnSp>
        <p:nvCxnSpPr>
          <p:cNvPr id="7" name="Connector 6"/>
          <p:cNvCxnSpPr/>
          <p:nvPr/>
        </p:nvCxnSpPr>
        <p:spPr>
          <a:xfrm>
            <a:off x="2852928" y="2724912"/>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990088" y="2286000"/>
            <a:ext cx="205740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VEHICLE</a:t>
            </a:r>
          </a:p>
          <a:p>
            <a:pPr algn="ctr">
              <a:lnSpc>
                <a:spcPct val="110000"/>
              </a:lnSpc>
            </a:pPr>
            <a:r>
              <a:rPr sz="850">
                <a:solidFill>
                  <a:srgbClr val="93A1B5"/>
                </a:solidFill>
                <a:latin typeface="Segoe UI"/>
              </a:rPr>
              <a:t>select / add</a:t>
            </a:r>
          </a:p>
        </p:txBody>
      </p:sp>
      <p:cxnSp>
        <p:nvCxnSpPr>
          <p:cNvPr id="9" name="Connector 8"/>
          <p:cNvCxnSpPr/>
          <p:nvPr/>
        </p:nvCxnSpPr>
        <p:spPr>
          <a:xfrm>
            <a:off x="5065776" y="2724912"/>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5202936" y="2286000"/>
            <a:ext cx="2057400" cy="8686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AI DIAGNOSIS</a:t>
            </a:r>
          </a:p>
          <a:p>
            <a:pPr algn="ctr">
              <a:lnSpc>
                <a:spcPct val="110000"/>
              </a:lnSpc>
            </a:pPr>
            <a:r>
              <a:rPr sz="850">
                <a:solidFill>
                  <a:srgbClr val="93A1B5"/>
                </a:solidFill>
                <a:latin typeface="Segoe UI"/>
              </a:rPr>
              <a:t>rules engine</a:t>
            </a:r>
          </a:p>
        </p:txBody>
      </p:sp>
      <p:cxnSp>
        <p:nvCxnSpPr>
          <p:cNvPr id="11" name="Connector 10"/>
          <p:cNvCxnSpPr/>
          <p:nvPr/>
        </p:nvCxnSpPr>
        <p:spPr>
          <a:xfrm>
            <a:off x="7278623" y="2724912"/>
            <a:ext cx="118873"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7415783" y="2286000"/>
            <a:ext cx="2057400" cy="868680"/>
          </a:xfrm>
          <a:prstGeom prst="roundRect">
            <a:avLst>
              <a:gd name="adj" fmla="val 3500"/>
            </a:avLst>
          </a:prstGeom>
          <a:solidFill>
            <a:srgbClr val="0C1322"/>
          </a:solidFill>
          <a:ln w="15875">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REQUEST</a:t>
            </a:r>
          </a:p>
          <a:p>
            <a:pPr algn="ctr">
              <a:lnSpc>
                <a:spcPct val="110000"/>
              </a:lnSpc>
            </a:pPr>
            <a:r>
              <a:rPr sz="850">
                <a:solidFill>
                  <a:srgbClr val="93A1B5"/>
                </a:solidFill>
                <a:latin typeface="Segoe UI"/>
              </a:rPr>
              <a:t>guided, 5 steps</a:t>
            </a:r>
          </a:p>
        </p:txBody>
      </p:sp>
      <p:cxnSp>
        <p:nvCxnSpPr>
          <p:cNvPr id="13" name="Connector 12"/>
          <p:cNvCxnSpPr/>
          <p:nvPr/>
        </p:nvCxnSpPr>
        <p:spPr>
          <a:xfrm>
            <a:off x="9491472" y="2724912"/>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9628632" y="2286000"/>
            <a:ext cx="2057400" cy="86868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MECHANIC MATCH</a:t>
            </a:r>
          </a:p>
          <a:p>
            <a:pPr algn="ctr">
              <a:lnSpc>
                <a:spcPct val="110000"/>
              </a:lnSpc>
            </a:pPr>
            <a:r>
              <a:rPr sz="850">
                <a:solidFill>
                  <a:srgbClr val="93A1B5"/>
                </a:solidFill>
                <a:latin typeface="Segoe UI"/>
              </a:rPr>
              <a:t>PostGIS + ranker</a:t>
            </a:r>
          </a:p>
        </p:txBody>
      </p:sp>
      <p:cxnSp>
        <p:nvCxnSpPr>
          <p:cNvPr id="15" name="Connector 14"/>
          <p:cNvCxnSpPr/>
          <p:nvPr/>
        </p:nvCxnSpPr>
        <p:spPr>
          <a:xfrm>
            <a:off x="10652759" y="3172968"/>
            <a:ext cx="0" cy="301752"/>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777240" y="3493008"/>
            <a:ext cx="2057400" cy="86868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BOOKING</a:t>
            </a:r>
          </a:p>
          <a:p>
            <a:pPr algn="ctr">
              <a:lnSpc>
                <a:spcPct val="110000"/>
              </a:lnSpc>
            </a:pPr>
            <a:r>
              <a:rPr sz="850">
                <a:solidFill>
                  <a:srgbClr val="93A1B5"/>
                </a:solidFill>
                <a:latin typeface="Segoe UI"/>
              </a:rPr>
              <a:t>state machine</a:t>
            </a:r>
          </a:p>
        </p:txBody>
      </p:sp>
      <p:cxnSp>
        <p:nvCxnSpPr>
          <p:cNvPr id="17" name="Connector 16"/>
          <p:cNvCxnSpPr/>
          <p:nvPr/>
        </p:nvCxnSpPr>
        <p:spPr>
          <a:xfrm>
            <a:off x="2852928" y="3931920"/>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2990088" y="3493008"/>
            <a:ext cx="2057400" cy="868680"/>
          </a:xfrm>
          <a:prstGeom prst="roundRect">
            <a:avLst>
              <a:gd name="adj" fmla="val 3500"/>
            </a:avLst>
          </a:prstGeom>
          <a:solidFill>
            <a:srgbClr val="0C1322"/>
          </a:solidFill>
          <a:ln w="15875">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LIVE TRACKING</a:t>
            </a:r>
          </a:p>
          <a:p>
            <a:pPr algn="ctr">
              <a:lnSpc>
                <a:spcPct val="110000"/>
              </a:lnSpc>
            </a:pPr>
            <a:r>
              <a:rPr sz="850">
                <a:solidFill>
                  <a:srgbClr val="93A1B5"/>
                </a:solidFill>
                <a:latin typeface="Segoe UI"/>
              </a:rPr>
              <a:t>distance + ETA</a:t>
            </a:r>
          </a:p>
        </p:txBody>
      </p:sp>
      <p:cxnSp>
        <p:nvCxnSpPr>
          <p:cNvPr id="19" name="Connector 18"/>
          <p:cNvCxnSpPr/>
          <p:nvPr/>
        </p:nvCxnSpPr>
        <p:spPr>
          <a:xfrm>
            <a:off x="5065776" y="3931920"/>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202936" y="3493008"/>
            <a:ext cx="2057400" cy="868680"/>
          </a:xfrm>
          <a:prstGeom prst="roundRect">
            <a:avLst>
              <a:gd name="adj" fmla="val 3500"/>
            </a:avLst>
          </a:prstGeom>
          <a:solidFill>
            <a:srgbClr val="0C1322"/>
          </a:solidFill>
          <a:ln w="15875">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SERVICE</a:t>
            </a:r>
          </a:p>
          <a:p>
            <a:pPr algn="ctr">
              <a:lnSpc>
                <a:spcPct val="110000"/>
              </a:lnSpc>
            </a:pPr>
            <a:r>
              <a:rPr sz="850">
                <a:solidFill>
                  <a:srgbClr val="93A1B5"/>
                </a:solidFill>
                <a:latin typeface="Segoe UI"/>
              </a:rPr>
              <a:t>mechanic drives it</a:t>
            </a:r>
          </a:p>
        </p:txBody>
      </p:sp>
      <p:cxnSp>
        <p:nvCxnSpPr>
          <p:cNvPr id="21" name="Connector 20"/>
          <p:cNvCxnSpPr/>
          <p:nvPr/>
        </p:nvCxnSpPr>
        <p:spPr>
          <a:xfrm>
            <a:off x="7278623" y="3931920"/>
            <a:ext cx="118873"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7415783" y="3493008"/>
            <a:ext cx="205740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PAYMENT</a:t>
            </a:r>
          </a:p>
          <a:p>
            <a:pPr algn="ctr">
              <a:lnSpc>
                <a:spcPct val="110000"/>
              </a:lnSpc>
            </a:pPr>
            <a:r>
              <a:rPr sz="850">
                <a:solidFill>
                  <a:srgbClr val="93A1B5"/>
                </a:solidFill>
                <a:latin typeface="Segoe UI"/>
              </a:rPr>
              <a:t>invoice-derived</a:t>
            </a:r>
          </a:p>
        </p:txBody>
      </p:sp>
      <p:cxnSp>
        <p:nvCxnSpPr>
          <p:cNvPr id="23" name="Connector 22"/>
          <p:cNvCxnSpPr/>
          <p:nvPr/>
        </p:nvCxnSpPr>
        <p:spPr>
          <a:xfrm>
            <a:off x="9491472" y="3931920"/>
            <a:ext cx="118872" cy="0"/>
          </a:xfrm>
          <a:prstGeom prst="line">
            <a:avLst/>
          </a:prstGeom>
          <a:ln w="12700">
            <a:solidFill>
              <a:srgbClr val="5C6B80"/>
            </a:solidFill>
            <a:tailEnd type="triangle" w="sm" len="sm"/>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628632" y="3493008"/>
            <a:ext cx="2057400" cy="868680"/>
          </a:xfrm>
          <a:prstGeom prst="roundRect">
            <a:avLst>
              <a:gd name="adj" fmla="val 3500"/>
            </a:avLst>
          </a:prstGeom>
          <a:solidFill>
            <a:srgbClr val="0C1322"/>
          </a:solidFill>
          <a:ln w="15875">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73152" tIns="36576" rIns="73152" bIns="36576" rtlCol="0" anchor="ctr"/>
          <a:lstStyle/>
          <a:p>
            <a:pPr algn="ctr"/>
            <a:r>
              <a:rPr sz="1050" b="1">
                <a:solidFill>
                  <a:srgbClr val="F4F7FB"/>
                </a:solidFill>
                <a:latin typeface="Segoe UI Semibold"/>
              </a:rPr>
              <a:t>REVIEW</a:t>
            </a:r>
          </a:p>
          <a:p>
            <a:pPr algn="ctr">
              <a:lnSpc>
                <a:spcPct val="110000"/>
              </a:lnSpc>
            </a:pPr>
            <a:r>
              <a:rPr sz="850">
                <a:solidFill>
                  <a:srgbClr val="93A1B5"/>
                </a:solidFill>
                <a:latin typeface="Segoe UI"/>
              </a:rPr>
              <a:t>feeds the ranker</a:t>
            </a:r>
          </a:p>
        </p:txBody>
      </p:sp>
      <p:sp>
        <p:nvSpPr>
          <p:cNvPr id="25" name="Rounded Rectangle 24"/>
          <p:cNvSpPr/>
          <p:nvPr/>
        </p:nvSpPr>
        <p:spPr>
          <a:xfrm>
            <a:off x="777240" y="4754880"/>
            <a:ext cx="10607040" cy="841248"/>
          </a:xfrm>
          <a:prstGeom prst="roundRect">
            <a:avLst>
              <a:gd name="adj" fmla="val 3500"/>
            </a:avLst>
          </a:prstGeom>
          <a:solidFill>
            <a:srgbClr val="131D30"/>
          </a:solidFill>
          <a:ln w="1778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960120" y="4882896"/>
            <a:ext cx="10241280" cy="274320"/>
          </a:xfrm>
          <a:prstGeom prst="rect">
            <a:avLst/>
          </a:prstGeom>
          <a:noFill/>
        </p:spPr>
        <p:txBody>
          <a:bodyPr wrap="square" lIns="0" tIns="0" rIns="0" bIns="0" anchor="t">
            <a:spAutoFit/>
          </a:bodyPr>
          <a:lstStyle/>
          <a:p>
            <a:pPr algn="ctr">
              <a:lnSpc>
                <a:spcPct val="125000"/>
              </a:lnSpc>
            </a:pPr>
            <a:r>
              <a:rPr sz="1100" b="1" i="0" spc="160">
                <a:solidFill>
                  <a:srgbClr val="F4F7FB"/>
                </a:solidFill>
                <a:latin typeface="Segoe UI"/>
              </a:rPr>
              <a:t>SUPPORTED AT EVERY STEP BY THE CLOUD PLATFORM</a:t>
            </a:r>
          </a:p>
        </p:txBody>
      </p:sp>
      <p:sp>
        <p:nvSpPr>
          <p:cNvPr id="27" name="Rounded Rectangle 26"/>
          <p:cNvSpPr/>
          <p:nvPr/>
        </p:nvSpPr>
        <p:spPr>
          <a:xfrm>
            <a:off x="960120" y="5193792"/>
            <a:ext cx="1645920" cy="310896"/>
          </a:xfrm>
          <a:prstGeom prst="roundRect">
            <a:avLst>
              <a:gd name="adj" fmla="val 50000"/>
            </a:avLst>
          </a:prstGeom>
          <a:solidFill>
            <a:srgbClr val="0C1322"/>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Compute</a:t>
            </a:r>
          </a:p>
        </p:txBody>
      </p:sp>
      <p:sp>
        <p:nvSpPr>
          <p:cNvPr id="28" name="Rounded Rectangle 27"/>
          <p:cNvSpPr/>
          <p:nvPr/>
        </p:nvSpPr>
        <p:spPr>
          <a:xfrm>
            <a:off x="2697480" y="5193792"/>
            <a:ext cx="1645920"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Storage</a:t>
            </a:r>
          </a:p>
        </p:txBody>
      </p:sp>
      <p:sp>
        <p:nvSpPr>
          <p:cNvPr id="29" name="Rounded Rectangle 28"/>
          <p:cNvSpPr/>
          <p:nvPr/>
        </p:nvSpPr>
        <p:spPr>
          <a:xfrm>
            <a:off x="4434840" y="5193792"/>
            <a:ext cx="1645920" cy="310896"/>
          </a:xfrm>
          <a:prstGeom prst="roundRect">
            <a:avLst>
              <a:gd name="adj" fmla="val 50000"/>
            </a:avLst>
          </a:prstGeom>
          <a:solidFill>
            <a:srgbClr val="0C1322"/>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Network</a:t>
            </a:r>
          </a:p>
        </p:txBody>
      </p:sp>
      <p:sp>
        <p:nvSpPr>
          <p:cNvPr id="30" name="Rounded Rectangle 29"/>
          <p:cNvSpPr/>
          <p:nvPr/>
        </p:nvSpPr>
        <p:spPr>
          <a:xfrm>
            <a:off x="6172199" y="5193792"/>
            <a:ext cx="1645920" cy="310896"/>
          </a:xfrm>
          <a:prstGeom prst="roundRect">
            <a:avLst>
              <a:gd name="adj" fmla="val 50000"/>
            </a:avLst>
          </a:prstGeom>
          <a:solidFill>
            <a:srgbClr val="0C1322"/>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Services</a:t>
            </a:r>
          </a:p>
        </p:txBody>
      </p:sp>
      <p:sp>
        <p:nvSpPr>
          <p:cNvPr id="31" name="Rounded Rectangle 30"/>
          <p:cNvSpPr/>
          <p:nvPr/>
        </p:nvSpPr>
        <p:spPr>
          <a:xfrm>
            <a:off x="7909560" y="5193792"/>
            <a:ext cx="1645920" cy="310896"/>
          </a:xfrm>
          <a:prstGeom prst="roundRect">
            <a:avLst>
              <a:gd name="adj" fmla="val 50000"/>
            </a:avLst>
          </a:prstGeom>
          <a:solidFill>
            <a:srgbClr val="0C1322"/>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FF4D5E"/>
                </a:solidFill>
                <a:latin typeface="Segoe UI"/>
              </a:rPr>
              <a:t>Security</a:t>
            </a:r>
          </a:p>
        </p:txBody>
      </p:sp>
      <p:sp>
        <p:nvSpPr>
          <p:cNvPr id="32" name="Rounded Rectangle 31"/>
          <p:cNvSpPr/>
          <p:nvPr/>
        </p:nvSpPr>
        <p:spPr>
          <a:xfrm>
            <a:off x="9646920" y="5193792"/>
            <a:ext cx="1645920" cy="310896"/>
          </a:xfrm>
          <a:prstGeom prst="roundRect">
            <a:avLst>
              <a:gd name="adj" fmla="val 50000"/>
            </a:avLst>
          </a:prstGeom>
          <a:solidFill>
            <a:srgbClr val="0C1322"/>
          </a:solidFill>
          <a:ln w="11430">
            <a:solidFill>
              <a:srgbClr val="F5B14C"/>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F5B14C"/>
                </a:solidFill>
                <a:latin typeface="Segoe UI"/>
              </a:rPr>
              <a:t>Monitoring</a:t>
            </a:r>
          </a:p>
        </p:txBody>
      </p:sp>
      <p:sp>
        <p:nvSpPr>
          <p:cNvPr id="33" name="TextBox 32"/>
          <p:cNvSpPr txBox="1"/>
          <p:nvPr/>
        </p:nvSpPr>
        <p:spPr>
          <a:xfrm>
            <a:off x="777240" y="5742432"/>
            <a:ext cx="10607040" cy="384048"/>
          </a:xfrm>
          <a:prstGeom prst="rect">
            <a:avLst/>
          </a:prstGeom>
          <a:noFill/>
        </p:spPr>
        <p:txBody>
          <a:bodyPr wrap="square" lIns="0" tIns="0" rIns="0" bIns="0" anchor="t">
            <a:spAutoFit/>
          </a:bodyPr>
          <a:lstStyle/>
          <a:p>
            <a:pPr algn="l">
              <a:lnSpc>
                <a:spcPct val="130000"/>
              </a:lnSpc>
            </a:pPr>
            <a:r>
              <a:rPr sz="1000" b="0" i="0">
                <a:solidFill>
                  <a:srgbClr val="93A1B5"/>
                </a:solidFill>
                <a:latin typeface="Segoe UI"/>
              </a:rPr>
              <a:t>Verified end to end by an automated browser suite driving this exact journey across both applications — 115 browser assertions, plus 165 API, 26 security and 22 payment-gateway assertions.</a:t>
            </a:r>
          </a:p>
        </p:txBody>
      </p:sp>
      <p:sp>
        <p:nvSpPr>
          <p:cNvPr id="34" name="TextBox 33"/>
          <p:cNvSpPr txBox="1"/>
          <p:nvPr/>
        </p:nvSpPr>
        <p:spPr>
          <a:xfrm>
            <a:off x="777240" y="6382512"/>
            <a:ext cx="8229600" cy="256032"/>
          </a:xfrm>
          <a:prstGeom prst="rect">
            <a:avLst/>
          </a:prstGeom>
          <a:noFill/>
        </p:spPr>
        <p:txBody>
          <a:bodyPr wrap="square" lIns="0" tIns="0" rIns="0" bIns="0" anchor="t">
            <a:spAutoFit/>
          </a:bodyPr>
          <a:lstStyle/>
          <a:p>
            <a:pPr algn="l">
              <a:lnSpc>
                <a:spcPct val="125000"/>
              </a:lnSpc>
            </a:pPr>
            <a:r>
              <a:rPr sz="800" b="0" i="0" spc="200">
                <a:solidFill>
                  <a:srgbClr val="5C6B80"/>
                </a:solidFill>
                <a:latin typeface="Segoe UI"/>
              </a:rPr>
              <a:t>ROADASSIST BHARAT · SWE4004 CLOUD COMPUTING AND APPLICATIONS</a:t>
            </a:r>
          </a:p>
        </p:txBody>
      </p:sp>
      <p:sp>
        <p:nvSpPr>
          <p:cNvPr id="35" name="TextBox 3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26</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hero.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822960" y="1965960"/>
            <a:ext cx="7863840" cy="1554480"/>
          </a:xfrm>
          <a:prstGeom prst="rect">
            <a:avLst/>
          </a:prstGeom>
          <a:noFill/>
        </p:spPr>
        <p:txBody>
          <a:bodyPr wrap="square" lIns="0" tIns="0" rIns="0" bIns="0" anchor="t">
            <a:spAutoFit/>
          </a:bodyPr>
          <a:lstStyle/>
          <a:p>
            <a:pPr algn="l">
              <a:lnSpc>
                <a:spcPct val="112000"/>
              </a:lnSpc>
            </a:pPr>
            <a:r>
              <a:rPr sz="4000" b="1" i="0">
                <a:solidFill>
                  <a:srgbClr val="F4F7FB"/>
                </a:solidFill>
                <a:latin typeface="Segoe UI Semibold"/>
              </a:rPr>
              <a:t>WHEN THE ROAD STOPS,</a:t>
            </a:r>
          </a:p>
          <a:p>
            <a:pPr algn="l">
              <a:lnSpc>
                <a:spcPct val="112000"/>
              </a:lnSpc>
            </a:pPr>
            <a:r>
              <a:rPr sz="4000" b="1" i="0">
                <a:solidFill>
                  <a:srgbClr val="F4F7FB"/>
                </a:solidFill>
                <a:latin typeface="Segoe UI Semibold"/>
              </a:rPr>
              <a:t>ROADASSIST BHARAT</a:t>
            </a:r>
          </a:p>
          <a:p>
            <a:pPr algn="l">
              <a:lnSpc>
                <a:spcPct val="112000"/>
              </a:lnSpc>
            </a:pPr>
            <a:r>
              <a:rPr sz="4000" b="1" i="0">
                <a:solidFill>
                  <a:srgbClr val="F4F7FB"/>
                </a:solidFill>
                <a:latin typeface="Segoe UI Semibold"/>
              </a:rPr>
              <a:t>KEEPS YOU MOVING.</a:t>
            </a:r>
          </a:p>
        </p:txBody>
      </p:sp>
      <p:sp>
        <p:nvSpPr>
          <p:cNvPr id="4" name="Rectangle 3"/>
          <p:cNvSpPr/>
          <p:nvPr/>
        </p:nvSpPr>
        <p:spPr>
          <a:xfrm>
            <a:off x="822960" y="3794760"/>
            <a:ext cx="1371600" cy="45720"/>
          </a:xfrm>
          <a:prstGeom prst="rect">
            <a:avLst/>
          </a:prstGeom>
          <a:solidFill>
            <a:srgbClr val="2E7D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822960" y="4069080"/>
            <a:ext cx="7315200" cy="457200"/>
          </a:xfrm>
          <a:prstGeom prst="rect">
            <a:avLst/>
          </a:prstGeom>
          <a:noFill/>
        </p:spPr>
        <p:txBody>
          <a:bodyPr wrap="square" lIns="0" tIns="0" rIns="0" bIns="0" anchor="t">
            <a:spAutoFit/>
          </a:bodyPr>
          <a:lstStyle/>
          <a:p>
            <a:pPr algn="l">
              <a:lnSpc>
                <a:spcPct val="125000"/>
              </a:lnSpc>
            </a:pPr>
            <a:r>
              <a:rPr sz="2000" b="1" i="0" spc="320">
                <a:solidFill>
                  <a:srgbClr val="22D3EE"/>
                </a:solidFill>
                <a:latin typeface="Segoe UI Semibold"/>
              </a:rPr>
              <a:t>AI  +  CLOUD  +  MOBILITY  +  SAFETY</a:t>
            </a:r>
          </a:p>
        </p:txBody>
      </p:sp>
      <p:sp>
        <p:nvSpPr>
          <p:cNvPr id="6" name="Rounded Rectangle 5"/>
          <p:cNvSpPr/>
          <p:nvPr/>
        </p:nvSpPr>
        <p:spPr>
          <a:xfrm>
            <a:off x="822960" y="4892040"/>
            <a:ext cx="1060704" cy="329184"/>
          </a:xfrm>
          <a:prstGeom prst="roundRect">
            <a:avLst>
              <a:gd name="adj" fmla="val 50000"/>
            </a:avLst>
          </a:prstGeom>
          <a:solidFill>
            <a:srgbClr val="131D30"/>
          </a:solidFill>
          <a:ln w="11430">
            <a:solidFill>
              <a:srgbClr val="22D3E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2D3EE"/>
                </a:solidFill>
                <a:latin typeface="Segoe UI"/>
              </a:rPr>
              <a:t>AI</a:t>
            </a:r>
          </a:p>
        </p:txBody>
      </p:sp>
      <p:sp>
        <p:nvSpPr>
          <p:cNvPr id="7" name="Rounded Rectangle 6"/>
          <p:cNvSpPr/>
          <p:nvPr/>
        </p:nvSpPr>
        <p:spPr>
          <a:xfrm>
            <a:off x="1993392" y="4892040"/>
            <a:ext cx="1060704" cy="329184"/>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CLOUD</a:t>
            </a:r>
          </a:p>
        </p:txBody>
      </p:sp>
      <p:sp>
        <p:nvSpPr>
          <p:cNvPr id="8" name="Rounded Rectangle 7"/>
          <p:cNvSpPr/>
          <p:nvPr/>
        </p:nvSpPr>
        <p:spPr>
          <a:xfrm>
            <a:off x="3163824" y="4892040"/>
            <a:ext cx="1060704" cy="329184"/>
          </a:xfrm>
          <a:prstGeom prst="roundRect">
            <a:avLst>
              <a:gd name="adj" fmla="val 50000"/>
            </a:avLst>
          </a:prstGeom>
          <a:solidFill>
            <a:srgbClr val="131D30"/>
          </a:solidFill>
          <a:ln w="11430">
            <a:solidFill>
              <a:srgbClr val="2E7DFF"/>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2E7DFF"/>
                </a:solidFill>
                <a:latin typeface="Segoe UI"/>
              </a:rPr>
              <a:t>MAP</a:t>
            </a:r>
          </a:p>
        </p:txBody>
      </p:sp>
      <p:sp>
        <p:nvSpPr>
          <p:cNvPr id="9" name="Rounded Rectangle 8"/>
          <p:cNvSpPr/>
          <p:nvPr/>
        </p:nvSpPr>
        <p:spPr>
          <a:xfrm>
            <a:off x="4334256" y="4892040"/>
            <a:ext cx="1060704" cy="329184"/>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MECHANIC</a:t>
            </a:r>
          </a:p>
        </p:txBody>
      </p:sp>
      <p:sp>
        <p:nvSpPr>
          <p:cNvPr id="10" name="Rounded Rectangle 9"/>
          <p:cNvSpPr/>
          <p:nvPr/>
        </p:nvSpPr>
        <p:spPr>
          <a:xfrm>
            <a:off x="5504688" y="4892040"/>
            <a:ext cx="1060704" cy="329184"/>
          </a:xfrm>
          <a:prstGeom prst="roundRect">
            <a:avLst>
              <a:gd name="adj" fmla="val 50000"/>
            </a:avLst>
          </a:prstGeom>
          <a:solidFill>
            <a:srgbClr val="131D30"/>
          </a:solidFill>
          <a:ln w="11430">
            <a:solidFill>
              <a:srgbClr val="FF4D5E"/>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FF4D5E"/>
                </a:solidFill>
                <a:latin typeface="Segoe UI"/>
              </a:rPr>
              <a:t>RAKSHA</a:t>
            </a:r>
          </a:p>
        </p:txBody>
      </p:sp>
      <p:sp>
        <p:nvSpPr>
          <p:cNvPr id="11" name="Rounded Rectangle 10"/>
          <p:cNvSpPr/>
          <p:nvPr/>
        </p:nvSpPr>
        <p:spPr>
          <a:xfrm>
            <a:off x="6675120" y="4892040"/>
            <a:ext cx="1060704" cy="329184"/>
          </a:xfrm>
          <a:prstGeom prst="roundRect">
            <a:avLst>
              <a:gd name="adj" fmla="val 50000"/>
            </a:avLst>
          </a:prstGeom>
          <a:solidFill>
            <a:srgbClr val="131D30"/>
          </a:solidFill>
          <a:ln w="11430">
            <a:solidFill>
              <a:srgbClr val="34D399"/>
            </a:solidFill>
          </a:ln>
          <a:effectLst/>
        </p:spPr>
        <p:style>
          <a:lnRef idx="1">
            <a:schemeClr val="accent1"/>
          </a:lnRef>
          <a:fillRef idx="3">
            <a:schemeClr val="accent1"/>
          </a:fillRef>
          <a:effectRef idx="2">
            <a:schemeClr val="accent1"/>
          </a:effectRef>
          <a:fontRef idx="minor">
            <a:schemeClr val="lt1"/>
          </a:fontRef>
        </p:style>
        <p:txBody>
          <a:bodyPr wrap="square" lIns="54864" tIns="0" rIns="54864" bIns="0" rtlCol="0" anchor="ctr"/>
          <a:lstStyle/>
          <a:p>
            <a:pPr algn="ctr"/>
            <a:r>
              <a:rPr sz="850" b="1">
                <a:solidFill>
                  <a:srgbClr val="34D399"/>
                </a:solidFill>
                <a:latin typeface="Segoe UI"/>
              </a:rPr>
              <a:t>SAFETY</a:t>
            </a:r>
          </a:p>
        </p:txBody>
      </p:sp>
      <p:sp>
        <p:nvSpPr>
          <p:cNvPr id="12" name="TextBox 11"/>
          <p:cNvSpPr txBox="1"/>
          <p:nvPr/>
        </p:nvSpPr>
        <p:spPr>
          <a:xfrm>
            <a:off x="822960" y="5532120"/>
            <a:ext cx="7498079" cy="365760"/>
          </a:xfrm>
          <a:prstGeom prst="rect">
            <a:avLst/>
          </a:prstGeom>
          <a:noFill/>
        </p:spPr>
        <p:txBody>
          <a:bodyPr wrap="square" lIns="0" tIns="0" rIns="0" bIns="0" anchor="t">
            <a:spAutoFit/>
          </a:bodyPr>
          <a:lstStyle/>
          <a:p>
            <a:pPr algn="l">
              <a:lnSpc>
                <a:spcPct val="125000"/>
              </a:lnSpc>
            </a:pPr>
            <a:r>
              <a:rPr sz="1200" b="0" i="1">
                <a:solidFill>
                  <a:srgbClr val="93A1B5"/>
                </a:solidFill>
                <a:latin typeface="Segoe UI"/>
              </a:rPr>
              <a:t>A working platform, used to demonstrate Cloud Computing Modules 1 through 4.</a:t>
            </a:r>
          </a:p>
        </p:txBody>
      </p:sp>
      <p:pic>
        <p:nvPicPr>
          <p:cNvPr id="13" name="Picture 12" descr="_fit_close.png"/>
          <p:cNvPicPr>
            <a:picLocks noChangeAspect="1"/>
          </p:cNvPicPr>
          <p:nvPr/>
        </p:nvPicPr>
        <p:blipFill>
          <a:blip r:embed="rId4"/>
          <a:stretch>
            <a:fillRect/>
          </a:stretch>
        </p:blipFill>
        <p:spPr>
          <a:xfrm>
            <a:off x="8549640" y="1828800"/>
            <a:ext cx="2834640" cy="3840480"/>
          </a:xfrm>
          <a:prstGeom prst="rect">
            <a:avLst/>
          </a:prstGeom>
        </p:spPr>
      </p:pic>
      <p:sp>
        <p:nvSpPr>
          <p:cNvPr id="14" name="Rounded Rectangle 13"/>
          <p:cNvSpPr/>
          <p:nvPr/>
        </p:nvSpPr>
        <p:spPr>
          <a:xfrm>
            <a:off x="8549640" y="1828800"/>
            <a:ext cx="2834640" cy="3840480"/>
          </a:xfrm>
          <a:prstGeom prst="roundRect">
            <a:avLst>
              <a:gd name="adj" fmla="val 2000"/>
            </a:avLst>
          </a:prstGeom>
          <a:no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27</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SWE4004 · SYLLABUS COVERAGE</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200" b="1" i="0">
                <a:solidFill>
                  <a:srgbClr val="F4F7FB"/>
                </a:solidFill>
                <a:latin typeface="Segoe UI Semibold"/>
              </a:rPr>
              <a:t>ACADEMIC MODULE MAPPING</a:t>
            </a:r>
          </a:p>
        </p:txBody>
      </p:sp>
      <p:sp>
        <p:nvSpPr>
          <p:cNvPr id="5" name="Rounded Rectangle 4"/>
          <p:cNvSpPr/>
          <p:nvPr/>
        </p:nvSpPr>
        <p:spPr>
          <a:xfrm>
            <a:off x="777240" y="2148840"/>
            <a:ext cx="10607040" cy="987552"/>
          </a:xfrm>
          <a:prstGeom prst="roundRect">
            <a:avLst>
              <a:gd name="adj" fmla="val 3500"/>
            </a:avLst>
          </a:prstGeom>
          <a:solidFill>
            <a:srgbClr val="0C1322"/>
          </a:solidFill>
          <a:ln w="16510">
            <a:solidFill>
              <a:srgbClr val="2E7D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1005840" y="2276856"/>
            <a:ext cx="1463040" cy="274320"/>
          </a:xfrm>
          <a:prstGeom prst="rect">
            <a:avLst/>
          </a:prstGeom>
          <a:noFill/>
        </p:spPr>
        <p:txBody>
          <a:bodyPr wrap="square" lIns="0" tIns="0" rIns="0" bIns="0" anchor="t">
            <a:spAutoFit/>
          </a:bodyPr>
          <a:lstStyle/>
          <a:p>
            <a:pPr algn="l">
              <a:lnSpc>
                <a:spcPct val="125000"/>
              </a:lnSpc>
            </a:pPr>
            <a:r>
              <a:rPr sz="1300" b="1" i="0">
                <a:solidFill>
                  <a:srgbClr val="2E7DFF"/>
                </a:solidFill>
                <a:latin typeface="Segoe UI Semibold"/>
              </a:rPr>
              <a:t>MODULE 1</a:t>
            </a:r>
          </a:p>
        </p:txBody>
      </p:sp>
      <p:sp>
        <p:nvSpPr>
          <p:cNvPr id="7" name="TextBox 6"/>
          <p:cNvSpPr txBox="1"/>
          <p:nvPr/>
        </p:nvSpPr>
        <p:spPr>
          <a:xfrm>
            <a:off x="1005840" y="2560320"/>
            <a:ext cx="1737360" cy="457200"/>
          </a:xfrm>
          <a:prstGeom prst="rect">
            <a:avLst/>
          </a:prstGeom>
          <a:noFill/>
        </p:spPr>
        <p:txBody>
          <a:bodyPr wrap="square" lIns="0" tIns="0" rIns="0" bIns="0" anchor="t">
            <a:spAutoFit/>
          </a:bodyPr>
          <a:lstStyle/>
          <a:p>
            <a:pPr algn="l">
              <a:lnSpc>
                <a:spcPct val="120000"/>
              </a:lnSpc>
            </a:pPr>
            <a:r>
              <a:rPr sz="850" b="0" i="0">
                <a:solidFill>
                  <a:srgbClr val="5C6B80"/>
                </a:solidFill>
                <a:latin typeface="Segoe UI"/>
              </a:rPr>
              <a:t>Slides 4, 5, 6, 7, 8</a:t>
            </a:r>
          </a:p>
        </p:txBody>
      </p:sp>
      <p:sp>
        <p:nvSpPr>
          <p:cNvPr id="8" name="TextBox 7"/>
          <p:cNvSpPr txBox="1"/>
          <p:nvPr/>
        </p:nvSpPr>
        <p:spPr>
          <a:xfrm>
            <a:off x="2880360" y="2267712"/>
            <a:ext cx="8321040" cy="274320"/>
          </a:xfrm>
          <a:prstGeom prst="rect">
            <a:avLst/>
          </a:prstGeom>
          <a:noFill/>
        </p:spPr>
        <p:txBody>
          <a:bodyPr wrap="square" lIns="0" tIns="0" rIns="0" bIns="0" anchor="t">
            <a:spAutoFit/>
          </a:bodyPr>
          <a:lstStyle/>
          <a:p>
            <a:pPr algn="l">
              <a:lnSpc>
                <a:spcPct val="125000"/>
              </a:lnSpc>
            </a:pPr>
            <a:r>
              <a:rPr sz="1150" b="1" i="0" spc="120">
                <a:solidFill>
                  <a:srgbClr val="F4F7FB"/>
                </a:solidFill>
                <a:latin typeface="Segoe UI"/>
              </a:rPr>
              <a:t>UNDERSTANDING CLOUD COMPUTING</a:t>
            </a:r>
          </a:p>
        </p:txBody>
      </p:sp>
      <p:sp>
        <p:nvSpPr>
          <p:cNvPr id="9" name="TextBox 8"/>
          <p:cNvSpPr txBox="1"/>
          <p:nvPr/>
        </p:nvSpPr>
        <p:spPr>
          <a:xfrm>
            <a:off x="2880360" y="2532888"/>
            <a:ext cx="832104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Origins and influences · basic concepts and terminology · goals and benefits · risks and challenges · roles and boundaries · cloud characteristics · delivery models (IaaS/PaaS/SaaS) · deployment models</a:t>
            </a:r>
          </a:p>
        </p:txBody>
      </p:sp>
      <p:sp>
        <p:nvSpPr>
          <p:cNvPr id="10" name="Rounded Rectangle 9"/>
          <p:cNvSpPr/>
          <p:nvPr/>
        </p:nvSpPr>
        <p:spPr>
          <a:xfrm>
            <a:off x="777240" y="3209544"/>
            <a:ext cx="10607040" cy="987552"/>
          </a:xfrm>
          <a:prstGeom prst="roundRect">
            <a:avLst>
              <a:gd name="adj" fmla="val 3500"/>
            </a:avLst>
          </a:prstGeom>
          <a:solidFill>
            <a:srgbClr val="0C1322"/>
          </a:solidFill>
          <a:ln w="16510">
            <a:solidFill>
              <a:srgbClr val="22D3E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05840" y="3337560"/>
            <a:ext cx="1463040" cy="274320"/>
          </a:xfrm>
          <a:prstGeom prst="rect">
            <a:avLst/>
          </a:prstGeom>
          <a:noFill/>
        </p:spPr>
        <p:txBody>
          <a:bodyPr wrap="square" lIns="0" tIns="0" rIns="0" bIns="0" anchor="t">
            <a:spAutoFit/>
          </a:bodyPr>
          <a:lstStyle/>
          <a:p>
            <a:pPr algn="l">
              <a:lnSpc>
                <a:spcPct val="125000"/>
              </a:lnSpc>
            </a:pPr>
            <a:r>
              <a:rPr sz="1300" b="1" i="0">
                <a:solidFill>
                  <a:srgbClr val="22D3EE"/>
                </a:solidFill>
                <a:latin typeface="Segoe UI Semibold"/>
              </a:rPr>
              <a:t>MODULE 2</a:t>
            </a:r>
          </a:p>
        </p:txBody>
      </p:sp>
      <p:sp>
        <p:nvSpPr>
          <p:cNvPr id="12" name="TextBox 11"/>
          <p:cNvSpPr txBox="1"/>
          <p:nvPr/>
        </p:nvSpPr>
        <p:spPr>
          <a:xfrm>
            <a:off x="1005840" y="3621024"/>
            <a:ext cx="1737360" cy="457200"/>
          </a:xfrm>
          <a:prstGeom prst="rect">
            <a:avLst/>
          </a:prstGeom>
          <a:noFill/>
        </p:spPr>
        <p:txBody>
          <a:bodyPr wrap="square" lIns="0" tIns="0" rIns="0" bIns="0" anchor="t">
            <a:spAutoFit/>
          </a:bodyPr>
          <a:lstStyle/>
          <a:p>
            <a:pPr algn="l">
              <a:lnSpc>
                <a:spcPct val="120000"/>
              </a:lnSpc>
            </a:pPr>
            <a:r>
              <a:rPr sz="850" b="0" i="0">
                <a:solidFill>
                  <a:srgbClr val="5C6B80"/>
                </a:solidFill>
                <a:latin typeface="Segoe UI"/>
              </a:rPr>
              <a:t>Slides 9, 10, 11, 12, 13</a:t>
            </a:r>
          </a:p>
        </p:txBody>
      </p:sp>
      <p:sp>
        <p:nvSpPr>
          <p:cNvPr id="13" name="TextBox 12"/>
          <p:cNvSpPr txBox="1"/>
          <p:nvPr/>
        </p:nvSpPr>
        <p:spPr>
          <a:xfrm>
            <a:off x="2880360" y="3328415"/>
            <a:ext cx="8321040" cy="274320"/>
          </a:xfrm>
          <a:prstGeom prst="rect">
            <a:avLst/>
          </a:prstGeom>
          <a:noFill/>
        </p:spPr>
        <p:txBody>
          <a:bodyPr wrap="square" lIns="0" tIns="0" rIns="0" bIns="0" anchor="t">
            <a:spAutoFit/>
          </a:bodyPr>
          <a:lstStyle/>
          <a:p>
            <a:pPr algn="l">
              <a:lnSpc>
                <a:spcPct val="125000"/>
              </a:lnSpc>
            </a:pPr>
            <a:r>
              <a:rPr sz="1150" b="1" i="0" spc="120">
                <a:solidFill>
                  <a:srgbClr val="F4F7FB"/>
                </a:solidFill>
                <a:latin typeface="Segoe UI"/>
              </a:rPr>
              <a:t>CLOUD ENABLING TECHNOLOGY</a:t>
            </a:r>
          </a:p>
        </p:txBody>
      </p:sp>
      <p:sp>
        <p:nvSpPr>
          <p:cNvPr id="14" name="TextBox 13"/>
          <p:cNvSpPr txBox="1"/>
          <p:nvPr/>
        </p:nvSpPr>
        <p:spPr>
          <a:xfrm>
            <a:off x="2880360" y="3593591"/>
            <a:ext cx="832104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Data center technology · virtualization technology · web technology · multitenant technology · service technology (Razorpay gateway integration)</a:t>
            </a:r>
          </a:p>
        </p:txBody>
      </p:sp>
      <p:sp>
        <p:nvSpPr>
          <p:cNvPr id="15" name="Rounded Rectangle 14"/>
          <p:cNvSpPr/>
          <p:nvPr/>
        </p:nvSpPr>
        <p:spPr>
          <a:xfrm>
            <a:off x="777240" y="4270248"/>
            <a:ext cx="10607040" cy="987552"/>
          </a:xfrm>
          <a:prstGeom prst="roundRect">
            <a:avLst>
              <a:gd name="adj" fmla="val 3500"/>
            </a:avLst>
          </a:prstGeom>
          <a:solidFill>
            <a:srgbClr val="0C1322"/>
          </a:solidFill>
          <a:ln w="16510">
            <a:solidFill>
              <a:srgbClr val="34D39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4398264"/>
            <a:ext cx="1463040" cy="274320"/>
          </a:xfrm>
          <a:prstGeom prst="rect">
            <a:avLst/>
          </a:prstGeom>
          <a:noFill/>
        </p:spPr>
        <p:txBody>
          <a:bodyPr wrap="square" lIns="0" tIns="0" rIns="0" bIns="0" anchor="t">
            <a:spAutoFit/>
          </a:bodyPr>
          <a:lstStyle/>
          <a:p>
            <a:pPr algn="l">
              <a:lnSpc>
                <a:spcPct val="125000"/>
              </a:lnSpc>
            </a:pPr>
            <a:r>
              <a:rPr sz="1300" b="1" i="0">
                <a:solidFill>
                  <a:srgbClr val="34D399"/>
                </a:solidFill>
                <a:latin typeface="Segoe UI Semibold"/>
              </a:rPr>
              <a:t>MODULE 3</a:t>
            </a:r>
          </a:p>
        </p:txBody>
      </p:sp>
      <p:sp>
        <p:nvSpPr>
          <p:cNvPr id="17" name="TextBox 16"/>
          <p:cNvSpPr txBox="1"/>
          <p:nvPr/>
        </p:nvSpPr>
        <p:spPr>
          <a:xfrm>
            <a:off x="1005840" y="4681728"/>
            <a:ext cx="1737360" cy="457200"/>
          </a:xfrm>
          <a:prstGeom prst="rect">
            <a:avLst/>
          </a:prstGeom>
          <a:noFill/>
        </p:spPr>
        <p:txBody>
          <a:bodyPr wrap="square" lIns="0" tIns="0" rIns="0" bIns="0" anchor="t">
            <a:spAutoFit/>
          </a:bodyPr>
          <a:lstStyle/>
          <a:p>
            <a:pPr algn="l">
              <a:lnSpc>
                <a:spcPct val="120000"/>
              </a:lnSpc>
            </a:pPr>
            <a:r>
              <a:rPr sz="850" b="0" i="0">
                <a:solidFill>
                  <a:srgbClr val="5C6B80"/>
                </a:solidFill>
                <a:latin typeface="Segoe UI"/>
              </a:rPr>
              <a:t>Slides 14, 15, 16, 17, 18</a:t>
            </a:r>
          </a:p>
        </p:txBody>
      </p:sp>
      <p:sp>
        <p:nvSpPr>
          <p:cNvPr id="18" name="TextBox 17"/>
          <p:cNvSpPr txBox="1"/>
          <p:nvPr/>
        </p:nvSpPr>
        <p:spPr>
          <a:xfrm>
            <a:off x="2880360" y="4389120"/>
            <a:ext cx="8321040" cy="274320"/>
          </a:xfrm>
          <a:prstGeom prst="rect">
            <a:avLst/>
          </a:prstGeom>
          <a:noFill/>
        </p:spPr>
        <p:txBody>
          <a:bodyPr wrap="square" lIns="0" tIns="0" rIns="0" bIns="0" anchor="t">
            <a:spAutoFit/>
          </a:bodyPr>
          <a:lstStyle/>
          <a:p>
            <a:pPr algn="l">
              <a:lnSpc>
                <a:spcPct val="125000"/>
              </a:lnSpc>
            </a:pPr>
            <a:r>
              <a:rPr sz="1150" b="1" i="0" spc="120">
                <a:solidFill>
                  <a:srgbClr val="F4F7FB"/>
                </a:solidFill>
                <a:latin typeface="Segoe UI"/>
              </a:rPr>
              <a:t>CLOUD INFRASTRUCTURE MECHANISMS</a:t>
            </a:r>
          </a:p>
        </p:txBody>
      </p:sp>
      <p:sp>
        <p:nvSpPr>
          <p:cNvPr id="19" name="TextBox 18"/>
          <p:cNvSpPr txBox="1"/>
          <p:nvPr/>
        </p:nvSpPr>
        <p:spPr>
          <a:xfrm>
            <a:off x="2880360" y="4654296"/>
            <a:ext cx="832104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Network perimeter · virtual server · cloud storage device · cloud usage monitor · resource replication</a:t>
            </a:r>
          </a:p>
        </p:txBody>
      </p:sp>
      <p:sp>
        <p:nvSpPr>
          <p:cNvPr id="20" name="Rounded Rectangle 19"/>
          <p:cNvSpPr/>
          <p:nvPr/>
        </p:nvSpPr>
        <p:spPr>
          <a:xfrm>
            <a:off x="777240" y="5330952"/>
            <a:ext cx="10607040" cy="987552"/>
          </a:xfrm>
          <a:prstGeom prst="roundRect">
            <a:avLst>
              <a:gd name="adj" fmla="val 3500"/>
            </a:avLst>
          </a:prstGeom>
          <a:solidFill>
            <a:srgbClr val="0C1322"/>
          </a:solidFill>
          <a:ln w="16510">
            <a:solidFill>
              <a:srgbClr val="F5B14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005840" y="5458968"/>
            <a:ext cx="1463040" cy="274320"/>
          </a:xfrm>
          <a:prstGeom prst="rect">
            <a:avLst/>
          </a:prstGeom>
          <a:noFill/>
        </p:spPr>
        <p:txBody>
          <a:bodyPr wrap="square" lIns="0" tIns="0" rIns="0" bIns="0" anchor="t">
            <a:spAutoFit/>
          </a:bodyPr>
          <a:lstStyle/>
          <a:p>
            <a:pPr algn="l">
              <a:lnSpc>
                <a:spcPct val="125000"/>
              </a:lnSpc>
            </a:pPr>
            <a:r>
              <a:rPr sz="1300" b="1" i="0">
                <a:solidFill>
                  <a:srgbClr val="F5B14C"/>
                </a:solidFill>
                <a:latin typeface="Segoe UI Semibold"/>
              </a:rPr>
              <a:t>MODULE 4</a:t>
            </a:r>
          </a:p>
        </p:txBody>
      </p:sp>
      <p:sp>
        <p:nvSpPr>
          <p:cNvPr id="22" name="TextBox 21"/>
          <p:cNvSpPr txBox="1"/>
          <p:nvPr/>
        </p:nvSpPr>
        <p:spPr>
          <a:xfrm>
            <a:off x="1005840" y="5742432"/>
            <a:ext cx="1737360" cy="457200"/>
          </a:xfrm>
          <a:prstGeom prst="rect">
            <a:avLst/>
          </a:prstGeom>
          <a:noFill/>
        </p:spPr>
        <p:txBody>
          <a:bodyPr wrap="square" lIns="0" tIns="0" rIns="0" bIns="0" anchor="t">
            <a:spAutoFit/>
          </a:bodyPr>
          <a:lstStyle/>
          <a:p>
            <a:pPr algn="l">
              <a:lnSpc>
                <a:spcPct val="120000"/>
              </a:lnSpc>
            </a:pPr>
            <a:r>
              <a:rPr sz="850" b="0" i="0">
                <a:solidFill>
                  <a:srgbClr val="5C6B80"/>
                </a:solidFill>
                <a:latin typeface="Segoe UI"/>
              </a:rPr>
              <a:t>Slides 19, 20, 21, 22, 23, 24</a:t>
            </a:r>
          </a:p>
        </p:txBody>
      </p:sp>
      <p:sp>
        <p:nvSpPr>
          <p:cNvPr id="23" name="TextBox 22"/>
          <p:cNvSpPr txBox="1"/>
          <p:nvPr/>
        </p:nvSpPr>
        <p:spPr>
          <a:xfrm>
            <a:off x="2880360" y="5449824"/>
            <a:ext cx="8321040" cy="274320"/>
          </a:xfrm>
          <a:prstGeom prst="rect">
            <a:avLst/>
          </a:prstGeom>
          <a:noFill/>
        </p:spPr>
        <p:txBody>
          <a:bodyPr wrap="square" lIns="0" tIns="0" rIns="0" bIns="0" anchor="t">
            <a:spAutoFit/>
          </a:bodyPr>
          <a:lstStyle/>
          <a:p>
            <a:pPr algn="l">
              <a:lnSpc>
                <a:spcPct val="125000"/>
              </a:lnSpc>
            </a:pPr>
            <a:r>
              <a:rPr sz="1150" b="1" i="0" spc="120">
                <a:solidFill>
                  <a:srgbClr val="F4F7FB"/>
                </a:solidFill>
                <a:latin typeface="Segoe UI"/>
              </a:rPr>
              <a:t>FUNDAMENTAL CLOUD ARCHITECTURES</a:t>
            </a:r>
          </a:p>
        </p:txBody>
      </p:sp>
      <p:sp>
        <p:nvSpPr>
          <p:cNvPr id="24" name="TextBox 23"/>
          <p:cNvSpPr txBox="1"/>
          <p:nvPr/>
        </p:nvSpPr>
        <p:spPr>
          <a:xfrm>
            <a:off x="2880360" y="5715000"/>
            <a:ext cx="8321040" cy="548640"/>
          </a:xfrm>
          <a:prstGeom prst="rect">
            <a:avLst/>
          </a:prstGeom>
          <a:noFill/>
        </p:spPr>
        <p:txBody>
          <a:bodyPr wrap="square" lIns="0" tIns="0" rIns="0" bIns="0" anchor="t">
            <a:spAutoFit/>
          </a:bodyPr>
          <a:lstStyle/>
          <a:p>
            <a:pPr algn="l">
              <a:lnSpc>
                <a:spcPct val="130000"/>
              </a:lnSpc>
            </a:pPr>
            <a:r>
              <a:rPr sz="950" b="0" i="0">
                <a:solidFill>
                  <a:srgbClr val="93A1B5"/>
                </a:solidFill>
                <a:latin typeface="Segoe UI"/>
              </a:rPr>
              <a:t>Workload distribution · resource pooling · dynamic scalability · elastic resource capacity · service load balancing · cloud bursting · elastic disk provisioning · redundant storage · migration · static scheduling · dynamic scheduling</a:t>
            </a:r>
          </a:p>
        </p:txBody>
      </p:sp>
      <p:sp>
        <p:nvSpPr>
          <p:cNvPr id="25" name="TextBox 24"/>
          <p:cNvSpPr txBox="1"/>
          <p:nvPr/>
        </p:nvSpPr>
        <p:spPr>
          <a:xfrm>
            <a:off x="777240" y="6400800"/>
            <a:ext cx="10607040" cy="274320"/>
          </a:xfrm>
          <a:prstGeom prst="rect">
            <a:avLst/>
          </a:prstGeom>
          <a:noFill/>
        </p:spPr>
        <p:txBody>
          <a:bodyPr wrap="square" lIns="0" tIns="0" rIns="0" bIns="0" anchor="t">
            <a:spAutoFit/>
          </a:bodyPr>
          <a:lstStyle/>
          <a:p>
            <a:pPr algn="ctr">
              <a:lnSpc>
                <a:spcPct val="125000"/>
              </a:lnSpc>
            </a:pPr>
            <a:r>
              <a:rPr sz="950" b="0" i="0">
                <a:solidFill>
                  <a:srgbClr val="22D3EE"/>
                </a:solidFill>
                <a:latin typeface="Segoe UI"/>
              </a:rPr>
              <a:t>Every syllabus topic from Modules 1-4 appears in the main narrative, not in an appendix.</a:t>
            </a:r>
          </a:p>
        </p:txBody>
      </p:sp>
      <p:sp>
        <p:nvSpPr>
          <p:cNvPr id="26" name="TextBox 25"/>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28</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LIKELY QUESTIONS · 1 OF 4</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VIVA PREPARATION</a:t>
            </a:r>
          </a:p>
        </p:txBody>
      </p:sp>
      <p:sp>
        <p:nvSpPr>
          <p:cNvPr id="5" name="Rounded Rectangle 4"/>
          <p:cNvSpPr/>
          <p:nvPr/>
        </p:nvSpPr>
        <p:spPr>
          <a:xfrm>
            <a:off x="77724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cloud computing?</a:t>
            </a:r>
          </a:p>
        </p:txBody>
      </p:sp>
      <p:sp>
        <p:nvSpPr>
          <p:cNvPr id="7" name="TextBox 6"/>
          <p:cNvSpPr txBox="1"/>
          <p:nvPr/>
        </p:nvSpPr>
        <p:spPr>
          <a:xfrm>
            <a:off x="96012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On-demand network access to a shared pool of configurable computing resources, provisioned and released with minimal management effort. RoadAssist consumes compute, storage and network this way rather than owning hardware.</a:t>
            </a:r>
          </a:p>
        </p:txBody>
      </p:sp>
      <p:sp>
        <p:nvSpPr>
          <p:cNvPr id="8" name="Rounded Rectangle 7"/>
          <p:cNvSpPr/>
          <p:nvPr/>
        </p:nvSpPr>
        <p:spPr>
          <a:xfrm>
            <a:off x="617220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Why does RoadAssist need cloud computing?</a:t>
            </a:r>
          </a:p>
        </p:txBody>
      </p:sp>
      <p:sp>
        <p:nvSpPr>
          <p:cNvPr id="10" name="TextBox 9"/>
          <p:cNvSpPr txBox="1"/>
          <p:nvPr/>
        </p:nvSpPr>
        <p:spPr>
          <a:xfrm>
            <a:off x="635508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Because the information a stranded driver needs is spread across parties and must be combined in real time, and because demand is uneven and geographically dispersed. One authoritative service reachable from any road is the requirement.</a:t>
            </a:r>
          </a:p>
        </p:txBody>
      </p:sp>
      <p:sp>
        <p:nvSpPr>
          <p:cNvPr id="11" name="Rounded Rectangle 10"/>
          <p:cNvSpPr/>
          <p:nvPr/>
        </p:nvSpPr>
        <p:spPr>
          <a:xfrm>
            <a:off x="77724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are the characteristics of cloud computing?</a:t>
            </a:r>
          </a:p>
        </p:txBody>
      </p:sp>
      <p:sp>
        <p:nvSpPr>
          <p:cNvPr id="13" name="TextBox 12"/>
          <p:cNvSpPr txBox="1"/>
          <p:nvPr/>
        </p:nvSpPr>
        <p:spPr>
          <a:xfrm>
            <a:off x="96012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On-demand self-service, broad network access, resource pooling, rapid elasticity and measured service. Our PWA and booking flow demonstrate the first two directly.</a:t>
            </a:r>
          </a:p>
        </p:txBody>
      </p:sp>
      <p:sp>
        <p:nvSpPr>
          <p:cNvPr id="14" name="Rounded Rectangle 13"/>
          <p:cNvSpPr/>
          <p:nvPr/>
        </p:nvSpPr>
        <p:spPr>
          <a:xfrm>
            <a:off x="617220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are IaaS, PaaS and SaaS?</a:t>
            </a:r>
          </a:p>
        </p:txBody>
      </p:sp>
      <p:sp>
        <p:nvSpPr>
          <p:cNvPr id="16" name="TextBox 15"/>
          <p:cNvSpPr txBox="1"/>
          <p:nvPr/>
        </p:nvSpPr>
        <p:spPr>
          <a:xfrm>
            <a:off x="635508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Infrastructure as a Service gives virtual machines and storage; Platform as a Service adds a managed runtime; Software as a Service delivers finished software. RoadAssist IS a SaaS application; IaaS and PaaS are how it would be hosted.</a:t>
            </a:r>
          </a:p>
        </p:txBody>
      </p:sp>
      <p:sp>
        <p:nvSpPr>
          <p:cNvPr id="17" name="Rounded Rectangle 16"/>
          <p:cNvSpPr/>
          <p:nvPr/>
        </p:nvSpPr>
        <p:spPr>
          <a:xfrm>
            <a:off x="77724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Difference between public, private and hybrid cloud?</a:t>
            </a:r>
          </a:p>
        </p:txBody>
      </p:sp>
      <p:sp>
        <p:nvSpPr>
          <p:cNvPr id="19" name="TextBox 18"/>
          <p:cNvSpPr txBox="1"/>
          <p:nvPr/>
        </p:nvSpPr>
        <p:spPr>
          <a:xfrm>
            <a:off x="96012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Public is shared provider infrastructure; private is dedicated to one organisation; hybrid combines both. Hybrid suits us: public for the citizen app, private for RAKSHA authority and medical data.</a:t>
            </a:r>
          </a:p>
        </p:txBody>
      </p:sp>
      <p:sp>
        <p:nvSpPr>
          <p:cNvPr id="20" name="Rounded Rectangle 19"/>
          <p:cNvSpPr/>
          <p:nvPr/>
        </p:nvSpPr>
        <p:spPr>
          <a:xfrm>
            <a:off x="617220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virtualization?</a:t>
            </a:r>
          </a:p>
        </p:txBody>
      </p:sp>
      <p:sp>
        <p:nvSpPr>
          <p:cNvPr id="22" name="TextBox 21"/>
          <p:cNvSpPr txBox="1"/>
          <p:nvPr/>
        </p:nvSpPr>
        <p:spPr>
          <a:xfrm>
            <a:off x="635508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Abstracting physical hardware so one machine presents itself as several isolated logical ones. We use OS-level virtualization - Docker containers - not a hypervisor we operate.</a:t>
            </a:r>
          </a:p>
        </p:txBody>
      </p:sp>
      <p:sp>
        <p:nvSpPr>
          <p:cNvPr id="23" name="Rounded Rectangle 22"/>
          <p:cNvSpPr/>
          <p:nvPr/>
        </p:nvSpPr>
        <p:spPr>
          <a:xfrm>
            <a:off x="77724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Why is virtualization useful?</a:t>
            </a:r>
          </a:p>
        </p:txBody>
      </p:sp>
      <p:sp>
        <p:nvSpPr>
          <p:cNvPr id="25" name="TextBox 24"/>
          <p:cNvSpPr txBox="1"/>
          <p:nvPr/>
        </p:nvSpPr>
        <p:spPr>
          <a:xfrm>
            <a:off x="96012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Consolidation, isolation and portability. Several workloads share one machine safely, and a workload can move between machines because it no longer depends on specific hardware.</a:t>
            </a:r>
          </a:p>
        </p:txBody>
      </p:sp>
      <p:sp>
        <p:nvSpPr>
          <p:cNvPr id="26" name="Rounded Rectangle 25"/>
          <p:cNvSpPr/>
          <p:nvPr/>
        </p:nvSpPr>
        <p:spPr>
          <a:xfrm>
            <a:off x="617220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multitenancy?</a:t>
            </a:r>
          </a:p>
        </p:txBody>
      </p:sp>
      <p:sp>
        <p:nvSpPr>
          <p:cNvPr id="28" name="TextBox 27"/>
          <p:cNvSpPr txBox="1"/>
          <p:nvPr/>
        </p:nvSpPr>
        <p:spPr>
          <a:xfrm>
            <a:off x="635508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One running instance serving multiple independent tenants with isolated data. Our tenants would be vehicle fleets and government jurisdictions; the schema exists and queries are scoped to the caller.</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29</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LIKELY QUESTIONS · 2 OF 4</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VIVA PREPARATION  (cont.)</a:t>
            </a:r>
          </a:p>
        </p:txBody>
      </p:sp>
      <p:sp>
        <p:nvSpPr>
          <p:cNvPr id="5" name="Rounded Rectangle 4"/>
          <p:cNvSpPr/>
          <p:nvPr/>
        </p:nvSpPr>
        <p:spPr>
          <a:xfrm>
            <a:off x="77724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a virtual server?</a:t>
            </a:r>
          </a:p>
        </p:txBody>
      </p:sp>
      <p:sp>
        <p:nvSpPr>
          <p:cNvPr id="7" name="TextBox 6"/>
          <p:cNvSpPr txBox="1"/>
          <p:nvPr/>
        </p:nvSpPr>
        <p:spPr>
          <a:xfrm>
            <a:off x="96012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A software-defined server sharing physical hardware with others, allocated on demand and isolated from neighbours. Our API is stateless, so it could run on any number of them.</a:t>
            </a:r>
          </a:p>
        </p:txBody>
      </p:sp>
      <p:sp>
        <p:nvSpPr>
          <p:cNvPr id="8" name="Rounded Rectangle 7"/>
          <p:cNvSpPr/>
          <p:nvPr/>
        </p:nvSpPr>
        <p:spPr>
          <a:xfrm>
            <a:off x="617220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a network perimeter?</a:t>
            </a:r>
          </a:p>
        </p:txBody>
      </p:sp>
      <p:sp>
        <p:nvSpPr>
          <p:cNvPr id="10" name="TextBox 9"/>
          <p:cNvSpPr txBox="1"/>
          <p:nvPr/>
        </p:nvSpPr>
        <p:spPr>
          <a:xfrm>
            <a:off x="635508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The controlled boundary between untrusted networks and internal services. Ours layers TLS, rate limiting, schema validation, authentication, role gating and resource-level ownership checks.</a:t>
            </a:r>
          </a:p>
        </p:txBody>
      </p:sp>
      <p:sp>
        <p:nvSpPr>
          <p:cNvPr id="11" name="Rounded Rectangle 10"/>
          <p:cNvSpPr/>
          <p:nvPr/>
        </p:nvSpPr>
        <p:spPr>
          <a:xfrm>
            <a:off x="77724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cloud storage?</a:t>
            </a:r>
          </a:p>
        </p:txBody>
      </p:sp>
      <p:sp>
        <p:nvSpPr>
          <p:cNvPr id="13" name="TextBox 12"/>
          <p:cNvSpPr txBox="1"/>
          <p:nvPr/>
        </p:nvSpPr>
        <p:spPr>
          <a:xfrm>
            <a:off x="96012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Persistent, network-addressable storage provided as a service. Ours is PostgreSQL 16 with PostGIS - 61 tables including a hash-chained audit log.</a:t>
            </a:r>
          </a:p>
        </p:txBody>
      </p:sp>
      <p:sp>
        <p:nvSpPr>
          <p:cNvPr id="14" name="Rounded Rectangle 13"/>
          <p:cNvSpPr/>
          <p:nvPr/>
        </p:nvSpPr>
        <p:spPr>
          <a:xfrm>
            <a:off x="617220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resource replication?</a:t>
            </a:r>
          </a:p>
        </p:txBody>
      </p:sp>
      <p:sp>
        <p:nvSpPr>
          <p:cNvPr id="16" name="TextBox 15"/>
          <p:cNvSpPr txBox="1"/>
          <p:nvPr/>
        </p:nvSpPr>
        <p:spPr>
          <a:xfrm>
            <a:off x="635508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Creating multiple instances of a resource so load can be spread and a single failure does not lose the service. Not implemented for us - we run a single database instance.</a:t>
            </a:r>
          </a:p>
        </p:txBody>
      </p:sp>
      <p:sp>
        <p:nvSpPr>
          <p:cNvPr id="17" name="Rounded Rectangle 16"/>
          <p:cNvSpPr/>
          <p:nvPr/>
        </p:nvSpPr>
        <p:spPr>
          <a:xfrm>
            <a:off x="77724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cloud usage monitoring?</a:t>
            </a:r>
          </a:p>
        </p:txBody>
      </p:sp>
      <p:sp>
        <p:nvSpPr>
          <p:cNvPr id="19" name="TextBox 18"/>
          <p:cNvSpPr txBox="1"/>
          <p:nvPr/>
        </p:nvSpPr>
        <p:spPr>
          <a:xfrm>
            <a:off x="96012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Collecting runtime usage and performance data for billing, capacity planning and scaling decisions. We have a limited form: a health endpoint reporting database latency, and per-request logging.</a:t>
            </a:r>
          </a:p>
        </p:txBody>
      </p:sp>
      <p:sp>
        <p:nvSpPr>
          <p:cNvPr id="20" name="Rounded Rectangle 19"/>
          <p:cNvSpPr/>
          <p:nvPr/>
        </p:nvSpPr>
        <p:spPr>
          <a:xfrm>
            <a:off x="617220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workload distribution?</a:t>
            </a:r>
          </a:p>
        </p:txBody>
      </p:sp>
      <p:sp>
        <p:nvSpPr>
          <p:cNvPr id="22" name="TextBox 21"/>
          <p:cNvSpPr txBox="1"/>
          <p:nvPr/>
        </p:nvSpPr>
        <p:spPr>
          <a:xfrm>
            <a:off x="635508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Spreading incoming work across multiple resources so no single one is overwhelmed. Our five request types - AI, booking, map, polling, SOS - have very different shapes.</a:t>
            </a:r>
          </a:p>
        </p:txBody>
      </p:sp>
      <p:sp>
        <p:nvSpPr>
          <p:cNvPr id="23" name="Rounded Rectangle 22"/>
          <p:cNvSpPr/>
          <p:nvPr/>
        </p:nvSpPr>
        <p:spPr>
          <a:xfrm>
            <a:off x="77724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resource pooling?</a:t>
            </a:r>
          </a:p>
        </p:txBody>
      </p:sp>
      <p:sp>
        <p:nvSpPr>
          <p:cNvPr id="25" name="TextBox 24"/>
          <p:cNvSpPr txBox="1"/>
          <p:nvPr/>
        </p:nvSpPr>
        <p:spPr>
          <a:xfrm>
            <a:off x="96012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Grouping resources to serve many consumers from a common pool assigned on demand. Our shared map-tile cache is a small working example.</a:t>
            </a:r>
          </a:p>
        </p:txBody>
      </p:sp>
      <p:sp>
        <p:nvSpPr>
          <p:cNvPr id="26" name="Rounded Rectangle 25"/>
          <p:cNvSpPr/>
          <p:nvPr/>
        </p:nvSpPr>
        <p:spPr>
          <a:xfrm>
            <a:off x="617220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dynamic scalability?</a:t>
            </a:r>
          </a:p>
        </p:txBody>
      </p:sp>
      <p:sp>
        <p:nvSpPr>
          <p:cNvPr id="28" name="TextBox 27"/>
          <p:cNvSpPr txBox="1"/>
          <p:nvPr/>
        </p:nvSpPr>
        <p:spPr>
          <a:xfrm>
            <a:off x="635508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Automatically adding or removing resource INSTANCES as demand changes - scaling out. Not implemented; the stateless design permits it.</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30</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LIKELY QUESTIONS · 3 OF 4</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VIVA PREPARATION  (cont.)</a:t>
            </a:r>
          </a:p>
        </p:txBody>
      </p:sp>
      <p:sp>
        <p:nvSpPr>
          <p:cNvPr id="5" name="Rounded Rectangle 4"/>
          <p:cNvSpPr/>
          <p:nvPr/>
        </p:nvSpPr>
        <p:spPr>
          <a:xfrm>
            <a:off x="77724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elastic resource capacity?</a:t>
            </a:r>
          </a:p>
        </p:txBody>
      </p:sp>
      <p:sp>
        <p:nvSpPr>
          <p:cNvPr id="7" name="TextBox 6"/>
          <p:cNvSpPr txBox="1"/>
          <p:nvPr/>
        </p:nvSpPr>
        <p:spPr>
          <a:xfrm>
            <a:off x="96012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Resizing existing resources - more CPU or memory to the same server - rather than adding instances. Scaling up rather than out.</a:t>
            </a:r>
          </a:p>
        </p:txBody>
      </p:sp>
      <p:sp>
        <p:nvSpPr>
          <p:cNvPr id="8" name="Rounded Rectangle 7"/>
          <p:cNvSpPr/>
          <p:nvPr/>
        </p:nvSpPr>
        <p:spPr>
          <a:xfrm>
            <a:off x="617220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35508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load balancing?</a:t>
            </a:r>
          </a:p>
        </p:txBody>
      </p:sp>
      <p:sp>
        <p:nvSpPr>
          <p:cNvPr id="10" name="TextBox 9"/>
          <p:cNvSpPr txBox="1"/>
          <p:nvPr/>
        </p:nvSpPr>
        <p:spPr>
          <a:xfrm>
            <a:off x="635508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Distributing requests across instances and health-checking them, so an unhealthy instance leaves rotation. It serves availability as well as throughput.</a:t>
            </a:r>
          </a:p>
        </p:txBody>
      </p:sp>
      <p:sp>
        <p:nvSpPr>
          <p:cNvPr id="11" name="Rounded Rectangle 10"/>
          <p:cNvSpPr/>
          <p:nvPr/>
        </p:nvSpPr>
        <p:spPr>
          <a:xfrm>
            <a:off x="77724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6012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cloud bursting?</a:t>
            </a:r>
          </a:p>
        </p:txBody>
      </p:sp>
      <p:sp>
        <p:nvSpPr>
          <p:cNvPr id="13" name="TextBox 12"/>
          <p:cNvSpPr txBox="1"/>
          <p:nvPr/>
        </p:nvSpPr>
        <p:spPr>
          <a:xfrm>
            <a:off x="96012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Running baseline load privately and overflowing into public cloud during peaks, then releasing it. Our festival and monsoon peaks are exactly this shape.</a:t>
            </a:r>
          </a:p>
        </p:txBody>
      </p:sp>
      <p:sp>
        <p:nvSpPr>
          <p:cNvPr id="14" name="Rounded Rectangle 13"/>
          <p:cNvSpPr/>
          <p:nvPr/>
        </p:nvSpPr>
        <p:spPr>
          <a:xfrm>
            <a:off x="6172200" y="3136391"/>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355080" y="3227832"/>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elastic disk provisioning?</a:t>
            </a:r>
          </a:p>
        </p:txBody>
      </p:sp>
      <p:sp>
        <p:nvSpPr>
          <p:cNvPr id="16" name="TextBox 15"/>
          <p:cNvSpPr txBox="1"/>
          <p:nvPr/>
        </p:nvSpPr>
        <p:spPr>
          <a:xfrm>
            <a:off x="6355080" y="3465575"/>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Storage allocated as data arrives and billed on use, rather than pre-purchased at a fixed size. Not implemented - we use a fixed local volume.</a:t>
            </a:r>
          </a:p>
        </p:txBody>
      </p:sp>
      <p:sp>
        <p:nvSpPr>
          <p:cNvPr id="17" name="Rounded Rectangle 16"/>
          <p:cNvSpPr/>
          <p:nvPr/>
        </p:nvSpPr>
        <p:spPr>
          <a:xfrm>
            <a:off x="77724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96012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redundant storage?</a:t>
            </a:r>
          </a:p>
        </p:txBody>
      </p:sp>
      <p:sp>
        <p:nvSpPr>
          <p:cNvPr id="19" name="TextBox 18"/>
          <p:cNvSpPr txBox="1"/>
          <p:nvPr/>
        </p:nvSpPr>
        <p:spPr>
          <a:xfrm>
            <a:off x="96012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Duplicate copies on separate devices or sites so failure does not destroy data. Distinct from backup, which recovers an earlier point in time.</a:t>
            </a:r>
          </a:p>
        </p:txBody>
      </p:sp>
      <p:sp>
        <p:nvSpPr>
          <p:cNvPr id="20" name="Rounded Rectangle 19"/>
          <p:cNvSpPr/>
          <p:nvPr/>
        </p:nvSpPr>
        <p:spPr>
          <a:xfrm>
            <a:off x="6172200" y="4169663"/>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6355080" y="4261103"/>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migration?</a:t>
            </a:r>
          </a:p>
        </p:txBody>
      </p:sp>
      <p:sp>
        <p:nvSpPr>
          <p:cNvPr id="22" name="TextBox 21"/>
          <p:cNvSpPr txBox="1"/>
          <p:nvPr/>
        </p:nvSpPr>
        <p:spPr>
          <a:xfrm>
            <a:off x="6355080" y="4498848"/>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Moving a workload or resource between hosts - for maintenance, consolidation, cost, or to escape a failing node.</a:t>
            </a:r>
          </a:p>
        </p:txBody>
      </p:sp>
      <p:sp>
        <p:nvSpPr>
          <p:cNvPr id="23" name="Rounded Rectangle 22"/>
          <p:cNvSpPr/>
          <p:nvPr/>
        </p:nvSpPr>
        <p:spPr>
          <a:xfrm>
            <a:off x="77724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6012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static scheduling?</a:t>
            </a:r>
          </a:p>
        </p:txBody>
      </p:sp>
      <p:sp>
        <p:nvSpPr>
          <p:cNvPr id="25" name="TextBox 24"/>
          <p:cNvSpPr txBox="1"/>
          <p:nvPr/>
        </p:nvSpPr>
        <p:spPr>
          <a:xfrm>
            <a:off x="96012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Allocation decided in advance and held throughout execution. Predictable and cheap, but blind to actual runtime load.</a:t>
            </a:r>
          </a:p>
        </p:txBody>
      </p:sp>
      <p:sp>
        <p:nvSpPr>
          <p:cNvPr id="26" name="Rounded Rectangle 25"/>
          <p:cNvSpPr/>
          <p:nvPr/>
        </p:nvSpPr>
        <p:spPr>
          <a:xfrm>
            <a:off x="6172200" y="5202936"/>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6355080" y="5294375"/>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How is the payment gateway integrated securely?</a:t>
            </a:r>
          </a:p>
        </p:txBody>
      </p:sp>
      <p:sp>
        <p:nvSpPr>
          <p:cNvPr id="28" name="TextBox 27"/>
          <p:cNvSpPr txBox="1"/>
          <p:nvPr/>
        </p:nvSpPr>
        <p:spPr>
          <a:xfrm>
            <a:off x="6355080" y="5532120"/>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The amount comes from the invoice, never the request; the key secret never leaves the server; and settlement requires an HMAC-SHA256 signature the server re-computes. A webhook settles even if the payer's browser never returns.</a:t>
            </a:r>
          </a:p>
        </p:txBody>
      </p:sp>
      <p:sp>
        <p:nvSpPr>
          <p:cNvPr id="29" name="TextBox 28"/>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31</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bg_clean.png"/>
          <p:cNvPicPr>
            <a:picLocks noChangeAspect="1"/>
          </p:cNvPicPr>
          <p:nvPr/>
        </p:nvPicPr>
        <p:blipFill>
          <a:blip r:embed="rId3"/>
          <a:stretch>
            <a:fillRect/>
          </a:stretch>
        </p:blipFill>
        <p:spPr>
          <a:xfrm>
            <a:off x="0" y="0"/>
            <a:ext cx="12191695" cy="6858000"/>
          </a:xfrm>
          <a:prstGeom prst="rect">
            <a:avLst/>
          </a:prstGeom>
        </p:spPr>
      </p:pic>
      <p:sp>
        <p:nvSpPr>
          <p:cNvPr id="3" name="TextBox 2"/>
          <p:cNvSpPr txBox="1"/>
          <p:nvPr/>
        </p:nvSpPr>
        <p:spPr>
          <a:xfrm>
            <a:off x="777240" y="457199"/>
            <a:ext cx="10607040" cy="274320"/>
          </a:xfrm>
          <a:prstGeom prst="rect">
            <a:avLst/>
          </a:prstGeom>
          <a:noFill/>
        </p:spPr>
        <p:txBody>
          <a:bodyPr wrap="square" lIns="0" tIns="0" rIns="0" bIns="0" anchor="t">
            <a:spAutoFit/>
          </a:bodyPr>
          <a:lstStyle/>
          <a:p>
            <a:pPr algn="l">
              <a:lnSpc>
                <a:spcPct val="125000"/>
              </a:lnSpc>
            </a:pPr>
            <a:r>
              <a:rPr sz="1100" b="1" i="0" spc="260">
                <a:solidFill>
                  <a:srgbClr val="22D3EE"/>
                </a:solidFill>
                <a:latin typeface="Segoe UI"/>
              </a:rPr>
              <a:t>LIKELY QUESTIONS · 4 OF 4</a:t>
            </a:r>
          </a:p>
        </p:txBody>
      </p:sp>
      <p:sp>
        <p:nvSpPr>
          <p:cNvPr id="4" name="TextBox 3"/>
          <p:cNvSpPr txBox="1"/>
          <p:nvPr/>
        </p:nvSpPr>
        <p:spPr>
          <a:xfrm>
            <a:off x="777240" y="749808"/>
            <a:ext cx="10607040" cy="914400"/>
          </a:xfrm>
          <a:prstGeom prst="rect">
            <a:avLst/>
          </a:prstGeom>
          <a:noFill/>
        </p:spPr>
        <p:txBody>
          <a:bodyPr wrap="square" lIns="0" tIns="0" rIns="0" bIns="0" anchor="t">
            <a:spAutoFit/>
          </a:bodyPr>
          <a:lstStyle/>
          <a:p>
            <a:pPr algn="l">
              <a:lnSpc>
                <a:spcPct val="102000"/>
              </a:lnSpc>
            </a:pPr>
            <a:r>
              <a:rPr sz="3000" b="1" i="0">
                <a:solidFill>
                  <a:srgbClr val="F4F7FB"/>
                </a:solidFill>
                <a:latin typeface="Segoe UI Semibold"/>
              </a:rPr>
              <a:t>VIVA PREPARATION  (cont.)</a:t>
            </a:r>
          </a:p>
        </p:txBody>
      </p:sp>
      <p:sp>
        <p:nvSpPr>
          <p:cNvPr id="5" name="Rounded Rectangle 4"/>
          <p:cNvSpPr/>
          <p:nvPr/>
        </p:nvSpPr>
        <p:spPr>
          <a:xfrm>
            <a:off x="777240" y="2103120"/>
            <a:ext cx="5212080" cy="941832"/>
          </a:xfrm>
          <a:prstGeom prst="roundRect">
            <a:avLst>
              <a:gd name="adj" fmla="val 3500"/>
            </a:avLst>
          </a:prstGeom>
          <a:solidFill>
            <a:srgbClr val="0C1322"/>
          </a:solidFill>
          <a:ln w="12700">
            <a:solidFill>
              <a:srgbClr val="1E2C4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960120" y="2194560"/>
            <a:ext cx="4846320" cy="256032"/>
          </a:xfrm>
          <a:prstGeom prst="rect">
            <a:avLst/>
          </a:prstGeom>
          <a:noFill/>
        </p:spPr>
        <p:txBody>
          <a:bodyPr wrap="square" lIns="0" tIns="0" rIns="0" bIns="0" anchor="t">
            <a:spAutoFit/>
          </a:bodyPr>
          <a:lstStyle/>
          <a:p>
            <a:pPr algn="l">
              <a:lnSpc>
                <a:spcPct val="125000"/>
              </a:lnSpc>
            </a:pPr>
            <a:r>
              <a:rPr sz="1050" b="1" i="0">
                <a:solidFill>
                  <a:srgbClr val="22D3EE"/>
                </a:solidFill>
                <a:latin typeface="Segoe UI"/>
              </a:rPr>
              <a:t>What is dynamic scheduling?</a:t>
            </a:r>
          </a:p>
        </p:txBody>
      </p:sp>
      <p:sp>
        <p:nvSpPr>
          <p:cNvPr id="7" name="TextBox 6"/>
          <p:cNvSpPr txBox="1"/>
          <p:nvPr/>
        </p:nvSpPr>
        <p:spPr>
          <a:xfrm>
            <a:off x="960120" y="2432303"/>
            <a:ext cx="4846320" cy="566928"/>
          </a:xfrm>
          <a:prstGeom prst="rect">
            <a:avLst/>
          </a:prstGeom>
          <a:noFill/>
        </p:spPr>
        <p:txBody>
          <a:bodyPr wrap="square" lIns="0" tIns="0" rIns="0" bIns="0" anchor="t">
            <a:spAutoFit/>
          </a:bodyPr>
          <a:lstStyle/>
          <a:p>
            <a:pPr algn="l">
              <a:lnSpc>
                <a:spcPct val="128000"/>
              </a:lnSpc>
            </a:pPr>
            <a:r>
              <a:rPr sz="850" b="0" i="0">
                <a:solidFill>
                  <a:srgbClr val="93A1B5"/>
                </a:solidFill>
                <a:latin typeface="Segoe UI"/>
              </a:rPr>
              <a:t>Allocation recomputed during execution as demand changes. Our dispatch engine is a dynamic scheduler at application level: it ranks live mechanics by distance, rating and experience at request time.</a:t>
            </a:r>
          </a:p>
        </p:txBody>
      </p:sp>
      <p:sp>
        <p:nvSpPr>
          <p:cNvPr id="8" name="TextBox 7"/>
          <p:cNvSpPr txBox="1"/>
          <p:nvPr/>
        </p:nvSpPr>
        <p:spPr>
          <a:xfrm>
            <a:off x="11155680" y="6382512"/>
            <a:ext cx="457200" cy="256032"/>
          </a:xfrm>
          <a:prstGeom prst="rect">
            <a:avLst/>
          </a:prstGeom>
          <a:noFill/>
        </p:spPr>
        <p:txBody>
          <a:bodyPr wrap="square" lIns="0" tIns="0" rIns="0" bIns="0" anchor="t">
            <a:spAutoFit/>
          </a:bodyPr>
          <a:lstStyle/>
          <a:p>
            <a:pPr algn="r">
              <a:lnSpc>
                <a:spcPct val="125000"/>
              </a:lnSpc>
            </a:pPr>
            <a:r>
              <a:rPr sz="900" b="0" i="0">
                <a:solidFill>
                  <a:srgbClr val="5C6B80"/>
                </a:solidFill>
                <a:latin typeface="Consolas"/>
              </a:rPr>
              <a:t>32</a:t>
            </a:r>
          </a:p>
        </p:txBody>
      </p:sp>
    </p:spTree>
  </p:cSld>
  <p:clrMapOvr>
    <a:masterClrMapping/>
  </p:clrMapOvr>
  <mc:AlternateContent xmlns:mc="http://schemas.openxmlformats.org/markup-compatibility/2006">
    <mc:Choice xmlns:p14="http://schemas.microsoft.com/office/powerpoint/2010/main" Requires="p14">
      <p:transition spd="med" p14:dur="700">
        <p:fade thruBlk="1"/>
      </p:transition>
    </mc:Choice>
    <mc:Fallback>
      <p:transition spd="med">
        <p:fade thruBlk="1"/>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11798</Words>
  <Application>Microsoft Office PowerPoint</Application>
  <PresentationFormat>Widescreen</PresentationFormat>
  <Paragraphs>1390</Paragraphs>
  <Slides>32</Slides>
  <Notes>32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32</vt:i4>
      </vt:variant>
    </vt:vector>
  </HeadingPairs>
  <TitlesOfParts>
    <vt:vector size="38" baseType="lpstr">
      <vt:lpstr>Arial</vt:lpstr>
      <vt:lpstr>Calibri</vt:lpstr>
      <vt:lpstr>Consolas</vt:lpstr>
      <vt:lpstr>Segoe UI</vt:lpstr>
      <vt:lpstr>Segoe UI Semibold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SAATHWIK'S A15</cp:lastModifiedBy>
  <cp:revision>2</cp:revision>
  <dcterms:created xsi:type="dcterms:W3CDTF">2013-01-27T09:14:16Z</dcterms:created>
  <dcterms:modified xsi:type="dcterms:W3CDTF">2026-09-02T04:07:24Z</dcterms:modified>
  <cp:category/>
</cp:coreProperties>
</file>