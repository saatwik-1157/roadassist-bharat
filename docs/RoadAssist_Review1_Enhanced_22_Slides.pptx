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24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87" r:id="rId38"/>
    <p:sldId id="288" r:id="rId39"/>
    <p:sldId id="289" r:id="rId40"/>
    <p:sldId id="290" r:id="rId41"/>
    <p:sldId id="263" r:id="rId9"/>
    <p:sldId id="264" r:id="rId10"/>
    <p:sldId id="265" r:id="rId11"/>
    <p:sldId id="266" r:id="rId12"/>
    <p:sldId id="269" r:id="rId15"/>
    <p:sldId id="272" r:id="rId18"/>
    <p:sldId id="276" r:id="rId22"/>
    <p:sldId id="279" r:id="rId25"/>
    <p:sldId id="282" r:id="rId28"/>
    <p:sldId id="283" r:id="rId29"/>
    <p:sldId id="284" r:id="rId30"/>
    <p:sldId id="285" r:id="rId31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5" Type="http://schemas.openxmlformats.org/officeDocument/2006/relationships/slide" Target="slides/slide14.xml"/><Relationship Id="rId18" Type="http://schemas.openxmlformats.org/officeDocument/2006/relationships/slide" Target="slides/slide17.xml"/><Relationship Id="rId22" Type="http://schemas.openxmlformats.org/officeDocument/2006/relationships/slide" Target="slides/slide21.xml"/><Relationship Id="rId25" Type="http://schemas.openxmlformats.org/officeDocument/2006/relationships/slide" Target="slides/slide24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0B1B2B"/>
                </a:solidFill>
                <a:latin typeface="Calibri"/>
              </a:defRPr>
            </a:pPr>
            <a:r>
              <a:rPr sz="1150" b="0" i="0" u="none" strike="noStrike">
                <a:solidFill>
                  <a:srgbClr val="0B1B2B"/>
                </a:solidFill>
                <a:latin typeface="Calibri"/>
              </a:rPr>
              <a:t>Assistance requests by hour — the case for elastic scaling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Assistance requests</c:v>
                </c:pt>
              </c:strCache>
            </c:strRef>
          </c:tx>
          <c:spPr>
            <a:solidFill>
              <a:srgbClr val="1C4E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5B6B7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00</c:v>
                  </c:pt>
                  <c:pt idx="1">
                    <c:v>03</c:v>
                  </c:pt>
                  <c:pt idx="2">
                    <c:v>06</c:v>
                  </c:pt>
                  <c:pt idx="3">
                    <c:v>09</c:v>
                  </c:pt>
                  <c:pt idx="4">
                    <c:v>12</c:v>
                  </c:pt>
                  <c:pt idx="5">
                    <c:v>15</c:v>
                  </c:pt>
                  <c:pt idx="6">
                    <c:v>18</c:v>
                  </c:pt>
                  <c:pt idx="7">
                    <c:v>21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140</c:v>
                </c:pt>
                <c:pt idx="1">
                  <c:v>90</c:v>
                </c:pt>
                <c:pt idx="2">
                  <c:v>310</c:v>
                </c:pt>
                <c:pt idx="3">
                  <c:v>880</c:v>
                </c:pt>
                <c:pt idx="4">
                  <c:v>520</c:v>
                </c:pt>
                <c:pt idx="5">
                  <c:v>610</c:v>
                </c:pt>
                <c:pt idx="6">
                  <c:v>950</c:v>
                </c:pt>
                <c:pt idx="7">
                  <c:v>430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5B6B7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A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tagline. State in one sentence: we are building a cloud-native roadside assistance platform for India, and this review covers the idea, the problem, the cloud architecture and a working prototype.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to 20 seconds. Point out that sections 3, 4 and 5 map directly onto the six course modules.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human situation, then the numbers. The four failures are the ones our design decisions trace back to — refer to them again in the architecture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attack competitors. Frame it as: each solves one slice well; nobody covers the intersection of all-vehicle, no-network, no-smartphone.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the panel remembers. Say the one-sentence definition slowly, then the four pillars, then land on why it must be cloud.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map to make the scale point physically: this is not one city, it is a national network with a node wherever a vehicle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chart is the argument: a 10x swing between the quietest and busiest hour. Owned hardware must be sized for the peak and idles the rest of the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precise here — examiners like this slide. We are simultaneously a cloud consumer (of IaaS and PaaS) and a cloud provider (of SaaS to citizens, mechanics and government).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which one is least obvious: multitenancy. Four different user classes share one deployment, isolated by row-level security and separate encryption keys.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five mechanisms from Module 3 appear in our design. If asked which matters most for us: resource replication, because the emergency service must survive the loss of an availability zone.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read all eight. Pick three and explain them concretely: dynamic scalability, cloud bursting during monsoon, and redundant storage for the emergency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it top to bottom in three sentences — clients, gateway and services, then data and infrastructure. Then point at the red box and explain why the emergency service is isolated.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Pair each threat on the left with the mechanism on the right that answers it. The examiner will usually ask for one such pairing — insufficient authorization answered by resource-scoped IAM is the cleanest.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six steps quickly, then slow down for the offline row — that is the differentiator. Finish on the emergency strip and state the 10-second target.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real prototype on a phone if the room allows. If not, the recorded demo is the backup — never rely on live WiFi.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the stack was chosen for portability — containers mean we are not locked to one cloud provider, which answers the vendor lock-in risk raised earlier.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short. The point is that Review 1 is genuinely complete, and Review 2 has a defined scope rather than a vague promise.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four pairings. Each names a problem and the specific cloud concept that answers it — that is the argument of the whole deck in four 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hero-highway.png">    </p:cNvPr>
          <p:cNvPicPr>
            <a:picLocks noChangeAspect="1"/>
          </p:cNvPicPr>
          <p:nvPr/>
        </p:nvPicPr>
        <p:blipFill>
          <a:blip r:embed="rId1">
            <a:alphaModFix amt="68000"/>
          </a:blip>
          <a:stretch>
            <a:fillRect/>
          </a:stretch>
        </p:blipFill>
        <p:spPr>
          <a:xfrm>
            <a:off x="2743200" y="0"/>
            <a:ext cx="9448495" cy="531266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B020"/>
          </a:soli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566928" y="86868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2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SWE4004  ·  CLOUD COMPUTING AND APPLICATIONS  ·  PROJECT REVIEW 1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66928" y="1243584"/>
            <a:ext cx="110578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RoadAssist</a:t>
            </a:r>
            <a:endParaRPr lang="en-US" sz="5800" dirty="0"/>
          </a:p>
        </p:txBody>
      </p:sp>
      <p:sp>
        <p:nvSpPr>
          <p:cNvPr id="6" name="Text 3"/>
          <p:cNvSpPr/>
          <p:nvPr/>
        </p:nvSpPr>
        <p:spPr>
          <a:xfrm>
            <a:off x="566928" y="2249424"/>
            <a:ext cx="9692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9C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Cloud-Native, Offline-First Roadside Assistance Platform for India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66928" y="26883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“One Platform. Every Vehicle. Every Phone. Every Road.”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66928" y="331012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66928" y="3621024"/>
            <a:ext cx="2654732" cy="1261872"/>
          </a:xfrm>
          <a:prstGeom prst="roundRect">
            <a:avLst>
              <a:gd name="adj" fmla="val 4348"/>
            </a:avLst>
          </a:prstGeom>
          <a:solidFill>
            <a:srgbClr val="14293D"/>
          </a:solidFill>
          <a:ln w="12700">
            <a:solidFill>
              <a:srgbClr val="1D3C56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49808" y="3767328"/>
            <a:ext cx="22889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SAATWIK SAIRAAM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49808" y="4224528"/>
            <a:ext cx="22889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24MIC7131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49808" y="4498848"/>
            <a:ext cx="22889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8F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Cloud Database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3367964" y="3621024"/>
            <a:ext cx="2654732" cy="1261872"/>
          </a:xfrm>
          <a:prstGeom prst="roundRect">
            <a:avLst>
              <a:gd name="adj" fmla="val 4348"/>
            </a:avLst>
          </a:prstGeom>
          <a:solidFill>
            <a:srgbClr val="14293D"/>
          </a:solidFill>
          <a:ln w="12700">
            <a:solidFill>
              <a:srgbClr val="1D3C56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3550844" y="3767328"/>
            <a:ext cx="22889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SAI NIRISHA CHOWDARY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3550844" y="4224528"/>
            <a:ext cx="22889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24MIC7122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550844" y="4498848"/>
            <a:ext cx="22889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8F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Mobile</a:t>
            </a:r>
            <a:endParaRPr lang="en-US" sz="920" dirty="0"/>
          </a:p>
        </p:txBody>
      </p:sp>
      <p:sp>
        <p:nvSpPr>
          <p:cNvPr id="17" name="Shape 14"/>
          <p:cNvSpPr/>
          <p:nvPr/>
        </p:nvSpPr>
        <p:spPr>
          <a:xfrm>
            <a:off x="6169000" y="3621024"/>
            <a:ext cx="2654732" cy="1261872"/>
          </a:xfrm>
          <a:prstGeom prst="roundRect">
            <a:avLst>
              <a:gd name="adj" fmla="val 4348"/>
            </a:avLst>
          </a:prstGeom>
          <a:solidFill>
            <a:srgbClr val="14293D"/>
          </a:solidFill>
          <a:ln w="12700">
            <a:solidFill>
              <a:srgbClr val="1D3C56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351880" y="3767328"/>
            <a:ext cx="22889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V S JIGNESH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351880" y="4224528"/>
            <a:ext cx="22889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24MIC7190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351880" y="4498848"/>
            <a:ext cx="22889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8F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Data Services</a:t>
            </a:r>
            <a:endParaRPr lang="en-US" sz="920" dirty="0"/>
          </a:p>
        </p:txBody>
      </p:sp>
      <p:sp>
        <p:nvSpPr>
          <p:cNvPr id="21" name="Shape 18"/>
          <p:cNvSpPr/>
          <p:nvPr/>
        </p:nvSpPr>
        <p:spPr>
          <a:xfrm>
            <a:off x="8970035" y="3621024"/>
            <a:ext cx="2654732" cy="1261872"/>
          </a:xfrm>
          <a:prstGeom prst="roundRect">
            <a:avLst>
              <a:gd name="adj" fmla="val 4348"/>
            </a:avLst>
          </a:prstGeom>
          <a:solidFill>
            <a:srgbClr val="14293D"/>
          </a:solidFill>
          <a:ln w="12700">
            <a:solidFill>
              <a:srgbClr val="1D3C56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9152915" y="3767328"/>
            <a:ext cx="22889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PARTHAVI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9152915" y="4224528"/>
            <a:ext cx="22889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24MIC145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9152915" y="4498848"/>
            <a:ext cx="22889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8F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DevOps, QA &amp; Cloud Security</a:t>
            </a:r>
            <a:endParaRPr lang="en-US" sz="920" dirty="0"/>
          </a:p>
        </p:txBody>
      </p:sp>
      <p:sp>
        <p:nvSpPr>
          <p:cNvPr id="25" name="Text 22"/>
          <p:cNvSpPr/>
          <p:nvPr/>
        </p:nvSpPr>
        <p:spPr>
          <a:xfrm>
            <a:off x="566928" y="513892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Faculty: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Nagendra Panini Challa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400800" y="513892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7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— Idea, Problem Statement, Architecture &amp; Prototype</a:t>
            </a:r>
            <a:endParaRPr lang="en-US" sz="1150" dirty="0"/>
          </a:p>
        </p:txBody>
      </p:sp>
    </p:spTree>
  </p:cSld>
  <p:clrMapOvr>
    <a:masterClrMapping/>
  </p:clrMapOvr>
  <p:transition xmlns:p14="http://schemas.microsoft.com/office/powerpoint/2010/main" spd="med" p14:dur="9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Cover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5419192" cy="1426464"/>
          </a:xfrm>
          <a:prstGeom prst="roundRect">
            <a:avLst>
              <a:gd name="adj" fmla="val 3846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04672" y="1682496"/>
            <a:ext cx="420624" cy="420624"/>
          </a:xfrm>
          <a:prstGeom prst="ellipse">
            <a:avLst/>
          </a:prstGeom>
          <a:solidFill>
            <a:srgbClr val="FFB020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04672" y="16824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89888" y="1627632"/>
            <a:ext cx="448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89888" y="2029968"/>
            <a:ext cx="4449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roadside breakdown in India is an unsolved, high-stakes problem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05576" y="1389888"/>
            <a:ext cx="5419192" cy="1426464"/>
          </a:xfrm>
          <a:prstGeom prst="roundRect">
            <a:avLst>
              <a:gd name="adj" fmla="val 3846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443320" y="1682496"/>
            <a:ext cx="420624" cy="420624"/>
          </a:xfrm>
          <a:prstGeom prst="ellipse">
            <a:avLst/>
          </a:prstGeom>
          <a:solidFill>
            <a:srgbClr val="FFB020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43320" y="16824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28536" y="1627632"/>
            <a:ext cx="448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Idea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028536" y="2029968"/>
            <a:ext cx="4449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for every vehicle, every phone, every road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2999232"/>
            <a:ext cx="5419192" cy="1426464"/>
          </a:xfrm>
          <a:prstGeom prst="roundRect">
            <a:avLst>
              <a:gd name="adj" fmla="val 3846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04672" y="3291840"/>
            <a:ext cx="420624" cy="420624"/>
          </a:xfrm>
          <a:prstGeom prst="ellipse">
            <a:avLst/>
          </a:prstGeom>
          <a:solidFill>
            <a:srgbClr val="FFB020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04672" y="3291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89888" y="3236976"/>
            <a:ext cx="448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Foundation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389888" y="3639312"/>
            <a:ext cx="4449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models, deployment model, enabling technologies, mechanisms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05576" y="2999232"/>
            <a:ext cx="5419192" cy="1426464"/>
          </a:xfrm>
          <a:prstGeom prst="roundRect">
            <a:avLst>
              <a:gd name="adj" fmla="val 3846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443320" y="3291840"/>
            <a:ext cx="420624" cy="420624"/>
          </a:xfrm>
          <a:prstGeom prst="ellipse">
            <a:avLst/>
          </a:prstGeom>
          <a:solidFill>
            <a:srgbClr val="FFB020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43320" y="3291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28536" y="3236976"/>
            <a:ext cx="448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Architecture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028536" y="3639312"/>
            <a:ext cx="4449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Scalability, load balancing, bursting, replication, storage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4608576"/>
            <a:ext cx="5419192" cy="1426464"/>
          </a:xfrm>
          <a:prstGeom prst="roundRect">
            <a:avLst>
              <a:gd name="adj" fmla="val 3846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804672" y="4901184"/>
            <a:ext cx="420624" cy="420624"/>
          </a:xfrm>
          <a:prstGeom prst="ellipse">
            <a:avLst/>
          </a:prstGeom>
          <a:solidFill>
            <a:srgbClr val="FFB020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04672" y="4901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89888" y="4846320"/>
            <a:ext cx="448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Security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389888" y="5248656"/>
            <a:ext cx="4449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Threats, encryption, PKI, IAM, SSO, security groups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05576" y="4608576"/>
            <a:ext cx="5419192" cy="1426464"/>
          </a:xfrm>
          <a:prstGeom prst="roundRect">
            <a:avLst>
              <a:gd name="adj" fmla="val 3846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443320" y="4901184"/>
            <a:ext cx="420624" cy="420624"/>
          </a:xfrm>
          <a:prstGeom prst="ellipse">
            <a:avLst/>
          </a:prstGeom>
          <a:solidFill>
            <a:srgbClr val="FFB020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443320" y="4901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028536" y="4846320"/>
            <a:ext cx="4486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Prototype, Enhancements &amp; Output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7028536" y="5248656"/>
            <a:ext cx="4449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works end to end, including new road intelligence and life-safety capabilities</a:t>
            </a:r>
            <a:endParaRPr lang="en-US" sz="1150" dirty="0"/>
          </a:p>
        </p:txBody>
      </p:sp>
    </p:spTree>
  </p:cSld>
  <p:clrMapOvr>
    <a:masterClrMapping/>
  </p:clrMapOvr>
  <p:transition xmlns:p14="http://schemas.microsoft.com/office/powerpoint/2010/main" spd="med" p14:dur="700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280160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vehicle breaks down in India every few seconds. The person beside it has no reliable way to get help — and the worse the location, the worse the coverage.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773936"/>
            <a:ext cx="2709596" cy="2377440"/>
          </a:xfrm>
          <a:prstGeom prst="roundRect">
            <a:avLst>
              <a:gd name="adj" fmla="val 2308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1938528"/>
            <a:ext cx="23804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77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 L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23804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 of road network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3090672"/>
            <a:ext cx="23804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in the world after the USA — most of it outside any service network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49676" y="1773936"/>
            <a:ext cx="2709596" cy="2377440"/>
          </a:xfrm>
          <a:prstGeom prst="roundRect">
            <a:avLst>
              <a:gd name="adj" fmla="val 2308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514268" y="1938528"/>
            <a:ext cx="23804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 L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514268" y="2743200"/>
            <a:ext cx="23804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deaths per year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514268" y="3090672"/>
            <a:ext cx="23804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records the highest road fatality count globally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32424" y="1773936"/>
            <a:ext cx="2709596" cy="2377440"/>
          </a:xfrm>
          <a:prstGeom prst="roundRect">
            <a:avLst>
              <a:gd name="adj" fmla="val 2308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297016" y="1938528"/>
            <a:ext cx="23804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297016" y="2743200"/>
            <a:ext cx="23804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highway deaths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297016" y="3090672"/>
            <a:ext cx="23804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Attributed to delayed emergency response, not the crash itself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915171" y="1773936"/>
            <a:ext cx="2709596" cy="2377440"/>
          </a:xfrm>
          <a:prstGeom prst="roundRect">
            <a:avLst>
              <a:gd name="adj" fmla="val 2308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079763" y="1938528"/>
            <a:ext cx="23804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C4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20%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9079763" y="2743200"/>
            <a:ext cx="23804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organised RSA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079763" y="3090672"/>
            <a:ext cx="23804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Roadside assistance today is a car-owner, metro-city privilege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6928" y="4389120"/>
            <a:ext cx="11057839" cy="1874520"/>
          </a:xfrm>
          <a:prstGeom prst="roundRect">
            <a:avLst>
              <a:gd name="adj" fmla="val 2927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22960" y="45354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failures we are solving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41248" y="4992624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20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signal — help apps assume 4G; breakdowns happen where there is none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27648" y="4992624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20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smartphone — a large share of drivers use feature phones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1248" y="5559552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20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 only — bikes, autos, trucks and tractors are excluded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27648" y="5559552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20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— no authority sees where breakdowns and crashes cluster</a:t>
            </a:r>
            <a:endParaRPr lang="en-US" sz="1200" dirty="0"/>
          </a:p>
        </p:txBody>
      </p:sp>
    </p:spTree>
  </p:cSld>
  <p:clrMapOvr>
    <a:masterClrMapping/>
  </p:clrMapOvr>
  <p:transition xmlns:p14="http://schemas.microsoft.com/office/powerpoint/2010/main" spd="med" p14:dur="700">
    <p:push dir="l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Existing Solutions Do Not Work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11057839" cy="475488"/>
          </a:xfrm>
          <a:prstGeom prst="roundRect">
            <a:avLst>
              <a:gd name="adj" fmla="val 9615"/>
            </a:avLst>
          </a:prstGeom>
          <a:solidFill>
            <a:srgbClr val="0B1B2B"/>
          </a:solidFill>
          <a:ln w="12700">
            <a:solidFill>
              <a:srgbClr val="0B1B2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86384" y="1389888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option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895344" y="138988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well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095744" y="1389888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breaks down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1956816"/>
            <a:ext cx="11057839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86384" y="1956816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/ OEM RSA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675888" y="195681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 with car policies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876288" y="1956816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 only · needs a call centre · no coverage on rural highways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2871216"/>
            <a:ext cx="11057839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86384" y="2871216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mechanic contacts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675888" y="287121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and familiar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76288" y="2871216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verification, no pricing, no tracking, no accountability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785616"/>
            <a:ext cx="11057839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86384" y="3785616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ride/logistics apps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675888" y="378561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dispatch technology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876288" y="3785616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constant connectivity and a smartphone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4700016"/>
            <a:ext cx="11057839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86384" y="4700016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helpline (112)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675888" y="470001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and trusted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876288" y="4700016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only — cannot handle a flat tyre or a dead battery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5760720"/>
            <a:ext cx="11057839" cy="658368"/>
          </a:xfrm>
          <a:prstGeom prst="roundRect">
            <a:avLst>
              <a:gd name="adj" fmla="val 8333"/>
            </a:avLst>
          </a:prstGeom>
          <a:solidFill>
            <a:srgbClr val="0B1B2B"/>
          </a:solidFill>
          <a:ln w="12700">
            <a:solidFill>
              <a:srgbClr val="0B1B2B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41248" y="5760720"/>
            <a:ext cx="105091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no platform covers every vehicle class, works without connectivity, and reaches a feature phone.</a:t>
            </a:r>
            <a:endParaRPr lang="en-US" sz="1400" dirty="0"/>
          </a:p>
        </p:txBody>
      </p:sp>
    </p:spTree>
  </p:cSld>
  <p:clrMapOvr>
    <a:masterClrMapping/>
  </p:clrMapOvr>
  <p:transition xmlns:p14="http://schemas.microsoft.com/office/powerpoint/2010/main" spd="med" p14:dur="700">
    <p:push dir="l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Idea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26187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RoadAssist Bharat is a cloud-hosted platform that connects any stranded vehicle to the nearest verified mechanic or emergency responder — over the internet when it exists, and over SMS, IVR or on-device intelligence when it does not.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2709596" cy="2331720"/>
          </a:xfrm>
          <a:prstGeom prst="roundRect">
            <a:avLst>
              <a:gd name="adj" fmla="val 2353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68096" y="2231136"/>
            <a:ext cx="420624" cy="420624"/>
          </a:xfrm>
          <a:prstGeom prst="ellipse">
            <a:avLst/>
          </a:prstGeom>
          <a:solidFill>
            <a:srgbClr val="FFB020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68096" y="2231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8096" y="2798064"/>
            <a:ext cx="23072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Vehicle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68096" y="3200400"/>
            <a:ext cx="23072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Cars, bikes, autos, trucks, buses, tractors and EVs — one platform, vehicle-class-aware diagnosis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49676" y="2011680"/>
            <a:ext cx="2709596" cy="2331720"/>
          </a:xfrm>
          <a:prstGeom prst="roundRect">
            <a:avLst>
              <a:gd name="adj" fmla="val 2353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550844" y="2231136"/>
            <a:ext cx="420624" cy="420624"/>
          </a:xfrm>
          <a:prstGeom prst="ellipse">
            <a:avLst/>
          </a:prstGeom>
          <a:solidFill>
            <a:srgbClr val="FFB020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550844" y="2231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50844" y="2798064"/>
            <a:ext cx="23072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Phone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3550844" y="3200400"/>
            <a:ext cx="23072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app, web, and full SMS / IVR / USSD access for feature phones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32424" y="2011680"/>
            <a:ext cx="2709596" cy="2331720"/>
          </a:xfrm>
          <a:prstGeom prst="roundRect">
            <a:avLst>
              <a:gd name="adj" fmla="val 2353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333592" y="2231136"/>
            <a:ext cx="420624" cy="420624"/>
          </a:xfrm>
          <a:prstGeom prst="ellipse">
            <a:avLst/>
          </a:prstGeom>
          <a:solidFill>
            <a:srgbClr val="FFB020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333592" y="2231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33592" y="2798064"/>
            <a:ext cx="23072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Road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6333592" y="3200400"/>
            <a:ext cx="23072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Offline-first: on-device AI and cached maps keep working with zero signal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15171" y="2011680"/>
            <a:ext cx="2709596" cy="2331720"/>
          </a:xfrm>
          <a:prstGeom prst="roundRect">
            <a:avLst>
              <a:gd name="adj" fmla="val 2353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9116339" y="2231136"/>
            <a:ext cx="420624" cy="420624"/>
          </a:xfrm>
          <a:prstGeom prst="ellipse">
            <a:avLst/>
          </a:prstGeom>
          <a:solidFill>
            <a:srgbClr val="FFB020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116339" y="2231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16339" y="2798064"/>
            <a:ext cx="23072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Second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9116339" y="3200400"/>
            <a:ext cx="23072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crash detection escalates to contacts and responders in under 10 seconds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4535424"/>
            <a:ext cx="11057839" cy="1691640"/>
          </a:xfrm>
          <a:prstGeom prst="roundRect">
            <a:avLst>
              <a:gd name="adj" fmla="val 3243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22960" y="470001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as a cloud service, because it cannot be delivered any other way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960" y="5084064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is unpredictable and geographically spread across a subcontinent; the emergency path must never go down; and a four-person team cannot own physical infrastructure. Cloud is not a hosting choice here — it is the enabling condition.</a:t>
            </a:r>
            <a:endParaRPr lang="en-US" sz="1250" dirty="0"/>
          </a:p>
        </p:txBody>
      </p:sp>
    </p:spTree>
  </p:cSld>
  <p:clrMapOvr>
    <a:masterClrMapping/>
  </p:clrMapOvr>
  <p:transition xmlns:p14="http://schemas.microsoft.com/office/powerpoint/2010/main" spd="med" p14:dur="700">
    <p:push dir="l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Platform at a Glance</a:t>
            </a:r>
            <a:endParaRPr lang="en-US" sz="3000" dirty="0"/>
          </a:p>
        </p:txBody>
      </p:sp>
      <p:pic>
        <p:nvPicPr>
          <p:cNvPr id="4" name="Image 0" descr="img/india-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188720"/>
            <a:ext cx="7223760" cy="40599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534009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cloud platform · every vehicle class · every district · online or offline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046720" y="1188720"/>
            <a:ext cx="3593592" cy="1115568"/>
          </a:xfrm>
          <a:prstGeom prst="roundRect">
            <a:avLst>
              <a:gd name="adj" fmla="val 4918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8229600" y="1335024"/>
            <a:ext cx="822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77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9015984" y="13350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types served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9015984" y="1627632"/>
            <a:ext cx="2505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· iOS · web · mechanic app · government · admin · feature phone</a:t>
            </a:r>
            <a:endParaRPr lang="en-US" sz="880" dirty="0"/>
          </a:p>
        </p:txBody>
      </p:sp>
      <p:sp>
        <p:nvSpPr>
          <p:cNvPr id="10" name="Shape 7"/>
          <p:cNvSpPr/>
          <p:nvPr/>
        </p:nvSpPr>
        <p:spPr>
          <a:xfrm>
            <a:off x="8046720" y="2414016"/>
            <a:ext cx="3593592" cy="1115568"/>
          </a:xfrm>
          <a:prstGeom prst="roundRect">
            <a:avLst>
              <a:gd name="adj" fmla="val 4918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8229600" y="2560320"/>
            <a:ext cx="822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77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9015984" y="2560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services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9015984" y="2852928"/>
            <a:ext cx="2505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scalable, deployed on managed Kubernetes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8046720" y="3639312"/>
            <a:ext cx="3593592" cy="1115568"/>
          </a:xfrm>
          <a:prstGeom prst="roundRect">
            <a:avLst>
              <a:gd name="adj" fmla="val 4918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8229600" y="3785616"/>
            <a:ext cx="822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77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9015984" y="37856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zones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9015984" y="4078224"/>
            <a:ext cx="2505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stateless service replicated; database with multi-AZ failover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8046720" y="4864608"/>
            <a:ext cx="3593592" cy="1115568"/>
          </a:xfrm>
          <a:prstGeom prst="roundRect">
            <a:avLst>
              <a:gd name="adj" fmla="val 4918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8229600" y="5010912"/>
            <a:ext cx="822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77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20" name="Text 17"/>
          <p:cNvSpPr/>
          <p:nvPr/>
        </p:nvSpPr>
        <p:spPr>
          <a:xfrm>
            <a:off x="9015984" y="50109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required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9015984" y="5303520"/>
            <a:ext cx="2505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AI and SMS keep the core journey alive with no network</a:t>
            </a:r>
            <a:endParaRPr lang="en-US" sz="88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>
        <p159:morph option="byObject"/>
      </p:transition>
    </mc:Choice>
    <mc:Fallback>
      <p:transition xmlns:p14="http://schemas.microsoft.com/office/powerpoint/2010/main" spd="slow" p14:dur="1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GOALS, BENEFITS, RISKS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System Must Be Cloud-Based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5486400" cy="1024128"/>
          </a:xfrm>
          <a:prstGeom prst="roundRect">
            <a:avLst>
              <a:gd name="adj" fmla="val 5357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49808" y="1719072"/>
            <a:ext cx="365760" cy="365760"/>
          </a:xfrm>
          <a:prstGeom prst="ellipse">
            <a:avLst/>
          </a:prstGeom>
          <a:solidFill>
            <a:srgbClr val="FFB020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9808" y="1719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25296" y="1536192"/>
            <a:ext cx="4626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demand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25296" y="188366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 load peaks 6× at rush hour and spikes during monsoon and festivals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" y="2523744"/>
            <a:ext cx="5486400" cy="1024128"/>
          </a:xfrm>
          <a:prstGeom prst="roundRect">
            <a:avLst>
              <a:gd name="adj" fmla="val 5357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49808" y="2852928"/>
            <a:ext cx="365760" cy="365760"/>
          </a:xfrm>
          <a:prstGeom prst="ellipse">
            <a:avLst/>
          </a:prstGeom>
          <a:solidFill>
            <a:srgbClr val="FFB020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49808" y="2852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25296" y="2670048"/>
            <a:ext cx="4626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Proportional cost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25296" y="30175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pay for the peak only while it lasts — impossible with owned servers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3657600"/>
            <a:ext cx="5486400" cy="1024128"/>
          </a:xfrm>
          <a:prstGeom prst="roundRect">
            <a:avLst>
              <a:gd name="adj" fmla="val 5357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49808" y="3986784"/>
            <a:ext cx="365760" cy="365760"/>
          </a:xfrm>
          <a:prstGeom prst="ellipse">
            <a:avLst/>
          </a:prstGeom>
          <a:solidFill>
            <a:srgbClr val="FFB020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49808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25296" y="3803904"/>
            <a:ext cx="4626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reach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25296" y="415137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 presence puts compute near the user across the country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4791456"/>
            <a:ext cx="5486400" cy="1024128"/>
          </a:xfrm>
          <a:prstGeom prst="roundRect">
            <a:avLst>
              <a:gd name="adj" fmla="val 5357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49808" y="5120640"/>
            <a:ext cx="365760" cy="365760"/>
          </a:xfrm>
          <a:prstGeom prst="ellipse">
            <a:avLst/>
          </a:prstGeom>
          <a:solidFill>
            <a:srgbClr val="FFB020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49808" y="5120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25296" y="4937760"/>
            <a:ext cx="4626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25296" y="528523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emergency service is replicated across availability zones</a:t>
            </a:r>
            <a:endParaRPr lang="en-US" sz="105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6355080" y="1389888"/>
          <a:ext cx="5285232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hape 22"/>
          <p:cNvSpPr/>
          <p:nvPr/>
        </p:nvSpPr>
        <p:spPr>
          <a:xfrm>
            <a:off x="6355080" y="4736592"/>
            <a:ext cx="5285232" cy="1463040"/>
          </a:xfrm>
          <a:prstGeom prst="roundRect">
            <a:avLst>
              <a:gd name="adj" fmla="val 3750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6565392" y="48646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we accept, and how we answer them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565392" y="5193792"/>
            <a:ext cx="4864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04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lock-in → containers and open standards, portable across providers</a:t>
            </a:r>
            <a:endParaRPr lang="en-US" sz="1040" dirty="0"/>
          </a:p>
        </p:txBody>
      </p:sp>
      <p:sp>
        <p:nvSpPr>
          <p:cNvPr id="28" name="Text 25"/>
          <p:cNvSpPr/>
          <p:nvPr/>
        </p:nvSpPr>
        <p:spPr>
          <a:xfrm>
            <a:off x="6565392" y="5522976"/>
            <a:ext cx="4864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04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sovereignty → all data resident in Indian regions only</a:t>
            </a:r>
            <a:endParaRPr lang="en-US" sz="1040" dirty="0"/>
          </a:p>
        </p:txBody>
      </p:sp>
      <p:sp>
        <p:nvSpPr>
          <p:cNvPr id="29" name="Text 26"/>
          <p:cNvSpPr/>
          <p:nvPr/>
        </p:nvSpPr>
        <p:spPr>
          <a:xfrm>
            <a:off x="6565392" y="5852160"/>
            <a:ext cx="4864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04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control → compensated by monitoring, SLOs and audit logging</a:t>
            </a:r>
            <a:endParaRPr lang="en-US" sz="104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>
        <p159:morph option="byObject"/>
      </p:transition>
    </mc:Choice>
    <mc:Fallback>
      <p:transition xmlns:p14="http://schemas.microsoft.com/office/powerpoint/2010/main" spd="slow" p14:dur="9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MODELS, ROLES AND BOUNDARIES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Sit in the Cloud Stack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delivery models — we consume two, and provide one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682496"/>
            <a:ext cx="5577840" cy="1005840"/>
          </a:xfrm>
          <a:prstGeom prst="roundRect">
            <a:avLst>
              <a:gd name="adj" fmla="val 5455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13232" y="1883664"/>
            <a:ext cx="896112" cy="603504"/>
          </a:xfrm>
          <a:prstGeom prst="roundRect">
            <a:avLst>
              <a:gd name="adj" fmla="val 9091"/>
            </a:avLst>
          </a:prstGeom>
          <a:solidFill>
            <a:srgbClr val="FFB020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3232" y="1883664"/>
            <a:ext cx="896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737360" y="1847088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spc="120" kern="0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PROVIDE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1737360" y="2121408"/>
            <a:ext cx="42611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RoadAssist app, mechanic portal and government dashboard delivered to end users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566928" y="2779776"/>
            <a:ext cx="5577840" cy="1005840"/>
          </a:xfrm>
          <a:prstGeom prst="roundRect">
            <a:avLst>
              <a:gd name="adj" fmla="val 5455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13232" y="2980944"/>
            <a:ext cx="896112" cy="603504"/>
          </a:xfrm>
          <a:prstGeom prst="roundRect">
            <a:avLst>
              <a:gd name="adj" fmla="val 9091"/>
            </a:avLst>
          </a:prstGeom>
          <a:solidFill>
            <a:srgbClr val="1C4E7A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13232" y="2980944"/>
            <a:ext cx="896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737360" y="2944368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spc="120" kern="0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CONSUME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1737360" y="3218688"/>
            <a:ext cx="42611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Kubernetes, managed PostgreSQL, managed message queue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566928" y="3877056"/>
            <a:ext cx="5577840" cy="1005840"/>
          </a:xfrm>
          <a:prstGeom prst="roundRect">
            <a:avLst>
              <a:gd name="adj" fmla="val 5455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713232" y="4078224"/>
            <a:ext cx="896112" cy="603504"/>
          </a:xfrm>
          <a:prstGeom prst="roundRect">
            <a:avLst>
              <a:gd name="adj" fmla="val 9091"/>
            </a:avLst>
          </a:prstGeom>
          <a:solidFill>
            <a:srgbClr val="0B1B2B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13232" y="4078224"/>
            <a:ext cx="896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737360" y="4041648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spc="120" kern="0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CONSUME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1737360" y="4315968"/>
            <a:ext cx="42611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servers, virtual networks, block and object storage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6446520" y="129844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model — hybrid, by necessity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46520" y="1682496"/>
            <a:ext cx="5193792" cy="1005840"/>
          </a:xfrm>
          <a:prstGeom prst="roundRect">
            <a:avLst>
              <a:gd name="adj" fmla="val 5455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638544" y="1901952"/>
            <a:ext cx="237744" cy="237744"/>
          </a:xfrm>
          <a:prstGeom prst="ellipse">
            <a:avLst/>
          </a:prstGeom>
          <a:solidFill>
            <a:srgbClr val="2E9E6B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986016" y="1847088"/>
            <a:ext cx="4443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cloud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986016" y="2139696"/>
            <a:ext cx="4480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platform — booking, dispatch, AI, analytics. Elastic and cost-proportional.</a:t>
            </a:r>
            <a:endParaRPr lang="en-US" sz="1040" dirty="0"/>
          </a:p>
        </p:txBody>
      </p:sp>
      <p:sp>
        <p:nvSpPr>
          <p:cNvPr id="25" name="Shape 23"/>
          <p:cNvSpPr/>
          <p:nvPr/>
        </p:nvSpPr>
        <p:spPr>
          <a:xfrm>
            <a:off x="6446520" y="2779776"/>
            <a:ext cx="5193792" cy="1005840"/>
          </a:xfrm>
          <a:prstGeom prst="roundRect">
            <a:avLst>
              <a:gd name="adj" fmla="val 5455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638544" y="2999232"/>
            <a:ext cx="237744" cy="237744"/>
          </a:xfrm>
          <a:prstGeom prst="ellipse">
            <a:avLst/>
          </a:prstGeom>
          <a:solidFill>
            <a:srgbClr val="1C4E7A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986016" y="2944368"/>
            <a:ext cx="4443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/ dedicated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986016" y="3236976"/>
            <a:ext cx="4480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incident data and citizen medical records — isolation is a legal requirement.</a:t>
            </a:r>
            <a:endParaRPr lang="en-US" sz="1040" dirty="0"/>
          </a:p>
        </p:txBody>
      </p:sp>
      <p:sp>
        <p:nvSpPr>
          <p:cNvPr id="29" name="Shape 27"/>
          <p:cNvSpPr/>
          <p:nvPr/>
        </p:nvSpPr>
        <p:spPr>
          <a:xfrm>
            <a:off x="6446520" y="3877056"/>
            <a:ext cx="5193792" cy="1005840"/>
          </a:xfrm>
          <a:prstGeom prst="roundRect">
            <a:avLst>
              <a:gd name="adj" fmla="val 5455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638544" y="4096512"/>
            <a:ext cx="237744" cy="237744"/>
          </a:xfrm>
          <a:prstGeom prst="ellipse">
            <a:avLst/>
          </a:prstGeom>
          <a:solidFill>
            <a:srgbClr val="C77F00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986016" y="4041648"/>
            <a:ext cx="4443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/ on-device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986016" y="4334256"/>
            <a:ext cx="4480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detection and diagnosis run on the phone, so the system survives zero connectivity.</a:t>
            </a:r>
            <a:endParaRPr lang="en-US" sz="1040" dirty="0"/>
          </a:p>
        </p:txBody>
      </p:sp>
      <p:sp>
        <p:nvSpPr>
          <p:cNvPr id="33" name="Shape 31"/>
          <p:cNvSpPr/>
          <p:nvPr/>
        </p:nvSpPr>
        <p:spPr>
          <a:xfrm>
            <a:off x="566928" y="5065776"/>
            <a:ext cx="11057839" cy="1188720"/>
          </a:xfrm>
          <a:prstGeom prst="roundRect">
            <a:avLst>
              <a:gd name="adj" fmla="val 4615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804672" y="51937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and boundaries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04672" y="5504688"/>
            <a:ext cx="1058235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provider: the data centre, hypervisor and managed services.   ·   Cloud consumer (us): application, data and configuration.   ·   Cloud service owner: our team owns every RoadAssist service.   ·   Cloud resource administrator: P4.   ·   The organisational boundary ends at our virtual network; the trust boundary extends into every managed service we call.</a:t>
            </a:r>
            <a:endParaRPr lang="en-US" sz="1100" dirty="0"/>
          </a:p>
        </p:txBody>
      </p:sp>
    </p:spTree>
  </p:cSld>
  <p:clrMapOvr>
    <a:masterClrMapping/>
  </p:clrMapOvr>
  <p:transition xmlns:p14="http://schemas.microsoft.com/office/powerpoint/2010/main" spd="med" p14:dur="700">
    <p:push dir="l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Enabling Technologies We Use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11057839" cy="896112"/>
          </a:xfrm>
          <a:prstGeom prst="roundRect">
            <a:avLst>
              <a:gd name="adj" fmla="val 6122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68096" y="1673352"/>
            <a:ext cx="347472" cy="347472"/>
          </a:xfrm>
          <a:prstGeom prst="ellipse">
            <a:avLst/>
          </a:prstGeom>
          <a:solidFill>
            <a:srgbClr val="FFB020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1673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43584" y="151790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centre technology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43584" y="1847088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Multi-region, multi-AZ Indian regions with redundant power, cooling and network paths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790688" y="1636776"/>
            <a:ext cx="3703320" cy="402336"/>
          </a:xfrm>
          <a:prstGeom prst="roundRect">
            <a:avLst>
              <a:gd name="adj" fmla="val 11364"/>
            </a:avLst>
          </a:prstGeom>
          <a:solidFill>
            <a:srgbClr val="E8EEF4"/>
          </a:solidFill>
          <a:ln w="12700">
            <a:solidFill>
              <a:srgbClr val="D5E0E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836408" y="1636776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C4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Region: Mumbai (primary) · Hyderabad (DR)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566928" y="2377440"/>
            <a:ext cx="11057839" cy="896112"/>
          </a:xfrm>
          <a:prstGeom prst="roundRect">
            <a:avLst>
              <a:gd name="adj" fmla="val 6122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768096" y="2660904"/>
            <a:ext cx="347472" cy="347472"/>
          </a:xfrm>
          <a:prstGeom prst="ellipse">
            <a:avLst/>
          </a:prstGeom>
          <a:solidFill>
            <a:srgbClr val="FFB02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68096" y="2660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43584" y="250545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 technology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43584" y="283464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Hardware-level virtual servers plus OS-level containers for every microservice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90688" y="2624328"/>
            <a:ext cx="3703320" cy="402336"/>
          </a:xfrm>
          <a:prstGeom prst="roundRect">
            <a:avLst>
              <a:gd name="adj" fmla="val 11364"/>
            </a:avLst>
          </a:prstGeom>
          <a:solidFill>
            <a:srgbClr val="E8EEF4"/>
          </a:solidFill>
          <a:ln w="12700">
            <a:solidFill>
              <a:srgbClr val="D5E0E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836408" y="2624328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C4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containers on Kubernetes nodes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566928" y="3364992"/>
            <a:ext cx="11057839" cy="896112"/>
          </a:xfrm>
          <a:prstGeom prst="roundRect">
            <a:avLst>
              <a:gd name="adj" fmla="val 6122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68096" y="3648456"/>
            <a:ext cx="347472" cy="347472"/>
          </a:xfrm>
          <a:prstGeom prst="ellipse">
            <a:avLst/>
          </a:prstGeom>
          <a:solidFill>
            <a:srgbClr val="FFB020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68096" y="36484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43584" y="349300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technology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43584" y="3822192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over HTTPS, WebSocket for live tracking, and a Progressive Web App client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790688" y="3611880"/>
            <a:ext cx="3703320" cy="402336"/>
          </a:xfrm>
          <a:prstGeom prst="roundRect">
            <a:avLst>
              <a:gd name="adj" fmla="val 11364"/>
            </a:avLst>
          </a:prstGeom>
          <a:solidFill>
            <a:srgbClr val="E8EEF4"/>
          </a:solidFill>
          <a:ln w="12700">
            <a:solidFill>
              <a:srgbClr val="D5E0EA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836408" y="3611880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C4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3.1 · TLS 1.3 · WSS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566928" y="4352544"/>
            <a:ext cx="11057839" cy="896112"/>
          </a:xfrm>
          <a:prstGeom prst="roundRect">
            <a:avLst>
              <a:gd name="adj" fmla="val 6122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768096" y="4636008"/>
            <a:ext cx="347472" cy="347472"/>
          </a:xfrm>
          <a:prstGeom prst="ellipse">
            <a:avLst/>
          </a:prstGeom>
          <a:solidFill>
            <a:srgbClr val="FFB020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68096" y="4636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43584" y="44805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Multitenant technology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43584" y="4809744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deployment serves citizens, mechanics, fleets and government tenants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790688" y="4599432"/>
            <a:ext cx="3703320" cy="402336"/>
          </a:xfrm>
          <a:prstGeom prst="roundRect">
            <a:avLst>
              <a:gd name="adj" fmla="val 11364"/>
            </a:avLst>
          </a:prstGeom>
          <a:solidFill>
            <a:srgbClr val="E8EEF4"/>
          </a:solidFill>
          <a:ln w="12700">
            <a:solidFill>
              <a:srgbClr val="D5E0EA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836408" y="4599432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C4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isolation + per-tenant encryption keys</a:t>
            </a:r>
            <a:endParaRPr lang="en-US" sz="940" dirty="0"/>
          </a:p>
        </p:txBody>
      </p:sp>
      <p:sp>
        <p:nvSpPr>
          <p:cNvPr id="32" name="Shape 30"/>
          <p:cNvSpPr/>
          <p:nvPr/>
        </p:nvSpPr>
        <p:spPr>
          <a:xfrm>
            <a:off x="566928" y="5340096"/>
            <a:ext cx="11057839" cy="896112"/>
          </a:xfrm>
          <a:prstGeom prst="roundRect">
            <a:avLst>
              <a:gd name="adj" fmla="val 6122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768096" y="5623560"/>
            <a:ext cx="347472" cy="347472"/>
          </a:xfrm>
          <a:prstGeom prst="ellipse">
            <a:avLst/>
          </a:prstGeom>
          <a:solidFill>
            <a:srgbClr val="FFB020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768096" y="5623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243584" y="546811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technology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243584" y="5797296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Loosely coupled services behind an API gateway, communicating over an event bus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790688" y="5586984"/>
            <a:ext cx="3703320" cy="402336"/>
          </a:xfrm>
          <a:prstGeom prst="roundRect">
            <a:avLst>
              <a:gd name="adj" fmla="val 11364"/>
            </a:avLst>
          </a:prstGeom>
          <a:solidFill>
            <a:srgbClr val="E8EEF4"/>
          </a:solidFill>
          <a:ln w="12700">
            <a:solidFill>
              <a:srgbClr val="D5E0EA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7836408" y="5586984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C4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services · gateway · async event bus</a:t>
            </a:r>
            <a:endParaRPr lang="en-US" sz="940" dirty="0"/>
          </a:p>
        </p:txBody>
      </p:sp>
    </p:spTree>
  </p:cSld>
  <p:clrMapOvr>
    <a:masterClrMapping/>
  </p:clrMapOvr>
  <p:transition xmlns:p14="http://schemas.microsoft.com/office/powerpoint/2010/main" spd="med" p14:dur="700">
    <p:push dir="l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Infrastructure Mechanisms in Our Design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3612794" cy="2286000"/>
          </a:xfrm>
          <a:prstGeom prst="roundRect">
            <a:avLst>
              <a:gd name="adj" fmla="val 2400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68096" y="16459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FB020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8096" y="2249424"/>
            <a:ext cx="32104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perimeter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8096" y="2651760"/>
            <a:ext cx="32104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private cloud with private subnets; a single public ingress protected by a web application firewall. No service is directly reachable from the internet.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289450" y="1389888"/>
            <a:ext cx="3612794" cy="2286000"/>
          </a:xfrm>
          <a:prstGeom prst="roundRect">
            <a:avLst>
              <a:gd name="adj" fmla="val 2400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490618" y="16459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C4E7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490618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90618" y="2249424"/>
            <a:ext cx="32104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server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90618" y="2651760"/>
            <a:ext cx="32104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worker nodes built from hardened, pre-patched machine images. Nodes are replaceable, never repaired in place.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011973" y="1389888"/>
            <a:ext cx="3612794" cy="2286000"/>
          </a:xfrm>
          <a:prstGeom prst="roundRect">
            <a:avLst>
              <a:gd name="adj" fmla="val 2400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213141" y="16459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E9E6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13141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13141" y="2249424"/>
            <a:ext cx="32104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storage device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13141" y="2651760"/>
            <a:ext cx="32104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volumes for the database, object storage for diagnostic photos and offline map packs, encrypted at rest.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566928" y="3840480"/>
            <a:ext cx="3612794" cy="2286000"/>
          </a:xfrm>
          <a:prstGeom prst="roundRect">
            <a:avLst>
              <a:gd name="adj" fmla="val 2400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68096" y="409651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77F00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68096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68096" y="4700016"/>
            <a:ext cx="32104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usage monitor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8096" y="5102352"/>
            <a:ext cx="32104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logs and distributed traces collected for every request — feeding autoscaling, billing visibility and SLO alerts.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4289450" y="3840480"/>
            <a:ext cx="3612794" cy="2286000"/>
          </a:xfrm>
          <a:prstGeom prst="roundRect">
            <a:avLst>
              <a:gd name="adj" fmla="val 2400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4490618" y="409651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5484D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490618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490618" y="4700016"/>
            <a:ext cx="32104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replication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490618" y="5102352"/>
            <a:ext cx="32104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replicas across availability zones; stateless services replicated behind the load balancer; object storage replicated to a second region.</a:t>
            </a:r>
            <a:endParaRPr lang="en-US" sz="1080" dirty="0"/>
          </a:p>
        </p:txBody>
      </p:sp>
    </p:spTree>
  </p:cSld>
  <p:clrMapOvr>
    <a:masterClrMapping/>
  </p:clrMapOvr>
  <p:transition xmlns:p14="http://schemas.microsoft.com/office/powerpoint/2010/main" spd="med" p14:dur="700">
    <p:push dir="l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Fundamental Cloud Architectures Applied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2682164" cy="2286000"/>
          </a:xfrm>
          <a:prstGeom prst="roundRect">
            <a:avLst>
              <a:gd name="adj" fmla="val 2400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49808" y="1627632"/>
            <a:ext cx="384048" cy="384048"/>
          </a:xfrm>
          <a:prstGeom prst="ellipse">
            <a:avLst/>
          </a:prstGeom>
          <a:solidFill>
            <a:srgbClr val="FFB020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9808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" y="2176272"/>
            <a:ext cx="23164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Workload distribution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49808" y="2779776"/>
            <a:ext cx="23164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spread across replicas of every stateless service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3358820" y="1389888"/>
            <a:ext cx="2682164" cy="2286000"/>
          </a:xfrm>
          <a:prstGeom prst="roundRect">
            <a:avLst>
              <a:gd name="adj" fmla="val 2400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541700" y="1627632"/>
            <a:ext cx="384048" cy="384048"/>
          </a:xfrm>
          <a:prstGeom prst="ellipse">
            <a:avLst/>
          </a:prstGeom>
          <a:solidFill>
            <a:srgbClr val="FFB020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541700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41700" y="2176272"/>
            <a:ext cx="23164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pooling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541700" y="2779776"/>
            <a:ext cx="23164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pools of compute, database connections and cache reused by all tenants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6150712" y="1389888"/>
            <a:ext cx="2682164" cy="2286000"/>
          </a:xfrm>
          <a:prstGeom prst="roundRect">
            <a:avLst>
              <a:gd name="adj" fmla="val 2400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333592" y="1627632"/>
            <a:ext cx="384048" cy="384048"/>
          </a:xfrm>
          <a:prstGeom prst="ellipse">
            <a:avLst/>
          </a:prstGeom>
          <a:solidFill>
            <a:srgbClr val="FFB020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333592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33592" y="2176272"/>
            <a:ext cx="23164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scalability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333592" y="2779776"/>
            <a:ext cx="23164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Autoscaler adds pods when request queue depth rises, removes them when it falls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8942603" y="1389888"/>
            <a:ext cx="2682164" cy="2286000"/>
          </a:xfrm>
          <a:prstGeom prst="roundRect">
            <a:avLst>
              <a:gd name="adj" fmla="val 2400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9125483" y="1627632"/>
            <a:ext cx="384048" cy="384048"/>
          </a:xfrm>
          <a:prstGeom prst="ellipse">
            <a:avLst/>
          </a:prstGeom>
          <a:solidFill>
            <a:srgbClr val="FFB020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125483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25483" y="2176272"/>
            <a:ext cx="23164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Elastic resource capacity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125483" y="2779776"/>
            <a:ext cx="23164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pool grows and shrinks automatically with the pod count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566928" y="3840480"/>
            <a:ext cx="2682164" cy="2286000"/>
          </a:xfrm>
          <a:prstGeom prst="roundRect">
            <a:avLst>
              <a:gd name="adj" fmla="val 2400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749808" y="4078224"/>
            <a:ext cx="384048" cy="384048"/>
          </a:xfrm>
          <a:prstGeom prst="ellipse">
            <a:avLst/>
          </a:prstGeom>
          <a:solidFill>
            <a:srgbClr val="FFB020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49808" y="4078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9808" y="4626864"/>
            <a:ext cx="23164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load balancing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49808" y="5230368"/>
            <a:ext cx="23164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Layer-7 balancer with health checks; unhealthy replicas removed from rotation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3358820" y="3840480"/>
            <a:ext cx="2682164" cy="2286000"/>
          </a:xfrm>
          <a:prstGeom prst="roundRect">
            <a:avLst>
              <a:gd name="adj" fmla="val 2400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3541700" y="4078224"/>
            <a:ext cx="384048" cy="384048"/>
          </a:xfrm>
          <a:prstGeom prst="ellipse">
            <a:avLst/>
          </a:prstGeom>
          <a:solidFill>
            <a:srgbClr val="FFB020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3541700" y="4078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541700" y="4626864"/>
            <a:ext cx="23164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bursting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3541700" y="5230368"/>
            <a:ext cx="23164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Monsoon and festival surges burst into additional on-demand capacity, then release it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6150712" y="3840480"/>
            <a:ext cx="2682164" cy="2286000"/>
          </a:xfrm>
          <a:prstGeom prst="roundRect">
            <a:avLst>
              <a:gd name="adj" fmla="val 2400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6333592" y="4078224"/>
            <a:ext cx="384048" cy="384048"/>
          </a:xfrm>
          <a:prstGeom prst="ellipse">
            <a:avLst/>
          </a:prstGeom>
          <a:solidFill>
            <a:srgbClr val="FFB020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333592" y="4078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333592" y="4626864"/>
            <a:ext cx="23164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Elastic disk provisioning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6333592" y="5230368"/>
            <a:ext cx="23164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volumes expand on demand; we are billed for what is consumed</a:t>
            </a:r>
            <a:endParaRPr lang="en-US" sz="1020" dirty="0"/>
          </a:p>
        </p:txBody>
      </p:sp>
      <p:sp>
        <p:nvSpPr>
          <p:cNvPr id="39" name="Shape 37"/>
          <p:cNvSpPr/>
          <p:nvPr/>
        </p:nvSpPr>
        <p:spPr>
          <a:xfrm>
            <a:off x="8942603" y="3840480"/>
            <a:ext cx="2682164" cy="2286000"/>
          </a:xfrm>
          <a:prstGeom prst="roundRect">
            <a:avLst>
              <a:gd name="adj" fmla="val 2400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9125483" y="4078224"/>
            <a:ext cx="384048" cy="384048"/>
          </a:xfrm>
          <a:prstGeom prst="ellipse">
            <a:avLst/>
          </a:prstGeom>
          <a:solidFill>
            <a:srgbClr val="FFB020"/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9125483" y="4078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125483" y="4626864"/>
            <a:ext cx="23164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Redundant storage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9125483" y="5230368"/>
            <a:ext cx="23164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and secondary storage replicated across zones with automatic failover</a:t>
            </a:r>
            <a:endParaRPr lang="en-US" sz="102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>
        <p159:morph option="byObject"/>
      </p:transition>
    </mc:Choice>
    <mc:Fallback>
      <p:transition xmlns:p14="http://schemas.microsoft.com/office/powerpoint/2010/main" spd="slow" p14:dur="90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— Mapped to the Cloud Service Layers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1188720" cy="1078992"/>
          </a:xfrm>
          <a:prstGeom prst="roundRect">
            <a:avLst>
              <a:gd name="adj" fmla="val 5085"/>
            </a:avLst>
          </a:prstGeom>
          <a:solidFill>
            <a:srgbClr val="FFB020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66928" y="128016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21792" y="1627632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to users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566928" y="2377440"/>
            <a:ext cx="1188720" cy="2084832"/>
          </a:xfrm>
          <a:prstGeom prst="roundRect">
            <a:avLst>
              <a:gd name="adj" fmla="val 4615"/>
            </a:avLst>
          </a:prstGeom>
          <a:solidFill>
            <a:srgbClr val="1C4E7A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66928" y="24871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1792" y="283464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B9C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on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566928" y="4590288"/>
            <a:ext cx="1188720" cy="1444752"/>
          </a:xfrm>
          <a:prstGeom prst="roundRect">
            <a:avLst>
              <a:gd name="adj" fmla="val 4615"/>
            </a:avLst>
          </a:prstGeom>
          <a:solidFill>
            <a:srgbClr val="0B1B2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66928" y="470001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1792" y="5047488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B9C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it all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1956816" y="1170432"/>
            <a:ext cx="1860438" cy="1078992"/>
          </a:xfrm>
          <a:prstGeom prst="roundRect">
            <a:avLst>
              <a:gd name="adj" fmla="val 6780"/>
            </a:avLst>
          </a:prstGeom>
          <a:solidFill>
            <a:srgbClr val="FFE3AE"/>
          </a:solidFill>
          <a:ln w="12700">
            <a:solidFill>
              <a:srgbClr val="FFE3AE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993392" y="1170432"/>
            <a:ext cx="178728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(Android / iOS)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908694" y="1170432"/>
            <a:ext cx="1860438" cy="1078992"/>
          </a:xfrm>
          <a:prstGeom prst="roundRect">
            <a:avLst>
              <a:gd name="adj" fmla="val 6780"/>
            </a:avLst>
          </a:prstGeom>
          <a:solidFill>
            <a:srgbClr val="FFE3AE"/>
          </a:solidFill>
          <a:ln w="12700">
            <a:solidFill>
              <a:srgbClr val="FFE3AE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945270" y="1170432"/>
            <a:ext cx="178728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PWA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60572" y="1170432"/>
            <a:ext cx="1860438" cy="1078992"/>
          </a:xfrm>
          <a:prstGeom prst="roundRect">
            <a:avLst>
              <a:gd name="adj" fmla="val 6780"/>
            </a:avLst>
          </a:prstGeom>
          <a:solidFill>
            <a:srgbClr val="FFE3AE"/>
          </a:solidFill>
          <a:ln w="12700">
            <a:solidFill>
              <a:srgbClr val="FFE3AE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897148" y="1170432"/>
            <a:ext cx="178728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 App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812451" y="1170432"/>
            <a:ext cx="1860438" cy="1078992"/>
          </a:xfrm>
          <a:prstGeom prst="roundRect">
            <a:avLst>
              <a:gd name="adj" fmla="val 6780"/>
            </a:avLst>
          </a:prstGeom>
          <a:solidFill>
            <a:srgbClr val="FFE3AE"/>
          </a:solidFill>
          <a:ln w="12700">
            <a:solidFill>
              <a:srgbClr val="FFE3AE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849027" y="1170432"/>
            <a:ext cx="178728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 Dashboard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764329" y="1170432"/>
            <a:ext cx="1860438" cy="1078992"/>
          </a:xfrm>
          <a:prstGeom prst="roundRect">
            <a:avLst>
              <a:gd name="adj" fmla="val 6780"/>
            </a:avLst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800905" y="1170432"/>
            <a:ext cx="178728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Phone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· IVR · USSD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790792" y="2267712"/>
            <a:ext cx="0" cy="201168"/>
          </a:xfrm>
          <a:prstGeom prst="line">
            <a:avLst/>
          </a:prstGeom>
          <a:noFill/>
          <a:ln w="19050">
            <a:solidFill>
              <a:srgbClr val="1C4E7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956816" y="2487168"/>
            <a:ext cx="9667951" cy="475488"/>
          </a:xfrm>
          <a:prstGeom prst="roundRect">
            <a:avLst>
              <a:gd name="adj" fmla="val 15385"/>
            </a:avLst>
          </a:prstGeom>
          <a:solidFill>
            <a:srgbClr val="1C4E7A"/>
          </a:solidFill>
          <a:ln w="12700">
            <a:solidFill>
              <a:srgbClr val="1C4E7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993392" y="2487168"/>
            <a:ext cx="95947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 ·  Web Application Firewall  ·  TLS Termination  ·  Layer-7 Load Balancer  ·  Rate Limiting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790792" y="2980944"/>
            <a:ext cx="0" cy="182880"/>
          </a:xfrm>
          <a:prstGeom prst="line">
            <a:avLst/>
          </a:prstGeom>
          <a:noFill/>
          <a:ln w="19050">
            <a:solidFill>
              <a:srgbClr val="1C4E7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956816" y="3200400"/>
            <a:ext cx="1302759" cy="658368"/>
          </a:xfrm>
          <a:prstGeom prst="roundRect">
            <a:avLst>
              <a:gd name="adj" fmla="val 11111"/>
            </a:avLst>
          </a:prstGeom>
          <a:solidFill>
            <a:srgbClr val="DCE7F0"/>
          </a:solidFill>
          <a:ln w="12700">
            <a:solidFill>
              <a:srgbClr val="DCE7F0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993392" y="3200400"/>
            <a:ext cx="1229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51015" y="3200400"/>
            <a:ext cx="1302759" cy="658368"/>
          </a:xfrm>
          <a:prstGeom prst="roundRect">
            <a:avLst>
              <a:gd name="adj" fmla="val 11111"/>
            </a:avLst>
          </a:prstGeom>
          <a:solidFill>
            <a:srgbClr val="DCE7F0"/>
          </a:solidFill>
          <a:ln w="12700">
            <a:solidFill>
              <a:srgbClr val="DCE7F0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3387591" y="3200400"/>
            <a:ext cx="1229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45213" y="3200400"/>
            <a:ext cx="1302759" cy="658368"/>
          </a:xfrm>
          <a:prstGeom prst="roundRect">
            <a:avLst>
              <a:gd name="adj" fmla="val 11111"/>
            </a:avLst>
          </a:prstGeom>
          <a:solidFill>
            <a:srgbClr val="DCE7F0"/>
          </a:solidFill>
          <a:ln w="12700">
            <a:solidFill>
              <a:srgbClr val="DCE7F0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781789" y="3200400"/>
            <a:ext cx="1229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139412" y="3200400"/>
            <a:ext cx="1302759" cy="658368"/>
          </a:xfrm>
          <a:prstGeom prst="roundRect">
            <a:avLst>
              <a:gd name="adj" fmla="val 11111"/>
            </a:avLst>
          </a:prstGeom>
          <a:solidFill>
            <a:srgbClr val="DCE7F0"/>
          </a:solidFill>
          <a:ln w="12700">
            <a:solidFill>
              <a:srgbClr val="DCE7F0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175988" y="3200400"/>
            <a:ext cx="1229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533611" y="3200400"/>
            <a:ext cx="1302759" cy="658368"/>
          </a:xfrm>
          <a:prstGeom prst="roundRect">
            <a:avLst>
              <a:gd name="adj" fmla="val 11111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7570187" y="3200400"/>
            <a:ext cx="1229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927810" y="3200400"/>
            <a:ext cx="1302759" cy="658368"/>
          </a:xfrm>
          <a:prstGeom prst="roundRect">
            <a:avLst>
              <a:gd name="adj" fmla="val 11111"/>
            </a:avLst>
          </a:prstGeom>
          <a:solidFill>
            <a:srgbClr val="DCE7F0"/>
          </a:solidFill>
          <a:ln w="12700">
            <a:solidFill>
              <a:srgbClr val="DCE7F0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8964386" y="3200400"/>
            <a:ext cx="1229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10322008" y="3200400"/>
            <a:ext cx="1302759" cy="658368"/>
          </a:xfrm>
          <a:prstGeom prst="roundRect">
            <a:avLst>
              <a:gd name="adj" fmla="val 11111"/>
            </a:avLst>
          </a:prstGeom>
          <a:solidFill>
            <a:srgbClr val="DCE7F0"/>
          </a:solidFill>
          <a:ln w="12700">
            <a:solidFill>
              <a:srgbClr val="DCE7F0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10358584" y="3200400"/>
            <a:ext cx="1229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956816" y="3913632"/>
            <a:ext cx="96679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 pods on managed Kubernetes  ·  stateless  ·  replicated across 3 availability zones</a:t>
            </a:r>
            <a:endParaRPr lang="en-US" sz="880" dirty="0"/>
          </a:p>
        </p:txBody>
      </p:sp>
      <p:sp>
        <p:nvSpPr>
          <p:cNvPr id="42" name="Shape 40"/>
          <p:cNvSpPr/>
          <p:nvPr/>
        </p:nvSpPr>
        <p:spPr>
          <a:xfrm>
            <a:off x="6790792" y="4169664"/>
            <a:ext cx="0" cy="182880"/>
          </a:xfrm>
          <a:prstGeom prst="line">
            <a:avLst/>
          </a:prstGeom>
          <a:noFill/>
          <a:ln w="19050">
            <a:solidFill>
              <a:srgbClr val="1C4E7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1956816" y="4590288"/>
            <a:ext cx="1860438" cy="731520"/>
          </a:xfrm>
          <a:prstGeom prst="roundRect">
            <a:avLst>
              <a:gd name="adj" fmla="val 10000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1993392" y="4590288"/>
            <a:ext cx="178728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Multi-AZ + replicas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908694" y="4590288"/>
            <a:ext cx="1860438" cy="731520"/>
          </a:xfrm>
          <a:prstGeom prst="roundRect">
            <a:avLst>
              <a:gd name="adj" fmla="val 10000"/>
            </a:avLst>
          </a:prstGeom>
          <a:solidFill>
            <a:srgbClr val="DCE7F0"/>
          </a:solidFill>
          <a:ln w="12700">
            <a:solidFill>
              <a:srgbClr val="DCE7F0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3945270" y="4590288"/>
            <a:ext cx="178728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pooling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860572" y="4590288"/>
            <a:ext cx="1860438" cy="731520"/>
          </a:xfrm>
          <a:prstGeom prst="roundRect">
            <a:avLst>
              <a:gd name="adj" fmla="val 10000"/>
            </a:avLst>
          </a:prstGeom>
          <a:solidFill>
            <a:srgbClr val="DCE7F0"/>
          </a:solidFill>
          <a:ln w="12700">
            <a:solidFill>
              <a:srgbClr val="DCE7F0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5897148" y="4590288"/>
            <a:ext cx="178728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· map packs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812451" y="4590288"/>
            <a:ext cx="1860438" cy="731520"/>
          </a:xfrm>
          <a:prstGeom prst="roundRect">
            <a:avLst>
              <a:gd name="adj" fmla="val 10000"/>
            </a:avLst>
          </a:prstGeom>
          <a:solidFill>
            <a:srgbClr val="DCE7F0"/>
          </a:solidFill>
          <a:ln w="12700">
            <a:solidFill>
              <a:srgbClr val="DCE7F0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7849027" y="4590288"/>
            <a:ext cx="178728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Bus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messaging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9764329" y="4590288"/>
            <a:ext cx="1860438" cy="731520"/>
          </a:xfrm>
          <a:prstGeom prst="roundRect">
            <a:avLst>
              <a:gd name="adj" fmla="val 10000"/>
            </a:avLst>
          </a:prstGeom>
          <a:solidFill>
            <a:srgbClr val="DCE7F0"/>
          </a:solidFill>
          <a:ln w="12700">
            <a:solidFill>
              <a:srgbClr val="DCE7F0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9800905" y="4590288"/>
            <a:ext cx="178728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monitor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1956816" y="5431536"/>
            <a:ext cx="9667951" cy="384048"/>
          </a:xfrm>
          <a:prstGeom prst="roundRect">
            <a:avLst>
              <a:gd name="adj" fmla="val 19048"/>
            </a:avLst>
          </a:prstGeom>
          <a:solidFill>
            <a:srgbClr val="0B1B2B"/>
          </a:solidFill>
          <a:ln w="12700">
            <a:solidFill>
              <a:srgbClr val="0B1B2B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1993392" y="5431536"/>
            <a:ext cx="95947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Servers  ·  Virtual Private Cloud  ·  Private Subnets  ·  Block &amp; Object Storage  ·  Encrypted at Rest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566928" y="6199632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box maps to a Module 3 mechanism or a Module 4 architecture. The emergency service (red) is deployed separately so it survives failure of the rest of the platform.</a:t>
            </a:r>
            <a:endParaRPr lang="en-US" sz="1000" dirty="0"/>
          </a:p>
        </p:txBody>
      </p:sp>
    </p:spTree>
  </p:cSld>
  <p:clrMapOvr>
    <a:masterClrMapping/>
  </p:clrMapOvr>
  <p:transition xmlns:p14="http://schemas.microsoft.com/office/powerpoint/2010/main" spd="med" p14:dur="750">
    <p:push dir="l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Security — Threats and Mechanisms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029200" cy="4846320"/>
          </a:xfrm>
          <a:prstGeom prst="roundRect">
            <a:avLst>
              <a:gd name="adj" fmla="val 1132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04672" y="14813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agents and cloud security threats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04672" y="1901952"/>
            <a:ext cx="2148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attacker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962656" y="1901952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 of service against the public API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804672" y="2432304"/>
            <a:ext cx="2148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service agent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962656" y="2432304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eavesdropping between services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804672" y="2962656"/>
            <a:ext cx="2148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attacker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62656" y="2962656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verified mechanic escalating privileges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804672" y="3493008"/>
            <a:ext cx="2148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insider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962656" y="3493008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access to citizen medical records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804672" y="4023360"/>
            <a:ext cx="2148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eavesdropping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962656" y="4023360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Intercepting location data in transit</a:t>
            </a:r>
            <a:endParaRPr lang="en-US" sz="960" dirty="0"/>
          </a:p>
        </p:txBody>
      </p:sp>
      <p:sp>
        <p:nvSpPr>
          <p:cNvPr id="16" name="Text 14"/>
          <p:cNvSpPr/>
          <p:nvPr/>
        </p:nvSpPr>
        <p:spPr>
          <a:xfrm>
            <a:off x="804672" y="4553712"/>
            <a:ext cx="2148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authorization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962656" y="4553712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another user's booking by changing an ID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804672" y="5084064"/>
            <a:ext cx="2148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 attack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962656" y="5084064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Escaping a container onto the host</a:t>
            </a:r>
            <a:endParaRPr lang="en-US" sz="960" dirty="0"/>
          </a:p>
        </p:txBody>
      </p:sp>
      <p:sp>
        <p:nvSpPr>
          <p:cNvPr id="20" name="Text 18"/>
          <p:cNvSpPr/>
          <p:nvPr/>
        </p:nvSpPr>
        <p:spPr>
          <a:xfrm>
            <a:off x="804672" y="5614416"/>
            <a:ext cx="2148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trust boundaries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962656" y="5614416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tenant leaking data across tenants</a:t>
            </a:r>
            <a:endParaRPr lang="en-US" sz="960" dirty="0"/>
          </a:p>
        </p:txBody>
      </p:sp>
      <p:sp>
        <p:nvSpPr>
          <p:cNvPr id="22" name="Text 20"/>
          <p:cNvSpPr/>
          <p:nvPr/>
        </p:nvSpPr>
        <p:spPr>
          <a:xfrm>
            <a:off x="5742432" y="14813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mechanisms we implement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742432" y="1901952"/>
            <a:ext cx="2798064" cy="987552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888736" y="1993392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888736" y="2267712"/>
            <a:ext cx="2505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 in transit; AES-256 at rest; column-level encryption for medical and identity data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8668512" y="1901952"/>
            <a:ext cx="2798064" cy="987552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814816" y="1993392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814816" y="2267712"/>
            <a:ext cx="2505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Argon2 for credentials; SHA-256 hash chain making the audit log tamper-evident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5742432" y="2980944"/>
            <a:ext cx="2798064" cy="987552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888736" y="3072384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signature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888736" y="3346704"/>
            <a:ext cx="2505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payloads on the emergency 112 handoff and on all partner webhooks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8668512" y="2980944"/>
            <a:ext cx="2798064" cy="987552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814816" y="3072384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PKI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814816" y="3346704"/>
            <a:ext cx="2505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authority issuing per-officer certificates for government portal access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5742432" y="4059936"/>
            <a:ext cx="2798064" cy="987552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888736" y="4151376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888736" y="4425696"/>
            <a:ext cx="2505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roles, resource-scoped permissions, least privilege, no standing production access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8668512" y="4059936"/>
            <a:ext cx="2798064" cy="987552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8814816" y="4151376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Sign-On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814816" y="4425696"/>
            <a:ext cx="2505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token issued at login, honoured across all services for its short lifetime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5742432" y="5138928"/>
            <a:ext cx="2798064" cy="987552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5888736" y="5230368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888736" y="5504688"/>
            <a:ext cx="2505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Default-deny virtual firewalls; each service reachable only by its declared callers</a:t>
            </a:r>
            <a:endParaRPr lang="en-US" sz="920" dirty="0"/>
          </a:p>
        </p:txBody>
      </p:sp>
      <p:sp>
        <p:nvSpPr>
          <p:cNvPr id="44" name="Shape 42"/>
          <p:cNvSpPr/>
          <p:nvPr/>
        </p:nvSpPr>
        <p:spPr>
          <a:xfrm>
            <a:off x="8668512" y="5138928"/>
            <a:ext cx="2798064" cy="987552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8814816" y="5230368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 images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8814816" y="5504688"/>
            <a:ext cx="2505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Minimal, pre-patched machine images; nodes replaced rather than patched in place</a:t>
            </a:r>
            <a:endParaRPr lang="en-US" sz="92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>
        <p159:morph option="byObject"/>
      </p:transition>
    </mc:Choice>
    <mc:Fallback>
      <p:transition xmlns:p14="http://schemas.microsoft.com/office/powerpoint/2010/main" spd="slow" p14:dur="900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 — End to 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80160"/>
            <a:ext cx="1629613" cy="2121408"/>
          </a:xfrm>
          <a:prstGeom prst="roundRect">
            <a:avLst>
              <a:gd name="adj" fmla="val 4489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143991" y="1499616"/>
            <a:ext cx="475488" cy="475488"/>
          </a:xfrm>
          <a:prstGeom prst="ellipse">
            <a:avLst/>
          </a:prstGeom>
          <a:solidFill>
            <a:srgbClr val="FFB020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43991" y="14996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" y="2139696"/>
            <a:ext cx="144673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Trigger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" y="2487168"/>
            <a:ext cx="144673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breaks down, or the on-device model detects a crash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2242261" y="2340864"/>
            <a:ext cx="164592" cy="0"/>
          </a:xfrm>
          <a:prstGeom prst="line">
            <a:avLst/>
          </a:prstGeom>
          <a:noFill/>
          <a:ln w="25400">
            <a:solidFill>
              <a:srgbClr val="FFB02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452573" y="1280160"/>
            <a:ext cx="1629613" cy="2121408"/>
          </a:xfrm>
          <a:prstGeom prst="roundRect">
            <a:avLst>
              <a:gd name="adj" fmla="val 4489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029636" y="1499616"/>
            <a:ext cx="475488" cy="475488"/>
          </a:xfrm>
          <a:prstGeom prst="ellipse">
            <a:avLst/>
          </a:prstGeom>
          <a:solidFill>
            <a:srgbClr val="1C4E7A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029636" y="14996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544013" y="2139696"/>
            <a:ext cx="144673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544013" y="2487168"/>
            <a:ext cx="144673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 by voice, photo or OBD scan — works fully offline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4127906" y="2340864"/>
            <a:ext cx="164592" cy="0"/>
          </a:xfrm>
          <a:prstGeom prst="line">
            <a:avLst/>
          </a:prstGeom>
          <a:noFill/>
          <a:ln w="25400">
            <a:solidFill>
              <a:srgbClr val="FFB02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338218" y="1280160"/>
            <a:ext cx="1629613" cy="2121408"/>
          </a:xfrm>
          <a:prstGeom prst="roundRect">
            <a:avLst>
              <a:gd name="adj" fmla="val 4489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915281" y="1499616"/>
            <a:ext cx="475488" cy="475488"/>
          </a:xfrm>
          <a:prstGeom prst="ellipse">
            <a:avLst/>
          </a:prstGeom>
          <a:solidFill>
            <a:srgbClr val="1C4E7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915281" y="14996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429658" y="2139696"/>
            <a:ext cx="144673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429658" y="2487168"/>
            <a:ext cx="144673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 returns probable fault, severity and parts needed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6013552" y="2340864"/>
            <a:ext cx="164592" cy="0"/>
          </a:xfrm>
          <a:prstGeom prst="line">
            <a:avLst/>
          </a:prstGeom>
          <a:noFill/>
          <a:ln w="25400">
            <a:solidFill>
              <a:srgbClr val="FFB02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223864" y="1280160"/>
            <a:ext cx="1629613" cy="2121408"/>
          </a:xfrm>
          <a:prstGeom prst="roundRect">
            <a:avLst>
              <a:gd name="adj" fmla="val 4489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800926" y="1499616"/>
            <a:ext cx="475488" cy="475488"/>
          </a:xfrm>
          <a:prstGeom prst="ellipse">
            <a:avLst/>
          </a:prstGeom>
          <a:solidFill>
            <a:srgbClr val="1C4E7A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00926" y="14996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315304" y="2139696"/>
            <a:ext cx="144673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Dispatch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15304" y="2487168"/>
            <a:ext cx="144673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query ranks nearby verified mechanics and sends offers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7899197" y="2340864"/>
            <a:ext cx="164592" cy="0"/>
          </a:xfrm>
          <a:prstGeom prst="line">
            <a:avLst/>
          </a:prstGeom>
          <a:noFill/>
          <a:ln w="25400">
            <a:solidFill>
              <a:srgbClr val="FFB02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8109509" y="1280160"/>
            <a:ext cx="1629613" cy="2121408"/>
          </a:xfrm>
          <a:prstGeom prst="roundRect">
            <a:avLst>
              <a:gd name="adj" fmla="val 4489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8686571" y="1499616"/>
            <a:ext cx="475488" cy="475488"/>
          </a:xfrm>
          <a:prstGeom prst="ellipse">
            <a:avLst/>
          </a:prstGeom>
          <a:solidFill>
            <a:srgbClr val="1C4E7A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8686571" y="14996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200949" y="2139696"/>
            <a:ext cx="144673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200949" y="2487168"/>
            <a:ext cx="144673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location streamed over WebSocket until the mechanic arrives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9784842" y="2340864"/>
            <a:ext cx="164592" cy="0"/>
          </a:xfrm>
          <a:prstGeom prst="line">
            <a:avLst/>
          </a:prstGeom>
          <a:noFill/>
          <a:ln w="25400">
            <a:solidFill>
              <a:srgbClr val="FFB02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9995154" y="1280160"/>
            <a:ext cx="1629613" cy="2121408"/>
          </a:xfrm>
          <a:prstGeom prst="roundRect">
            <a:avLst>
              <a:gd name="adj" fmla="val 4489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572217" y="1499616"/>
            <a:ext cx="475488" cy="475488"/>
          </a:xfrm>
          <a:prstGeom prst="ellipse">
            <a:avLst/>
          </a:prstGeom>
          <a:solidFill>
            <a:srgbClr val="2E9E6B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10572217" y="14996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0086594" y="2139696"/>
            <a:ext cx="144673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0086594" y="2487168"/>
            <a:ext cx="144673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completed, digital invoice, cashless payment, rating</a:t>
            </a:r>
            <a:endParaRPr lang="en-US" sz="960" dirty="0"/>
          </a:p>
        </p:txBody>
      </p:sp>
      <p:sp>
        <p:nvSpPr>
          <p:cNvPr id="39" name="Shape 37"/>
          <p:cNvSpPr/>
          <p:nvPr/>
        </p:nvSpPr>
        <p:spPr>
          <a:xfrm>
            <a:off x="566928" y="3621024"/>
            <a:ext cx="11057839" cy="1389888"/>
          </a:xfrm>
          <a:prstGeom prst="roundRect">
            <a:avLst>
              <a:gd name="adj" fmla="val 3947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804672" y="3749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there is no network — the path that makes this different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04672" y="4096512"/>
            <a:ext cx="25632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AI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804672" y="4370832"/>
            <a:ext cx="25632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and crash detection run on the phone in under 120 ms</a:t>
            </a:r>
            <a:endParaRPr lang="en-US" sz="980" dirty="0"/>
          </a:p>
        </p:txBody>
      </p:sp>
      <p:sp>
        <p:nvSpPr>
          <p:cNvPr id="43" name="Text 41"/>
          <p:cNvSpPr/>
          <p:nvPr/>
        </p:nvSpPr>
        <p:spPr>
          <a:xfrm>
            <a:off x="3477692" y="4096512"/>
            <a:ext cx="25632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queue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3477692" y="4370832"/>
            <a:ext cx="25632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request is stored on the device and marked pending</a:t>
            </a:r>
            <a:endParaRPr lang="en-US" sz="980" dirty="0"/>
          </a:p>
        </p:txBody>
      </p:sp>
      <p:sp>
        <p:nvSpPr>
          <p:cNvPr id="45" name="Text 43"/>
          <p:cNvSpPr/>
          <p:nvPr/>
        </p:nvSpPr>
        <p:spPr>
          <a:xfrm>
            <a:off x="6150712" y="4096512"/>
            <a:ext cx="25632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/ IVR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6150712" y="4370832"/>
            <a:ext cx="25632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feature phone completes the whole journey over text or a voice menu</a:t>
            </a:r>
            <a:endParaRPr lang="en-US" sz="980" dirty="0"/>
          </a:p>
        </p:txBody>
      </p:sp>
      <p:sp>
        <p:nvSpPr>
          <p:cNvPr id="47" name="Text 45"/>
          <p:cNvSpPr/>
          <p:nvPr/>
        </p:nvSpPr>
        <p:spPr>
          <a:xfrm>
            <a:off x="8823731" y="4096512"/>
            <a:ext cx="25632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Auto-sync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8823731" y="4370832"/>
            <a:ext cx="25632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reconnect the queue replays; conflicts resolve server-side</a:t>
            </a:r>
            <a:endParaRPr lang="en-US" sz="980" dirty="0"/>
          </a:p>
        </p:txBody>
      </p:sp>
      <p:sp>
        <p:nvSpPr>
          <p:cNvPr id="49" name="Shape 47"/>
          <p:cNvSpPr/>
          <p:nvPr/>
        </p:nvSpPr>
        <p:spPr>
          <a:xfrm>
            <a:off x="566928" y="5138928"/>
            <a:ext cx="11057839" cy="1225296"/>
          </a:xfrm>
          <a:prstGeom prst="roundRect">
            <a:avLst>
              <a:gd name="adj" fmla="val 4478"/>
            </a:avLst>
          </a:prstGeom>
          <a:solidFill>
            <a:srgbClr val="0B1B2B"/>
          </a:solidFill>
          <a:ln w="12700">
            <a:solidFill>
              <a:srgbClr val="0B1B2B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804672" y="52669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path — under 10 seconds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804672" y="5614416"/>
            <a:ext cx="1897014" cy="603504"/>
          </a:xfrm>
          <a:prstGeom prst="roundRect">
            <a:avLst>
              <a:gd name="adj" fmla="val 9091"/>
            </a:avLst>
          </a:prstGeom>
          <a:solidFill>
            <a:srgbClr val="14293D"/>
          </a:solidFill>
          <a:ln w="12700">
            <a:solidFill>
              <a:srgbClr val="1D3C56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859536" y="5614416"/>
            <a:ext cx="178728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detected on device</a:t>
            </a:r>
            <a:endParaRPr lang="en-US" sz="940" dirty="0"/>
          </a:p>
        </p:txBody>
      </p:sp>
      <p:sp>
        <p:nvSpPr>
          <p:cNvPr id="53" name="Shape 51"/>
          <p:cNvSpPr/>
          <p:nvPr/>
        </p:nvSpPr>
        <p:spPr>
          <a:xfrm>
            <a:off x="2738262" y="5916168"/>
            <a:ext cx="201168" cy="0"/>
          </a:xfrm>
          <a:prstGeom prst="line">
            <a:avLst/>
          </a:prstGeom>
          <a:noFill/>
          <a:ln w="25400">
            <a:solidFill>
              <a:srgbClr val="FFB02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2976006" y="5614416"/>
            <a:ext cx="1897014" cy="603504"/>
          </a:xfrm>
          <a:prstGeom prst="roundRect">
            <a:avLst>
              <a:gd name="adj" fmla="val 9091"/>
            </a:avLst>
          </a:prstGeom>
          <a:solidFill>
            <a:srgbClr val="14293D"/>
          </a:solidFill>
          <a:ln w="12700">
            <a:solidFill>
              <a:srgbClr val="1D3C56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3030870" y="5614416"/>
            <a:ext cx="178728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30-second cancel window</a:t>
            </a:r>
            <a:endParaRPr lang="en-US" sz="940" dirty="0"/>
          </a:p>
        </p:txBody>
      </p:sp>
      <p:sp>
        <p:nvSpPr>
          <p:cNvPr id="56" name="Shape 54"/>
          <p:cNvSpPr/>
          <p:nvPr/>
        </p:nvSpPr>
        <p:spPr>
          <a:xfrm>
            <a:off x="4909596" y="5916168"/>
            <a:ext cx="201168" cy="0"/>
          </a:xfrm>
          <a:prstGeom prst="line">
            <a:avLst/>
          </a:prstGeom>
          <a:noFill/>
          <a:ln w="25400">
            <a:solidFill>
              <a:srgbClr val="FFB02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5147340" y="5614416"/>
            <a:ext cx="1897014" cy="603504"/>
          </a:xfrm>
          <a:prstGeom prst="roundRect">
            <a:avLst>
              <a:gd name="adj" fmla="val 9091"/>
            </a:avLst>
          </a:prstGeom>
          <a:solidFill>
            <a:srgbClr val="14293D"/>
          </a:solidFill>
          <a:ln w="12700">
            <a:solidFill>
              <a:srgbClr val="1D3C56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5202204" y="5614416"/>
            <a:ext cx="178728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 alerted with live location</a:t>
            </a:r>
            <a:endParaRPr lang="en-US" sz="940" dirty="0"/>
          </a:p>
        </p:txBody>
      </p:sp>
      <p:sp>
        <p:nvSpPr>
          <p:cNvPr id="59" name="Shape 57"/>
          <p:cNvSpPr/>
          <p:nvPr/>
        </p:nvSpPr>
        <p:spPr>
          <a:xfrm>
            <a:off x="7080931" y="5916168"/>
            <a:ext cx="201168" cy="0"/>
          </a:xfrm>
          <a:prstGeom prst="line">
            <a:avLst/>
          </a:prstGeom>
          <a:noFill/>
          <a:ln w="25400">
            <a:solidFill>
              <a:srgbClr val="FFB02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0" name="Shape 58"/>
          <p:cNvSpPr/>
          <p:nvPr/>
        </p:nvSpPr>
        <p:spPr>
          <a:xfrm>
            <a:off x="7318675" y="5614416"/>
            <a:ext cx="1897014" cy="603504"/>
          </a:xfrm>
          <a:prstGeom prst="roundRect">
            <a:avLst>
              <a:gd name="adj" fmla="val 9091"/>
            </a:avLst>
          </a:prstGeom>
          <a:solidFill>
            <a:srgbClr val="14293D"/>
          </a:solidFill>
          <a:ln w="12700">
            <a:solidFill>
              <a:srgbClr val="1D3C56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7373539" y="5614416"/>
            <a:ext cx="178728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responder notified</a:t>
            </a:r>
            <a:endParaRPr lang="en-US" sz="940" dirty="0"/>
          </a:p>
        </p:txBody>
      </p:sp>
      <p:sp>
        <p:nvSpPr>
          <p:cNvPr id="62" name="Shape 60"/>
          <p:cNvSpPr/>
          <p:nvPr/>
        </p:nvSpPr>
        <p:spPr>
          <a:xfrm>
            <a:off x="9252265" y="5916168"/>
            <a:ext cx="201168" cy="0"/>
          </a:xfrm>
          <a:prstGeom prst="line">
            <a:avLst/>
          </a:prstGeom>
          <a:noFill/>
          <a:ln w="25400">
            <a:solidFill>
              <a:srgbClr val="FFB02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3" name="Shape 61"/>
          <p:cNvSpPr/>
          <p:nvPr/>
        </p:nvSpPr>
        <p:spPr>
          <a:xfrm>
            <a:off x="9490009" y="5614416"/>
            <a:ext cx="1897014" cy="603504"/>
          </a:xfrm>
          <a:prstGeom prst="roundRect">
            <a:avLst>
              <a:gd name="adj" fmla="val 9091"/>
            </a:avLst>
          </a:prstGeom>
          <a:solidFill>
            <a:srgbClr val="14293D"/>
          </a:solidFill>
          <a:ln w="12700">
            <a:solidFill>
              <a:srgbClr val="1D3C56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9544873" y="5614416"/>
            <a:ext cx="178728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ERSS 112 handoff on confirmation</a:t>
            </a:r>
            <a:endParaRPr lang="en-US" sz="94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>
        <p159:morph option="byObject"/>
      </p:transition>
    </mc:Choice>
    <mc:Fallback>
      <p:transition xmlns:p14="http://schemas.microsoft.com/office/powerpoint/2010/main" spd="slow" p14:dur="900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Output — What We Have Built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86968" y="1325880"/>
            <a:ext cx="1920240" cy="4434840"/>
          </a:xfrm>
          <a:prstGeom prst="roundRect">
            <a:avLst>
              <a:gd name="adj" fmla="val 4762"/>
            </a:avLst>
          </a:prstGeom>
          <a:solidFill>
            <a:srgbClr val="0B1B2B"/>
          </a:solidFill>
          <a:ln w="12700">
            <a:solidFill>
              <a:srgbClr val="0B1B2B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9264" y="1481328"/>
            <a:ext cx="1755648" cy="41148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69264" y="1481328"/>
            <a:ext cx="1755648" cy="420624"/>
          </a:xfrm>
          <a:prstGeom prst="roundRect">
            <a:avLst>
              <a:gd name="adj" fmla="val 8696"/>
            </a:avLst>
          </a:prstGeom>
          <a:solidFill>
            <a:srgbClr val="FFB020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69264" y="1481328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Help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51560" y="2048256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Vehicle: Maruti Swift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1051560" y="237744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auto-detected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1051560" y="2706624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NH-48 · KM 212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1051560" y="3364992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1051560" y="3694176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won't start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1051560" y="4352544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REQUEST ASSISTANCE ]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3218688" y="1325880"/>
            <a:ext cx="1920240" cy="4434840"/>
          </a:xfrm>
          <a:prstGeom prst="roundRect">
            <a:avLst>
              <a:gd name="adj" fmla="val 4762"/>
            </a:avLst>
          </a:prstGeom>
          <a:solidFill>
            <a:srgbClr val="0B1B2B"/>
          </a:solidFill>
          <a:ln w="12700">
            <a:solidFill>
              <a:srgbClr val="0B1B2B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300984" y="1481328"/>
            <a:ext cx="1755648" cy="41148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3300984" y="1481328"/>
            <a:ext cx="1755648" cy="420624"/>
          </a:xfrm>
          <a:prstGeom prst="roundRect">
            <a:avLst>
              <a:gd name="adj" fmla="val 8696"/>
            </a:avLst>
          </a:prstGeom>
          <a:solidFill>
            <a:srgbClr val="1C4E7A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300984" y="1481328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Diagnosis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83280" y="2048256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HIGH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3383280" y="2706624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cause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3383280" y="3035808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discharge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3383280" y="3694176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 3 / 5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3383280" y="402336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Parts: jump kit, battery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3383280" y="4681728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DRIVE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5550408" y="1325880"/>
            <a:ext cx="1920240" cy="4434840"/>
          </a:xfrm>
          <a:prstGeom prst="roundRect">
            <a:avLst>
              <a:gd name="adj" fmla="val 4762"/>
            </a:avLst>
          </a:prstGeom>
          <a:solidFill>
            <a:srgbClr val="0B1B2B"/>
          </a:solidFill>
          <a:ln w="12700">
            <a:solidFill>
              <a:srgbClr val="0B1B2B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5632704" y="1481328"/>
            <a:ext cx="1755648" cy="41148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5632704" y="1481328"/>
            <a:ext cx="1755648" cy="420624"/>
          </a:xfrm>
          <a:prstGeom prst="roundRect">
            <a:avLst>
              <a:gd name="adj" fmla="val 8696"/>
            </a:avLst>
          </a:prstGeom>
          <a:solidFill>
            <a:srgbClr val="2E9E6B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632704" y="1481328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Tracking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715000" y="2048256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 assigned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5715000" y="237744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Ramesh K. · 4.8 ★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5715000" y="3035808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 12 min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5715000" y="3364992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 4.2 km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5715000" y="402336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CALL ]   [ CHAT ]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7635240" y="1325880"/>
            <a:ext cx="4005072" cy="4434840"/>
          </a:xfrm>
          <a:prstGeom prst="roundRect">
            <a:avLst>
              <a:gd name="adj" fmla="val 1370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7863840" y="148132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1 — completed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7863840" y="2011680"/>
            <a:ext cx="201168" cy="201168"/>
          </a:xfrm>
          <a:prstGeom prst="ellipse">
            <a:avLst/>
          </a:prstGeom>
          <a:solidFill>
            <a:srgbClr val="2E9E6B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8156448" y="19751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infrastructure provisioned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156448" y="2258568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network, subnets, security groups, Kubernetes cluster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7863840" y="2761488"/>
            <a:ext cx="201168" cy="201168"/>
          </a:xfrm>
          <a:prstGeom prst="ellipse">
            <a:avLst/>
          </a:prstGeom>
          <a:solidFill>
            <a:srgbClr val="2E9E6B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8156448" y="27249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deployed and seeded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156448" y="3008376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tables, multi-AZ, 100,000 rows of test data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7863840" y="3511296"/>
            <a:ext cx="201168" cy="201168"/>
          </a:xfrm>
          <a:prstGeom prst="ellipse">
            <a:avLst/>
          </a:prstGeom>
          <a:solidFill>
            <a:srgbClr val="2E9E6B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8156448" y="3474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working end to end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156448" y="375818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login, token rotation, role-based access control</a:t>
            </a:r>
            <a:endParaRPr lang="en-US" sz="920" dirty="0"/>
          </a:p>
        </p:txBody>
      </p:sp>
      <p:sp>
        <p:nvSpPr>
          <p:cNvPr id="44" name="Shape 42"/>
          <p:cNvSpPr/>
          <p:nvPr/>
        </p:nvSpPr>
        <p:spPr>
          <a:xfrm>
            <a:off x="7863840" y="4261104"/>
            <a:ext cx="201168" cy="201168"/>
          </a:xfrm>
          <a:prstGeom prst="ellipse">
            <a:avLst/>
          </a:prstGeom>
          <a:solidFill>
            <a:srgbClr val="2E9E6B"/>
          </a:solidFill>
          <a:ln/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8156448" y="42245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live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156448" y="4507992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commit built, tested and security-scanned automatically</a:t>
            </a:r>
            <a:endParaRPr lang="en-US" sz="920" dirty="0"/>
          </a:p>
        </p:txBody>
      </p:sp>
      <p:sp>
        <p:nvSpPr>
          <p:cNvPr id="47" name="Shape 45"/>
          <p:cNvSpPr/>
          <p:nvPr/>
        </p:nvSpPr>
        <p:spPr>
          <a:xfrm>
            <a:off x="7863840" y="5010912"/>
            <a:ext cx="201168" cy="201168"/>
          </a:xfrm>
          <a:prstGeom prst="ellipse">
            <a:avLst/>
          </a:prstGeom>
          <a:solidFill>
            <a:srgbClr val="2E9E6B"/>
          </a:solidFill>
          <a:ln/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8156448" y="49743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Clickable prototype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156448" y="525780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request journey, in Hindi, on a low-end phone</a:t>
            </a:r>
            <a:endParaRPr lang="en-US" sz="920" dirty="0"/>
          </a:p>
        </p:txBody>
      </p:sp>
      <p:sp>
        <p:nvSpPr>
          <p:cNvPr id="50" name="Text 48"/>
          <p:cNvSpPr/>
          <p:nvPr/>
        </p:nvSpPr>
        <p:spPr>
          <a:xfrm>
            <a:off x="566928" y="59436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 follows this slide.</a:t>
            </a:r>
            <a:endParaRPr lang="en-US" sz="1100" dirty="0"/>
          </a:p>
        </p:txBody>
      </p:sp>
    </p:spTree>
  </p:cSld>
  <p:clrMapOvr>
    <a:masterClrMapping/>
  </p:clrMapOvr>
  <p:transition xmlns:p14="http://schemas.microsoft.com/office/powerpoint/2010/main" spd="med" p14:dur="700">
    <p:push dir="l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2682164" cy="3931920"/>
          </a:xfrm>
          <a:prstGeom prst="roundRect">
            <a:avLst>
              <a:gd name="adj" fmla="val 2046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49808" y="1627632"/>
            <a:ext cx="2316404" cy="475488"/>
          </a:xfrm>
          <a:prstGeom prst="roundRect">
            <a:avLst>
              <a:gd name="adj" fmla="val 9615"/>
            </a:avLst>
          </a:prstGeom>
          <a:solidFill>
            <a:srgbClr val="FFB020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9808" y="1627632"/>
            <a:ext cx="23164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Infrastructure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86384" y="2304288"/>
            <a:ext cx="22615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(managed)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86384" y="3035808"/>
            <a:ext cx="22615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86384" y="3767328"/>
            <a:ext cx="22615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— infrastructure as code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86384" y="4498848"/>
            <a:ext cx="22615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private cloud, security groups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58820" y="1389888"/>
            <a:ext cx="2682164" cy="3931920"/>
          </a:xfrm>
          <a:prstGeom prst="roundRect">
            <a:avLst>
              <a:gd name="adj" fmla="val 2046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541700" y="1627632"/>
            <a:ext cx="2316404" cy="475488"/>
          </a:xfrm>
          <a:prstGeom prst="roundRect">
            <a:avLst>
              <a:gd name="adj" fmla="val 9615"/>
            </a:avLst>
          </a:prstGeom>
          <a:solidFill>
            <a:srgbClr val="1C4E7A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541700" y="1627632"/>
            <a:ext cx="23164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Data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578276" y="2304288"/>
            <a:ext cx="22615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NestJS microservices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78276" y="3035808"/>
            <a:ext cx="22615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PostGIS (multi-AZ) · LRS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578276" y="3767328"/>
            <a:ext cx="22615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 · H3 Res 8 · event bus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578276" y="4498848"/>
            <a:ext cx="22615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 for media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50712" y="1389888"/>
            <a:ext cx="2682164" cy="3931920"/>
          </a:xfrm>
          <a:prstGeom prst="roundRect">
            <a:avLst>
              <a:gd name="adj" fmla="val 2046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333592" y="1627632"/>
            <a:ext cx="2316404" cy="475488"/>
          </a:xfrm>
          <a:prstGeom prst="roundRect">
            <a:avLst>
              <a:gd name="adj" fmla="val 9615"/>
            </a:avLst>
          </a:prstGeom>
          <a:solidFill>
            <a:srgbClr val="2E9E6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333592" y="1627632"/>
            <a:ext cx="23164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Mobile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370168" y="2304288"/>
            <a:ext cx="22615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— Android and iOS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70168" y="3035808"/>
            <a:ext cx="22615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progressive web app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70168" y="3767328"/>
            <a:ext cx="22615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offline maps + local sync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70168" y="4498848"/>
            <a:ext cx="22615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· IVR · USSD gateway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942603" y="1389888"/>
            <a:ext cx="2682164" cy="3931920"/>
          </a:xfrm>
          <a:prstGeom prst="roundRect">
            <a:avLst>
              <a:gd name="adj" fmla="val 2046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9125483" y="1627632"/>
            <a:ext cx="2316404" cy="475488"/>
          </a:xfrm>
          <a:prstGeom prst="roundRect">
            <a:avLst>
              <a:gd name="adj" fmla="val 9615"/>
            </a:avLst>
          </a:prstGeom>
          <a:solidFill>
            <a:srgbClr val="C77F00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125483" y="1627632"/>
            <a:ext cx="23164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Operations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162059" y="2304288"/>
            <a:ext cx="22615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PyTorch · ONNX · road hazard model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162059" y="3035808"/>
            <a:ext cx="22615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model serving · PDI / blackspot analytics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162059" y="3767328"/>
            <a:ext cx="22615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· Grafana monitoring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162059" y="4498848"/>
            <a:ext cx="22615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CI/CD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66928" y="5504688"/>
            <a:ext cx="11057839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22960" y="5504688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is open source or a managed cloud service on a free tier — total infrastructure cost for the project: ₹0.</a:t>
            </a:r>
            <a:endParaRPr lang="en-US" sz="1250" dirty="0"/>
          </a:p>
        </p:txBody>
      </p:sp>
    </p:spTree>
  </p:cSld>
  <p:clrMapOvr>
    <a:masterClrMapping/>
  </p:clrMapOvr>
  <p:transition xmlns:p14="http://schemas.microsoft.com/office/powerpoint/2010/main" spd="med" p14:dur="700">
    <p:push dir="l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to Review 2 and Review 3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11057839" cy="1444752"/>
          </a:xfrm>
          <a:prstGeom prst="roundRect">
            <a:avLst>
              <a:gd name="adj" fmla="val 3797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68096" y="1682496"/>
            <a:ext cx="1554480" cy="859536"/>
          </a:xfrm>
          <a:prstGeom prst="roundRect">
            <a:avLst>
              <a:gd name="adj" fmla="val 6383"/>
            </a:avLst>
          </a:prstGeom>
          <a:solidFill>
            <a:srgbClr val="2E9E6B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177393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8096" y="20848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 – 5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487168" y="1719072"/>
            <a:ext cx="1005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566160" y="1719072"/>
            <a:ext cx="6492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validated · cloud architecture designed · database and authentication deployed · prototype built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0213848" y="1947672"/>
            <a:ext cx="1234440" cy="365760"/>
          </a:xfrm>
          <a:prstGeom prst="roundRect">
            <a:avLst>
              <a:gd name="adj" fmla="val 10000"/>
            </a:avLst>
          </a:prstGeom>
          <a:solidFill>
            <a:srgbClr val="2E9E6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213848" y="194767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6928" y="2980944"/>
            <a:ext cx="11057839" cy="1444752"/>
          </a:xfrm>
          <a:prstGeom prst="roundRect">
            <a:avLst>
              <a:gd name="adj" fmla="val 3797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68096" y="3273552"/>
            <a:ext cx="1554480" cy="859536"/>
          </a:xfrm>
          <a:prstGeom prst="roundRect">
            <a:avLst>
              <a:gd name="adj" fmla="val 6383"/>
            </a:avLst>
          </a:prstGeom>
          <a:solidFill>
            <a:srgbClr val="FFB020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68096" y="336499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8096" y="36758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6 – 12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487168" y="3310128"/>
            <a:ext cx="1005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B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566160" y="3310128"/>
            <a:ext cx="6492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diagnosis + road hazard engine · LRS/H3 mapping · offline engine · SMS and IVR end to end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0213848" y="3538728"/>
            <a:ext cx="1234440" cy="365760"/>
          </a:xfrm>
          <a:prstGeom prst="roundRect">
            <a:avLst>
              <a:gd name="adj" fmla="val 10000"/>
            </a:avLst>
          </a:prstGeom>
          <a:solidFill>
            <a:srgbClr val="E8EEF4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213848" y="353872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6928" y="4572000"/>
            <a:ext cx="11057839" cy="1444752"/>
          </a:xfrm>
          <a:prstGeom prst="roundRect">
            <a:avLst>
              <a:gd name="adj" fmla="val 3797"/>
            </a:avLst>
          </a:prstGeom>
          <a:solidFill>
            <a:srgbClr val="F1F5F9"/>
          </a:solidFill>
          <a:ln w="12700">
            <a:solidFill>
              <a:srgbClr val="E3EAF1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68096" y="4864608"/>
            <a:ext cx="1554480" cy="859536"/>
          </a:xfrm>
          <a:prstGeom prst="roundRect">
            <a:avLst>
              <a:gd name="adj" fmla="val 6383"/>
            </a:avLst>
          </a:prstGeom>
          <a:solidFill>
            <a:srgbClr val="1C4E7A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68096" y="495604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68096" y="52669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13 – 18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487168" y="4901184"/>
            <a:ext cx="1005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4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3566160" y="4901184"/>
            <a:ext cx="6492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engine · MoRTH portal + privacy layer · load, chaos and security testing · production deployment with disaster recovery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0213848" y="5129784"/>
            <a:ext cx="1234440" cy="365760"/>
          </a:xfrm>
          <a:prstGeom prst="roundRect">
            <a:avLst>
              <a:gd name="adj" fmla="val 10000"/>
            </a:avLst>
          </a:prstGeom>
          <a:solidFill>
            <a:srgbClr val="E8EEF4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0213848" y="512978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</p:spTree>
  </p:cSld>
  <p:clrMapOvr>
    <a:masterClrMapping/>
  </p:clrMapOvr>
  <p:transition xmlns:p14="http://schemas.microsoft.com/office/powerpoint/2010/main" spd="med" p14:dur="700">
    <p:push dir="l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B02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66928" y="7772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1155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cloud problem, solved with cloud architecture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66928" y="2212848"/>
            <a:ext cx="5440680" cy="1024128"/>
          </a:xfrm>
          <a:prstGeom prst="roundRect">
            <a:avLst>
              <a:gd name="adj" fmla="val 5357"/>
            </a:avLst>
          </a:prstGeom>
          <a:solidFill>
            <a:srgbClr val="14293D"/>
          </a:solidFill>
          <a:ln w="12700">
            <a:solidFill>
              <a:srgbClr val="1D3C56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04672" y="2359152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Unpredictable, national-scale demand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04672" y="267004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3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by dynamic scalability, elastic capacity and cloud bursting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90488" y="2212848"/>
            <a:ext cx="5440680" cy="1024128"/>
          </a:xfrm>
          <a:prstGeom prst="roundRect">
            <a:avLst>
              <a:gd name="adj" fmla="val 5357"/>
            </a:avLst>
          </a:prstGeom>
          <a:solidFill>
            <a:srgbClr val="14293D"/>
          </a:solidFill>
          <a:ln w="12700">
            <a:solidFill>
              <a:srgbClr val="1D3C56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28232" y="2359152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service that must never fail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28232" y="267004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3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by multi-AZ replication, redundant storage and load balancing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3383280"/>
            <a:ext cx="5440680" cy="1024128"/>
          </a:xfrm>
          <a:prstGeom prst="roundRect">
            <a:avLst>
              <a:gd name="adj" fmla="val 5357"/>
            </a:avLst>
          </a:prstGeom>
          <a:solidFill>
            <a:srgbClr val="14293D"/>
          </a:solidFill>
          <a:ln w="12700">
            <a:solidFill>
              <a:srgbClr val="1D3C56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04672" y="3529584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personal and medical data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384048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3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by encryption, PKI, IAM, SSO and default-deny security groups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90488" y="3383280"/>
            <a:ext cx="5440680" cy="1024128"/>
          </a:xfrm>
          <a:prstGeom prst="roundRect">
            <a:avLst>
              <a:gd name="adj" fmla="val 5357"/>
            </a:avLst>
          </a:prstGeom>
          <a:solidFill>
            <a:srgbClr val="14293D"/>
          </a:solidFill>
          <a:ln w="12700">
            <a:solidFill>
              <a:srgbClr val="1D3C56"/>
            </a:solidFill>
            <a:prstDash val="solid"/>
          </a:ln>
          <a:effectLst>
            <a:outerShdw sx="100000" sy="100000" kx="0" ky="0" algn="bl" rotWithShape="0" blurRad="152400" dist="25400" dir="5400000">
              <a:srgbClr val="0B1B2B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28232" y="3529584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students, no hardware budget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28232" y="384048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3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by IaaS and PaaS consumption on a pay-as-you-go basis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" y="4892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·  Questions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66928" y="5394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SWE4004 — Cloud Computing and Applications  ·  Review 1</a:t>
            </a:r>
            <a:endParaRPr lang="en-US" sz="1100" dirty="0"/>
          </a:p>
        </p:txBody>
      </p:sp>
    </p:spTree>
  </p:cSld>
  <p:clrMapOvr>
    <a:masterClrMapping/>
  </p:clrMapOvr>
  <p:transition xmlns:p14="http://schemas.microsoft.com/office/powerpoint/2010/main" spd="med" p14:dur="1000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C77F00"/>
                </a:solidFill>
                <a:latin typeface="Calibri"/>
              </a:rPr>
              <a:t>ENHANCEMENT 1 · EDGE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642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 i="0">
                <a:solidFill>
                  <a:srgbClr val="0B1B2B"/>
                </a:solidFill>
                <a:latin typeface="Cambria"/>
              </a:rPr>
              <a:t>Edge AI &amp; Road Hazard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07008"/>
            <a:ext cx="11018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F6E7C"/>
                </a:solidFill>
                <a:latin typeface="Calibri"/>
              </a:rPr>
              <a:t>On-device road intelligence extends RoadAssist from vehicle assistance to road-condition awareness.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3520440" cy="1965960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E3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8096" y="1755648"/>
            <a:ext cx="1234440" cy="310896"/>
          </a:xfrm>
          <a:prstGeom prst="roundRect">
            <a:avLst/>
          </a:prstGeom>
          <a:solidFill>
            <a:srgbClr val="FFB11F"/>
          </a:solidFill>
          <a:ln w="10160">
            <a:solidFill>
              <a:srgbClr val="FFB1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96795"/>
            <a:ext cx="11247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i="0">
                <a:solidFill>
                  <a:srgbClr val="0B1B2B"/>
                </a:solidFill>
                <a:latin typeface="Calibri"/>
              </a:rPr>
              <a:t>EDGE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194560"/>
            <a:ext cx="30815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B1B2B"/>
                </a:solidFill>
                <a:latin typeface="Cambria"/>
              </a:rPr>
              <a:t>On-Device Hazard 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587752"/>
            <a:ext cx="3081528" cy="8412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 i="0">
                <a:solidFill>
                  <a:srgbClr val="5F6E7C"/>
                </a:solidFill>
                <a:latin typeface="Calibri"/>
              </a:rPr>
              <a:t>Lightweight model (≤ 15 MB) runs on the phone camera and flags potholes, unmarked speed-breakers and unpaved roads using the mitangshu11 dataset.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1572768"/>
            <a:ext cx="3520440" cy="1965960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E3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35424" y="1755648"/>
            <a:ext cx="1234440" cy="310896"/>
          </a:xfrm>
          <a:prstGeom prst="roundRect">
            <a:avLst/>
          </a:prstGeom>
          <a:solidFill>
            <a:srgbClr val="23577E"/>
          </a:solidFill>
          <a:ln w="10160">
            <a:solidFill>
              <a:srgbClr val="235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796795"/>
            <a:ext cx="11247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194560"/>
            <a:ext cx="30815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B1B2B"/>
                </a:solidFill>
                <a:latin typeface="Cambria"/>
              </a:rPr>
              <a:t>Pavement Distress Index (PDI)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587752"/>
            <a:ext cx="3081528" cy="8412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 i="0">
                <a:solidFill>
                  <a:srgbClr val="5F6E7C"/>
                </a:solidFill>
                <a:latin typeface="Calibri"/>
              </a:rPr>
              <a:t>A live 0.0–1.0 road-roughness score converts visual road evidence into a compact severity signal for the routing and analytics layers.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1572768"/>
            <a:ext cx="3520440" cy="1965960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E3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02752" y="1755648"/>
            <a:ext cx="1234440" cy="310896"/>
          </a:xfrm>
          <a:prstGeom prst="roundRect">
            <a:avLst/>
          </a:prstGeom>
          <a:solidFill>
            <a:srgbClr val="E5484D"/>
          </a:solidFill>
          <a:ln w="10160">
            <a:solidFill>
              <a:srgbClr val="E54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7615" y="1796795"/>
            <a:ext cx="11247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194560"/>
            <a:ext cx="30815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B1B2B"/>
                </a:solidFill>
                <a:latin typeface="Cambria"/>
              </a:rPr>
              <a:t>Empirical Bayes Blackspot Predictor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587752"/>
            <a:ext cx="3081528" cy="8412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 i="0">
                <a:solidFill>
                  <a:srgbClr val="5F6E7C"/>
                </a:solidFill>
                <a:latin typeface="Calibri"/>
              </a:rPr>
              <a:t>Combines MoRTH accident data with spatial evidence to identify road segments with elevated crash risk and surface them as blackspot candidates.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977639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C77F00"/>
                </a:solidFill>
                <a:latin typeface="Calibri"/>
              </a:rPr>
              <a:t>CAMERA / IMU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3977639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23577E"/>
                </a:solidFill>
                <a:latin typeface="Calibri"/>
              </a:rPr>
              <a:t>ON-DEVICE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9392" y="3977639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2CA36B"/>
                </a:solidFill>
                <a:latin typeface="Calibri"/>
              </a:rPr>
              <a:t>PDI + HAZARD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44768" y="3977639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23577E"/>
                </a:solidFill>
                <a:latin typeface="Calibri"/>
              </a:rPr>
              <a:t>POSTGIS / 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7" y="3977639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E5484D"/>
                </a:solidFill>
                <a:latin typeface="Calibri"/>
              </a:rPr>
              <a:t>SAFER DISPATCH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84248" y="3941063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B11F"/>
                </a:solidFill>
                <a:latin typeface="Calibri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13632" y="3941063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B11F"/>
                </a:solidFill>
                <a:latin typeface="Calibri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3941063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B11F"/>
                </a:solidFill>
                <a:latin typeface="Calibri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82712" y="3941063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B11F"/>
                </a:solidFill>
                <a:latin typeface="Calibr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6144768"/>
            <a:ext cx="11064240" cy="438912"/>
          </a:xfrm>
          <a:prstGeom prst="roundRect">
            <a:avLst/>
          </a:prstGeom>
          <a:solidFill>
            <a:srgbClr val="0B1B2B"/>
          </a:solidFill>
          <a:ln w="10160">
            <a:solidFill>
              <a:srgbClr val="0B1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6254496"/>
            <a:ext cx="10652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New intelligence layer: detect the road condition before dispatch decides how to reach the stranded user.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C77F00"/>
                </a:solidFill>
                <a:latin typeface="Calibri"/>
              </a:rPr>
              <a:t>ENHANCEMENT 2 · SMART BACKEND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642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 i="0">
                <a:solidFill>
                  <a:srgbClr val="0B1B2B"/>
                </a:solidFill>
                <a:latin typeface="Cambria"/>
              </a:rPr>
              <a:t>Smart Backend &amp; Highway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07008"/>
            <a:ext cx="11018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F6E7C"/>
                </a:solidFill>
                <a:latin typeface="Calibri"/>
              </a:rPr>
              <a:t>Precise highway positioning and fast spatial lookup make roadside dispatch location-aware at highway scale.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5349240" cy="1353312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E3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737360"/>
            <a:ext cx="384048" cy="384048"/>
          </a:xfrm>
          <a:prstGeom prst="ellipse">
            <a:avLst/>
          </a:prstGeom>
          <a:solidFill>
            <a:srgbClr val="FFB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815084"/>
            <a:ext cx="3840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 i="0">
                <a:solidFill>
                  <a:srgbClr val="0B1B2B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719072"/>
            <a:ext cx="4434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0B1B2B"/>
                </a:solidFill>
                <a:latin typeface="Cambria"/>
              </a:rPr>
              <a:t>Highway Milestone (LRS) Resolution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084831"/>
            <a:ext cx="4434840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F6E7C"/>
                </a:solidFill>
                <a:latin typeface="Calibri"/>
              </a:rPr>
              <a:t>PostGIS Linear Referencing System resolves locations such as NH-44 KM 142.5 into an exact position on the highway network.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554480"/>
            <a:ext cx="5349240" cy="1353312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E3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82512" y="1737360"/>
            <a:ext cx="384048" cy="384048"/>
          </a:xfrm>
          <a:prstGeom prst="ellipse">
            <a:avLst/>
          </a:prstGeom>
          <a:solidFill>
            <a:srgbClr val="235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815084"/>
            <a:ext cx="3840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 i="0">
                <a:solidFill>
                  <a:srgbClr val="0B1B2B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12864" y="1719072"/>
            <a:ext cx="4434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0B1B2B"/>
                </a:solidFill>
                <a:latin typeface="Cambria"/>
              </a:rPr>
              <a:t>H3 Hexagonal Grid · Resolution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12864" y="2084831"/>
            <a:ext cx="4434840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F6E7C"/>
                </a:solidFill>
                <a:latin typeface="Calibri"/>
              </a:rPr>
              <a:t>Uber H3 indexing groups responders and mechanics into spatial cells, enabling fast nearest-provider lookups with a target of &lt; 50 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072384"/>
            <a:ext cx="5349240" cy="1353312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E3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9808" y="3255264"/>
            <a:ext cx="384048" cy="384048"/>
          </a:xfrm>
          <a:prstGeom prst="ellipse">
            <a:avLst/>
          </a:prstGeom>
          <a:solidFill>
            <a:srgbClr val="2CA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332988"/>
            <a:ext cx="3840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 i="0">
                <a:solidFill>
                  <a:srgbClr val="0B1B2B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236976"/>
            <a:ext cx="4434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0B1B2B"/>
                </a:solidFill>
                <a:latin typeface="Cambria"/>
              </a:rPr>
              <a:t>Hazard-Aware Dispatch Routing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602736"/>
            <a:ext cx="4434840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F6E7C"/>
                </a:solidFill>
                <a:latin typeface="Calibri"/>
              </a:rPr>
              <a:t>Routing uses road-condition signals from the hazard engine to avoid severely damaged roads when sending tow trucks or ambulances.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3072384"/>
            <a:ext cx="5349240" cy="1353312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E3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82512" y="3255264"/>
            <a:ext cx="384048" cy="384048"/>
          </a:xfrm>
          <a:prstGeom prst="ellipse">
            <a:avLst/>
          </a:prstGeom>
          <a:solidFill>
            <a:srgbClr val="E54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3332988"/>
            <a:ext cx="3840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 i="0">
                <a:solidFill>
                  <a:srgbClr val="0B1B2B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12864" y="3236976"/>
            <a:ext cx="4434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0B1B2B"/>
                </a:solidFill>
                <a:latin typeface="Cambria"/>
              </a:rPr>
              <a:t>One Spatial Backbone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3602736"/>
            <a:ext cx="4434840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F6E7C"/>
                </a:solidFill>
                <a:latin typeface="Calibri"/>
              </a:rPr>
              <a:t>LRS gives the exact highway reference; H3 accelerates proximity search; routing combines both with live hazard context.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709160"/>
            <a:ext cx="10972800" cy="1143000"/>
          </a:xfrm>
          <a:prstGeom prst="roundRect">
            <a:avLst/>
          </a:prstGeom>
          <a:solidFill>
            <a:srgbClr val="0B1B2B"/>
          </a:solidFill>
          <a:ln w="10160">
            <a:solidFill>
              <a:srgbClr val="0B1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901184"/>
            <a:ext cx="1143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FFB11F"/>
                </a:solidFill>
                <a:latin typeface="Calibri"/>
              </a:rPr>
              <a:t>INCIDENT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4901184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LRS LOCATION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41648" y="4901184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H3 CELL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13832" y="4901184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NEAREST RESPONDER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25512" y="4901184"/>
            <a:ext cx="187451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HAZARD-AWARE ROUTE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4901184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2CA36B"/>
                </a:solidFill>
                <a:latin typeface="Calibri"/>
              </a:rPr>
              <a:t>ARRIVAL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74519" y="4855464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B11F"/>
                </a:solidFill>
                <a:latin typeface="Calibri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39312" y="4855464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B11F"/>
                </a:solidFill>
                <a:latin typeface="Calibri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38928" y="4855464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B11F"/>
                </a:solidFill>
                <a:latin typeface="Calibri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50608" y="4855464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B11F"/>
                </a:solidFill>
                <a:latin typeface="Calibri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54896" y="4855464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B11F"/>
                </a:solidFill>
                <a:latin typeface="Calibri"/>
              </a:rPr>
              <a:t>→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C77F00"/>
                </a:solidFill>
                <a:latin typeface="Calibri"/>
              </a:rPr>
              <a:t>ENHANCEMENT 3 · LIFE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642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 i="0">
                <a:solidFill>
                  <a:srgbClr val="0B1B2B"/>
                </a:solidFill>
                <a:latin typeface="Cambria"/>
              </a:rPr>
              <a:t>Life-Safety &amp; Offline Resilience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07008"/>
            <a:ext cx="11018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F6E7C"/>
                </a:solidFill>
                <a:latin typeface="Calibri"/>
              </a:rPr>
              <a:t>The emergency path remains usable without internet, while the human-confirmation step prevents false dispatches.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3429000" cy="1874519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E3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8096" y="1737360"/>
            <a:ext cx="1234440" cy="310896"/>
          </a:xfrm>
          <a:prstGeom prst="roundRect">
            <a:avLst/>
          </a:prstGeom>
          <a:solidFill>
            <a:srgbClr val="FFB11F"/>
          </a:solidFill>
          <a:ln w="10160">
            <a:solidFill>
              <a:srgbClr val="FFB1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78507"/>
            <a:ext cx="11247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i="0">
                <a:solidFill>
                  <a:srgbClr val="0B1B2B"/>
                </a:solidFill>
                <a:latin typeface="Calibri"/>
              </a:rPr>
              <a:t>OFFLINE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176272"/>
            <a:ext cx="29900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B1B2B"/>
                </a:solidFill>
                <a:latin typeface="Cambria"/>
              </a:rPr>
              <a:t>Zero-Internet Offline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569464"/>
            <a:ext cx="2990088" cy="7498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F6E7C"/>
                </a:solidFill>
                <a:latin typeface="Calibri"/>
              </a:rPr>
              <a:t>SQLite local storage plus offline maps keep fault diagnosis and roadside requests usable with no network. Requests sync when connectivity returns.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554480"/>
            <a:ext cx="3429000" cy="1874519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E3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25696" y="1737360"/>
            <a:ext cx="1234440" cy="310896"/>
          </a:xfrm>
          <a:prstGeom prst="roundRect">
            <a:avLst/>
          </a:prstGeom>
          <a:solidFill>
            <a:srgbClr val="E5484D"/>
          </a:solidFill>
          <a:ln w="10160">
            <a:solidFill>
              <a:srgbClr val="E54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778507"/>
            <a:ext cx="11247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100 Hz IMU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2176272"/>
            <a:ext cx="29900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B1B2B"/>
                </a:solidFill>
                <a:latin typeface="Cambria"/>
              </a:rPr>
              <a:t>Crash-to-Responder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569464"/>
            <a:ext cx="2990088" cy="7498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F6E7C"/>
                </a:solidFill>
                <a:latin typeface="Calibri"/>
              </a:rPr>
              <a:t>100 Hz IMU sensing detects crash signatures. A 30-second cancellation countdown gives the user time to stop a false alarm before automatic location dispatch.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82127" y="1554480"/>
            <a:ext cx="3429000" cy="1874519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E3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83296" y="1737360"/>
            <a:ext cx="1234440" cy="310896"/>
          </a:xfrm>
          <a:prstGeom prst="roundRect">
            <a:avLst/>
          </a:prstGeom>
          <a:solidFill>
            <a:srgbClr val="23577E"/>
          </a:solidFill>
          <a:ln w="10160">
            <a:solidFill>
              <a:srgbClr val="235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59" y="1778507"/>
            <a:ext cx="11247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SMS + IVR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01583" y="2176272"/>
            <a:ext cx="29900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B1B2B"/>
                </a:solidFill>
                <a:latin typeface="Cambria"/>
              </a:rPr>
              <a:t>Feature Phone Gateway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01583" y="2569464"/>
            <a:ext cx="2990088" cy="7498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F6E7C"/>
                </a:solidFill>
                <a:latin typeface="Calibri"/>
              </a:rPr>
              <a:t>SMS + IVR commands — MADAD, SOS and STATUS — extend the core journey to feature phones in 8 Indian languages.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3767328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C77F00"/>
                </a:solidFill>
                <a:latin typeface="Calibri"/>
              </a:rPr>
              <a:t>EMERGENCY PATH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160520"/>
            <a:ext cx="1600200" cy="1024128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E3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" y="4315968"/>
            <a:ext cx="138074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E5484D"/>
                </a:solidFill>
                <a:latin typeface="Calibri"/>
              </a:rPr>
              <a:t>0s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" y="4608576"/>
            <a:ext cx="138074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 i="0">
                <a:solidFill>
                  <a:srgbClr val="0B1B2B"/>
                </a:solidFill>
                <a:latin typeface="Calibri"/>
              </a:rPr>
              <a:t>Crash signal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31720" y="4160520"/>
            <a:ext cx="1828800" cy="1024128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E3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41448" y="4315968"/>
            <a:ext cx="160934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23577E"/>
                </a:solidFill>
                <a:latin typeface="Calibri"/>
              </a:rPr>
              <a:t>0–30s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41448" y="4608576"/>
            <a:ext cx="160934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 i="0">
                <a:solidFill>
                  <a:srgbClr val="0B1B2B"/>
                </a:solidFill>
                <a:latin typeface="Calibri"/>
              </a:rPr>
              <a:t>Cancel window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25112" y="4160520"/>
            <a:ext cx="1600200" cy="1024128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E3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4840" y="4315968"/>
            <a:ext cx="138074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23577E"/>
                </a:solidFill>
                <a:latin typeface="Calibri"/>
              </a:rPr>
              <a:t>2s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4608576"/>
            <a:ext cx="138074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 i="0">
                <a:solidFill>
                  <a:srgbClr val="0B1B2B"/>
                </a:solidFill>
                <a:latin typeface="Calibri"/>
              </a:rPr>
              <a:t>SMS location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89904" y="4160520"/>
            <a:ext cx="1828800" cy="1024128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E3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99632" y="4315968"/>
            <a:ext cx="160934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23577E"/>
                </a:solidFill>
                <a:latin typeface="Calibri"/>
              </a:rPr>
              <a:t>4s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99632" y="4608576"/>
            <a:ext cx="160934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 i="0">
                <a:solidFill>
                  <a:srgbClr val="0B1B2B"/>
                </a:solidFill>
                <a:latin typeface="Calibri"/>
              </a:rPr>
              <a:t>Responder lookup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83296" y="4160520"/>
            <a:ext cx="2057400" cy="1024128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E3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93023" y="4315968"/>
            <a:ext cx="1837943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23577E"/>
                </a:solidFill>
                <a:latin typeface="Calibri"/>
              </a:rPr>
              <a:t>≤10s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93023" y="4608576"/>
            <a:ext cx="1837943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 i="0">
                <a:solidFill>
                  <a:srgbClr val="0B1B2B"/>
                </a:solidFill>
                <a:latin typeface="Calibri"/>
              </a:rPr>
              <a:t>Dispatch path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144768"/>
            <a:ext cx="11064240" cy="438912"/>
          </a:xfrm>
          <a:prstGeom prst="roundRect">
            <a:avLst/>
          </a:prstGeom>
          <a:solidFill>
            <a:srgbClr val="0B1B2B"/>
          </a:solidFill>
          <a:ln w="10160">
            <a:solidFill>
              <a:srgbClr val="0B1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8096" y="6254496"/>
            <a:ext cx="10652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Safety rule: AI can raise an incident, but the dispatch path remains confirmation-aware.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C77F00"/>
                </a:solidFill>
                <a:latin typeface="Calibri"/>
              </a:rPr>
              <a:t>ENHANCEMENT 4 · GOVERNMENT &amp;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642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 i="0">
                <a:solidFill>
                  <a:srgbClr val="0B1B2B"/>
                </a:solidFill>
                <a:latin typeface="Cambria"/>
              </a:rPr>
              <a:t>Government &amp; Compliance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07008"/>
            <a:ext cx="11018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F6E7C"/>
                </a:solidFill>
                <a:latin typeface="Calibri"/>
              </a:rPr>
              <a:t>RoadAssist becomes a data-to-action layer for highway authorities while protecting citizens from re-identification.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3520440" cy="1874519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E3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8096" y="1755648"/>
            <a:ext cx="1234440" cy="310896"/>
          </a:xfrm>
          <a:prstGeom prst="roundRect">
            <a:avLst/>
          </a:prstGeom>
          <a:solidFill>
            <a:srgbClr val="FFB11F"/>
          </a:solidFill>
          <a:ln w="10160">
            <a:solidFill>
              <a:srgbClr val="FFB1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96795"/>
            <a:ext cx="11247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i="0">
                <a:solidFill>
                  <a:srgbClr val="0B1B2B"/>
                </a:solidFill>
                <a:latin typeface="Calibri"/>
              </a:rPr>
              <a:t>MoRTH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194560"/>
            <a:ext cx="30815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B1B2B"/>
                </a:solidFill>
                <a:latin typeface="Cambria"/>
              </a:rPr>
              <a:t>MoRTH Statutory Blackspot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587752"/>
            <a:ext cx="3081528" cy="7498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F6E7C"/>
                </a:solidFill>
                <a:latin typeface="Calibri"/>
              </a:rPr>
              <a:t>District-level heatmaps expose high-risk road segments and support automatic monthly statutory PDF reporting for government workflows.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1572768"/>
            <a:ext cx="3520440" cy="1874519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E3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35424" y="1755648"/>
            <a:ext cx="1234440" cy="310896"/>
          </a:xfrm>
          <a:prstGeom prst="roundRect">
            <a:avLst/>
          </a:prstGeom>
          <a:solidFill>
            <a:srgbClr val="E5484D"/>
          </a:solidFill>
          <a:ln w="10160">
            <a:solidFill>
              <a:srgbClr val="E54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796795"/>
            <a:ext cx="11247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HEATMAP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194560"/>
            <a:ext cx="30815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B1B2B"/>
                </a:solidFill>
                <a:latin typeface="Cambria"/>
              </a:rPr>
              <a:t>Blackspot + Road Condition 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587752"/>
            <a:ext cx="3081528" cy="7498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F6E7C"/>
                </a:solidFill>
                <a:latin typeface="Calibri"/>
              </a:rPr>
              <a:t>Combine accident-derived risk with PDI and detected hazards to help authorities prioritize inspection, maintenance and intervention.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1572768"/>
            <a:ext cx="3520440" cy="1874519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E3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02752" y="1755648"/>
            <a:ext cx="1234440" cy="310896"/>
          </a:xfrm>
          <a:prstGeom prst="roundRect">
            <a:avLst/>
          </a:prstGeom>
          <a:solidFill>
            <a:srgbClr val="23577E"/>
          </a:solidFill>
          <a:ln w="10160">
            <a:solidFill>
              <a:srgbClr val="235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7615" y="1796795"/>
            <a:ext cx="11247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k ≥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194560"/>
            <a:ext cx="30815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B1B2B"/>
                </a:solidFill>
                <a:latin typeface="Cambria"/>
              </a:rPr>
              <a:t>DPDP Act 2023 Privacy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587752"/>
            <a:ext cx="3081528" cy="7498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F6E7C"/>
                </a:solidFill>
                <a:latin typeface="Calibri"/>
              </a:rPr>
              <a:t>Query-level k-anonymity (k ≥ 10) suppresses results that could expose a small identifiable group of citizens.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886200"/>
            <a:ext cx="10972800" cy="1417320"/>
          </a:xfrm>
          <a:prstGeom prst="roundRect">
            <a:avLst/>
          </a:prstGeom>
          <a:solidFill>
            <a:srgbClr val="0B1B2B"/>
          </a:solidFill>
          <a:ln w="10160">
            <a:solidFill>
              <a:srgbClr val="0B1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4160520"/>
            <a:ext cx="1874519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 i="0">
                <a:solidFill>
                  <a:srgbClr val="FFB11F"/>
                </a:solidFill>
                <a:latin typeface="Calibri"/>
              </a:rPr>
              <a:t>ACCIDENT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480560"/>
            <a:ext cx="187451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MoRTH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4261104"/>
            <a:ext cx="274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FFB11F"/>
                </a:solidFill>
                <a:latin typeface="Calibr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98648" y="4160520"/>
            <a:ext cx="1874519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 i="0">
                <a:solidFill>
                  <a:srgbClr val="FFB11F"/>
                </a:solidFill>
                <a:latin typeface="Calibri"/>
              </a:rPr>
              <a:t>ROAD SIGNALS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98648" y="4480560"/>
            <a:ext cx="187451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PDI + hazards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4261104"/>
            <a:ext cx="274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FFB11F"/>
                </a:solidFill>
                <a:latin typeface="Calibri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47488" y="4160520"/>
            <a:ext cx="1874519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 i="0">
                <a:solidFill>
                  <a:srgbClr val="FFB11F"/>
                </a:solidFill>
                <a:latin typeface="Calibri"/>
              </a:rPr>
              <a:t>PRIVACY FILTER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47488" y="4480560"/>
            <a:ext cx="187451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k ≥ 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4261104"/>
            <a:ext cx="274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FFB11F"/>
                </a:solidFill>
                <a:latin typeface="Calibri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96327" y="4160520"/>
            <a:ext cx="1874519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 i="0">
                <a:solidFill>
                  <a:srgbClr val="FFB11F"/>
                </a:solidFill>
                <a:latin typeface="Calibri"/>
              </a:rPr>
              <a:t>DISTRICT 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96327" y="4480560"/>
            <a:ext cx="187451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Heatmap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4261104"/>
            <a:ext cx="274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FFB11F"/>
                </a:solidFill>
                <a:latin typeface="Calibri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45167" y="4160520"/>
            <a:ext cx="1874519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 i="0">
                <a:solidFill>
                  <a:srgbClr val="FFB11F"/>
                </a:solidFill>
                <a:latin typeface="Calibri"/>
              </a:rPr>
              <a:t>REPORTING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45167" y="4480560"/>
            <a:ext cx="187451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Monthly PDF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6144768"/>
            <a:ext cx="11064240" cy="438912"/>
          </a:xfrm>
          <a:prstGeom prst="roundRect">
            <a:avLst/>
          </a:prstGeom>
          <a:solidFill>
            <a:srgbClr val="0B1B2B"/>
          </a:solidFill>
          <a:ln w="10160">
            <a:solidFill>
              <a:srgbClr val="0B1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8096" y="6254496"/>
            <a:ext cx="10652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Public value: safer roads and better targeting without exposing individual citizen records.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RoadAssist — SWE4004 Cloud Computing · Review 1</dc:title>
  <dc:subject>PptxGenJS Presentation</dc:subject>
  <dc:creator>V Saatwik Sairaam · P Sai Nirisha Chowdary · T V S Jignesh · G Parthavi</dc:creator>
  <cp:lastModifiedBy>V Saatwik Sairaam · P Sai Nirisha Chowdary · T V S Jignesh · G Parthavi</cp:lastModifiedBy>
  <cp:revision>1</cp:revision>
  <dcterms:created xsi:type="dcterms:W3CDTF">2026-08-03T19:02:36Z</dcterms:created>
  <dcterms:modified xsi:type="dcterms:W3CDTF">2026-08-03T19:02:36Z</dcterms:modified>
</cp:coreProperties>
</file>