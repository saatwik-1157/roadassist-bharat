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Assertions</c:v>
                </c:pt>
              </c:strCache>
            </c:strRef>
          </c:tx>
          <c:spPr>
            <a:solidFill>
              <a:srgbClr val="F0B42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5F2EA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</c:v>
                  </c:pt>
                  <c:pt idx="1">
                    <c:v>End-to-end</c:v>
                  </c:pt>
                  <c:pt idx="2">
                    <c:v>Concurrency</c:v>
                  </c:pt>
                  <c:pt idx="3">
                    <c:v>Security</c:v>
                  </c:pt>
                  <c:pt idx="4">
                    <c:v>Gateway</c:v>
                  </c:pt>
                  <c:pt idx="5">
                    <c:v>Browser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144</c:v>
                </c:pt>
                <c:pt idx="1">
                  <c:v>189</c:v>
                </c:pt>
                <c:pt idx="2">
                  <c:v>75</c:v>
                </c:pt>
                <c:pt idx="3">
                  <c:v>74</c:v>
                </c:pt>
                <c:pt idx="4">
                  <c:v>27</c:v>
                </c:pt>
                <c:pt idx="5">
                  <c:v>163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5F2EA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7BFCC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RoadAssist Bharat: an offline-first roadside assistance and road-safety platform built by the four of us. The image on the right is a 3D render built from real screenshots of the running system. Every number in this deck comes from the project's measured.json, produced by the test suites and schema introspection.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from MoRTH's Road Accidents in India 2022 report: 4,61,312 accidents and 1,68,491 deaths. The zero-bars card is our design premise, marked as such on the slide. The platform is designed around the three things other apps assume: network, smartphone, nearby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modular monolith (ADR-0001): every surface is plain HTML/JS served by the API process, so there is no second deployment, no CORS boundary. The feature-phone path completes a booking over SMS in eight languages; seven of the eight are machine-translated and not yet reviewed by native speakers.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captures of the running platform, not mockups. The capture script signs in against the live API and refuses to take a screenshot unless the page shows what the caption claims. The mechanic console is captured signed in as a seeded mechanic.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stages. Two decisions worth naming: the SOS must be held for 1.5 seconds so a pocket press never calls a responder, and two mechanics accepting one job is settled by a row lock (SELECT ... FOR UPDATE), not by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Off-grid is the architecture, not a fallback. Left: an SOS raised with no network. Right: the journal synchronised once the network returned, with the platform reference. Replay is idempotent on a client-minted op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YOLO11 trained here on RDD2022 across four countries: mAP50 0.471 and mAP50-95 0.226 on held-out validation (ai/README.md). A model-detected incident waits in a confirmation queue until a person moves it; there is no transition to dispatch that skips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Fastify process serves the API and every web surface. PostGIS is required: dispatch ranks providers with ST_DWithin over a GiST index. The audit log is hash-chained and append-only. Counts come from schema introspection through pg_depend so PostGIS's own tables are not counted.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672 assertions across unit, end-to-end, concurrency, security, gateway security and browser suites, zero failures. The security suite attempts 74 attacks including cross-tenant reads, role escalation, SQL injection and forged tokens. The 22 payment-sandbox checks need an account we do not have, so they are reported 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faculty's requirement: LLM-based projects with minimal student contribution are not considered. We made that a build check: npm run no-llm fails on any LLM dependency or chat endpoint, and it runs in CI on every push. Even the site's answer panel is a lookup over a fixed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showcase is live at roadassistbharat.online on GitHub Pages. The platform image is built and published by CI; the demo compose file brings up PostGIS, migrates, seeds and serves every surface on port 4000. Render with a Neon PostGIS database hosts the same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owns one layer end to end. Confirm the one-line work summaries with each member before the review — they are written from the roles on our Review 1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a live demo: the citizen app and RAKSHA are running. Demo sign-ins: citizen +917000000000, authority +919999900001, mechanic +919600000000 — the OTP fills itself in demo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SWE4004  ·  CLOUD COMPUTING AND APPLICATIONS  ·  PROJECT REVIEW</a:t>
            </a:r>
            <a:endParaRPr lang="en-US" sz="1100" dirty="0"/>
          </a:p>
        </p:txBody>
      </p:sp>
      <p:pic>
        <p:nvPicPr>
          <p:cNvPr id="3" name="Image 0" descr="C:\Users\Asus\AppData\Local\Temp\claude\S--PROJECTS\eabbf988-c3df-46b9-a467-55f01aa51fb9\scratchpad\deck\img\locku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960120"/>
            <a:ext cx="4023360" cy="114953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331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Offline-first roadside assistance and road safety for India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37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Help that reaches you where the network doesn't — for stranded drivers, verified mechanics and road-safety authorities.</a:t>
            </a:r>
            <a:endParaRPr lang="en-US" sz="1450" dirty="0"/>
          </a:p>
        </p:txBody>
      </p:sp>
      <p:pic>
        <p:nvPicPr>
          <p:cNvPr id="6" name="Image 1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868680"/>
            <a:ext cx="5212080" cy="39090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548640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346704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29584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529584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3529584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44768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27648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327648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327648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942832" y="5074920"/>
            <a:ext cx="2651760" cy="987552"/>
          </a:xfrm>
          <a:prstGeom prst="roundRect">
            <a:avLst>
              <a:gd name="adj" fmla="val 1481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25712" y="52303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125712" y="55046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9125712" y="573328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6263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Breakdowns happen where help is hardest to reach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5D5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1,68,491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deaths in India in 2022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4,61,312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 accidents reported in 2022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057400"/>
            <a:ext cx="3520440" cy="2377440"/>
          </a:xfrm>
          <a:prstGeom prst="roundRect">
            <a:avLst>
              <a:gd name="adj" fmla="val 615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66760" y="2377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 bars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signal where many highway breakdowns happen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apps assume a working network, a smartphone and a nearby partner. RoadAssist assumes none of the three.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Ministry of Road Transport and Highways, Road Accidents in India 2022. The third card is a design premise, not a statistic.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platform. Four surfaces. One process.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citizen app, the mechanic console, the RAKSHA authority dashboard and the live map are all served by the same Fastify process — plus a feature-phone path over SMS that needs no app at all.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55264"/>
            <a:ext cx="329184" cy="32918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4747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help, SOS, track, pay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968496"/>
            <a:ext cx="329184" cy="329184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913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1879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offers, job lifecycle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329184" cy="329184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6268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9011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Road-damage detection, triage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394960"/>
            <a:ext cx="329184" cy="329184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5340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Feature phone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56144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 booking in 8 languages</a:t>
            </a:r>
            <a:endParaRPr lang="en-US" sz="1250" dirty="0"/>
          </a:p>
        </p:txBody>
      </p:sp>
      <p:pic>
        <p:nvPicPr>
          <p:cNvPr id="17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783080"/>
            <a:ext cx="5394960" cy="40462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18" name="Text 15"/>
          <p:cNvSpPr txBox="1"/>
          <p:nvPr/>
        </p:nvSpPr>
        <p:spPr>
          <a:xfrm>
            <a:off x="6263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render built from real screenshots of the running system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SURFACES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Built, running, captured — not mocked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citiz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7809" y="1991106"/>
            <a:ext cx="1456182" cy="32404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7787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Citizen app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9748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9" name="Image 1" descr="C:\Users\Asus\AppData\Local\Temp\claude\S--PROJECTS\eabbf988-c3df-46b9-a467-55f01aa51fb9\scratchpad\deck\img\mecha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69489" y="1991106"/>
            <a:ext cx="1456182" cy="32404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8955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Mechanic console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09160" y="1783080"/>
            <a:ext cx="1600200" cy="3520440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13" name="Image 2" descr="C:\Users\Asus\AppData\Local\Temp\claude\S--PROJECTS\eabbf988-c3df-46b9-a467-55f01aa51fb9\scratchpad\deck\img\ma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81169" y="1991106"/>
            <a:ext cx="1456182" cy="324040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301234" y="1855089"/>
            <a:ext cx="416052" cy="64008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526280" y="54132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Live map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583680" y="1783080"/>
            <a:ext cx="5074920" cy="3410712"/>
          </a:xfrm>
          <a:prstGeom prst="roundRect">
            <a:avLst>
              <a:gd name="adj" fmla="val 3217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74827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90372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5916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0" y="184708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21" name="Image 3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1112" y="2112264"/>
            <a:ext cx="5020056" cy="30540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83680" y="5330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authority dashboard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From a breakdown to a paid job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72031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92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or escalate — SOS held 1.5 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1343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4231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414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 — a labelled rules engine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443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 — ranked by distance, ETA, rating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74136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483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747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status — state machine over SSE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01421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050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Off-grid SOS — stored on the device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544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5354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sync — never a second ambulance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65192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0749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0657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Settlement — server-verified payment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95544"/>
            <a:ext cx="4846320" cy="438912"/>
          </a:xfrm>
          <a:prstGeom prst="roundRect">
            <a:avLst>
              <a:gd name="adj" fmla="val 3333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6052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596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Authority oversight — a person confirms</a:t>
            </a:r>
            <a:endParaRPr lang="en-US" sz="1250" dirty="0"/>
          </a:p>
        </p:txBody>
      </p:sp>
      <p:pic>
        <p:nvPicPr>
          <p:cNvPr id="28" name="Image 0" descr="C:\Users\Asus\AppData\Local\Temp\claude\S--PROJECTS\eabbf988-c3df-46b9-a467-55f01aa51fb9\scratchpad\deck\img\scene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15000" y="1783080"/>
            <a:ext cx="5943600" cy="371246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pic>
      <p:sp>
        <p:nvSpPr>
          <p:cNvPr id="29" name="Text 26"/>
          <p:cNvSpPr txBox="1"/>
          <p:nvPr/>
        </p:nvSpPr>
        <p:spPr>
          <a:xfrm>
            <a:off x="5715000" y="55961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 as a 3D scene, rendered from the real home screen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OFF-GRID MODE  ·  ADR-0009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 SOS with no signal is still a real incident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5" name="Image 0" descr="C:\Users\Asus\AppData\Local\Temp\claude\S--PROJECTS\eabbf988-c3df-46b9-a467-55f01aa51fb9\scratchpad\deck\img\off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261" y="2008937"/>
            <a:ext cx="1580998" cy="35181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29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1783080"/>
            <a:ext cx="1737360" cy="3822192"/>
          </a:xfrm>
          <a:prstGeom prst="roundRect">
            <a:avLst>
              <a:gd name="adj" fmla="val 14000"/>
            </a:avLst>
          </a:prstGeom>
          <a:solidFill>
            <a:srgbClr val="141922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pic>
        <p:nvPicPr>
          <p:cNvPr id="8" name="Image 1" descr="C:\Users\Asus\AppData\Local\Temp\claude\S--PROJECTS\eabbf988-c3df-46b9-a467-55f01aa51fb9\scratchpad\deck\img\syn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75661" y="2008937"/>
            <a:ext cx="1580998" cy="351815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40303" y="1861261"/>
            <a:ext cx="451714" cy="69494"/>
          </a:xfrm>
          <a:prstGeom prst="roundRect">
            <a:avLst>
              <a:gd name="adj" fmla="val 50000"/>
            </a:avLst>
          </a:prstGeom>
          <a:solidFill>
            <a:srgbClr val="05070A"/>
          </a:solidFill>
          <a:ln w="12700">
            <a:solidFill>
              <a:srgbClr val="05070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signal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269748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 returns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120640" y="187452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94960" y="2029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Stored on the device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394960" y="235000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incident gets its own reference and GPS fix, and the screen says “nothing has been transmitted” rather than pretending.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120640" y="310896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94960" y="326440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Replayed idempotently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394960" y="358444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connectivity returns, the journal replays against a client-minted reference, so a retry becomes the same incident.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120640" y="4343400"/>
            <a:ext cx="6537960" cy="1051560"/>
          </a:xfrm>
          <a:prstGeom prst="roundRect">
            <a:avLst>
              <a:gd name="adj" fmla="val 13913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94960" y="44988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Diagnosed on the device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394960" y="481888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deterministic rule table the server uses runs offline, labelled as a rules engine.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RAKSHA  ·  AI THAT A PERSON SUPERVISES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road reports its own damage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080760" y="1783080"/>
            <a:ext cx="5577840" cy="3474720"/>
          </a:xfrm>
          <a:prstGeom prst="roundRect">
            <a:avLst>
              <a:gd name="adj" fmla="val 3158"/>
            </a:avLst>
          </a:prstGeom>
          <a:solidFill>
            <a:srgbClr val="0E131C"/>
          </a:solidFill>
          <a:ln w="12700">
            <a:solidFill>
              <a:srgbClr val="2A334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5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45352" y="1901952"/>
            <a:ext cx="91440" cy="91440"/>
          </a:xfrm>
          <a:prstGeom prst="ellipse">
            <a:avLst/>
          </a:prstGeom>
          <a:solidFill>
            <a:srgbClr val="E05A5A"/>
          </a:solidFill>
          <a:ln w="12700">
            <a:solidFill>
              <a:srgbClr val="E05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901952"/>
            <a:ext cx="91440" cy="91440"/>
          </a:xfrm>
          <a:prstGeom prst="ellipse">
            <a:avLst/>
          </a:prstGeom>
          <a:solidFill>
            <a:srgbClr val="E0A640"/>
          </a:solidFill>
          <a:ln w="12700">
            <a:solidFill>
              <a:srgbClr val="E0A6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6248" y="1901952"/>
            <a:ext cx="91440" cy="91440"/>
          </a:xfrm>
          <a:prstGeom prst="ellipse">
            <a:avLst/>
          </a:prstGeom>
          <a:solidFill>
            <a:srgbClr val="49C97E"/>
          </a:solidFill>
          <a:ln w="12700">
            <a:solidFill>
              <a:srgbClr val="49C9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184708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localhost:4000</a:t>
            </a:r>
            <a:endParaRPr lang="en-US" sz="900" dirty="0"/>
          </a:p>
        </p:txBody>
      </p:sp>
      <p:pic>
        <p:nvPicPr>
          <p:cNvPr id="9" name="Image 0" descr="C:\Users\Asus\AppData\Local\Temp\claude\S--PROJECTS\eabbf988-c3df-46b9-a467-55f01aa51fb9\scratchpad\deck\img\raksh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08192" y="2112264"/>
            <a:ext cx="5522976" cy="31181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0.471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mAP50, YOLO11 validation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63240" y="1783080"/>
            <a:ext cx="2331720" cy="1234440"/>
          </a:xfrm>
          <a:prstGeom prst="roundRect">
            <a:avLst>
              <a:gd name="adj" fmla="val 1185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1920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0.226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mAP50-95, YOLO11 validation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329184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39242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CAPTURE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33832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device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379476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89534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YOLO11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011680" y="38862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trained in this repo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43982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RULES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11680" y="438912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severity, dedupe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48640" y="4800600"/>
            <a:ext cx="4846320" cy="411480"/>
          </a:xfrm>
          <a:prstGeom prst="roundRect">
            <a:avLst>
              <a:gd name="adj" fmla="val 35556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9011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HUMAN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2011680" y="489204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confirms, then acts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model never dispatches (ADR-0005). These are validation figures from the training run, not production accuracy.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ARCHITECTURE  ·  ADR-0001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 modular monolith on PostGIS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3749040"/>
          </a:xfrm>
          <a:prstGeom prst="roundRect">
            <a:avLst>
              <a:gd name="adj" fmla="val 4444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CLIENTS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2377440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87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 (PWA)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980944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090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· Kotlin + Compose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584448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69417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 console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87952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297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RAKSHA + live map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91456"/>
            <a:ext cx="28346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phone · SMS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06240" y="1783080"/>
            <a:ext cx="3749040" cy="3749040"/>
          </a:xfrm>
          <a:prstGeom prst="roundRect">
            <a:avLst>
              <a:gd name="adj" fmla="val 3902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48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DA3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FASTIFY API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2377440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487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 routes under /v1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34840" y="2980944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Zod validation at every edge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434840" y="3584448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with role-based access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34840" y="4187952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4297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Server-sent events (ADR-0010)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34840" y="4791456"/>
            <a:ext cx="3291840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4901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Offer-expiry sweeper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321040" y="1783080"/>
            <a:ext cx="3319272" cy="3749040"/>
          </a:xfrm>
          <a:prstGeom prst="roundRect">
            <a:avLst>
              <a:gd name="adj" fmla="val 4408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1965960"/>
            <a:ext cx="2862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D08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POSTGRESQL 16 + POSTGIS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549640" y="2377440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248716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tables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49640" y="2980944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32520" y="309067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138 indexes · 5 GiST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549640" y="3584448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32520" y="3694176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foreign keys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49640" y="4187952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32520" y="429768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audit log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549640" y="4791456"/>
            <a:ext cx="2862072" cy="475488"/>
          </a:xfrm>
          <a:prstGeom prst="roundRect">
            <a:avLst>
              <a:gd name="adj" fmla="val 30769"/>
            </a:avLst>
          </a:prstGeom>
          <a:solidFill>
            <a:srgbClr val="0C1017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32520" y="490118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migrations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8679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2712" y="3520440"/>
            <a:ext cx="310896" cy="310896"/>
          </a:xfrm>
          <a:prstGeom prst="rightArrow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architecture decision records explain every choice on this slide.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Every number is measured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463040"/>
          <a:ext cx="6903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1783080"/>
            <a:ext cx="3931920" cy="1737360"/>
          </a:xfrm>
          <a:prstGeom prst="roundRect">
            <a:avLst>
              <a:gd name="adj" fmla="val 8421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672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assertions across six suites, zero failures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11880" y="2011680"/>
            <a:ext cx="603504" cy="274320"/>
          </a:xfrm>
          <a:prstGeom prst="roundRect">
            <a:avLst>
              <a:gd name="adj" fmla="val 50000"/>
            </a:avLst>
          </a:prstGeom>
          <a:solidFill>
            <a:srgbClr val="0F2A1E"/>
          </a:solidFill>
          <a:ln w="9525">
            <a:solidFill>
              <a:srgbClr val="2ED0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1880" y="201168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2ED0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3931920" cy="1005840"/>
          </a:xfrm>
          <a:prstGeom prst="roundRect">
            <a:avLst>
              <a:gd name="adj" fmla="val 14545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886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 attacks attempted, every one refused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3931920" cy="914400"/>
          </a:xfrm>
          <a:prstGeom prst="roundRect">
            <a:avLst>
              <a:gd name="adj" fmla="val 16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5029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Razorpay sandbox checks need a payment account — never run, not counted.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 LLM  ·  ENFORCED, NOT PROMISED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Built by us. Checked by the build.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no-llm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the build on any LLM package in a manifest or a chat endpoint in source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82880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0848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claims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in the docs must match what the suites measured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residency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visitor address leaves India; server egress is declared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3566160"/>
            <a:ext cx="5349240" cy="1508760"/>
          </a:xfrm>
          <a:prstGeom prst="roundRect">
            <a:avLst>
              <a:gd name="adj" fmla="val 969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822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citations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code reference in the docs still resolves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5F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in this project is a YOLO11 detector trained in this repository and a deterministic rules engine — never a language model.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 command locally. One domain publicly.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1920240"/>
          </a:xfrm>
          <a:prstGeom prst="roundRect">
            <a:avLst>
              <a:gd name="adj" fmla="val 7619"/>
            </a:avLst>
          </a:prstGeom>
          <a:solidFill>
            <a:srgbClr val="05070A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B7B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https://github.com/saatwik-1157/roadassist-bharat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docker-compose.demo.yml 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PostGIS, migrations, seed data and the platform — no cloud account, no secrets.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roadassistbharat.online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showcase · GitHub Pages · live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55080" y="269748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28163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Docker image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0998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Published to GHCR on every push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55080" y="356616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685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Render + Neon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9684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render.yaml deploys the same image to the cloud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443484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5537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Restart policy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demo stack comes back by itself</a:t>
            </a:r>
            <a:endParaRPr lang="en-US" sz="1150" dirty="0"/>
          </a:p>
        </p:txBody>
      </p:sp>
      <p:pic>
        <p:nvPicPr>
          <p:cNvPr id="19" name="Image 0" descr="C:\Users\Asus\AppData\Local\Temp\claude\S--PROJECTS\eabbf988-c3df-46b9-a467-55f01aa51fb9\scratchpad\deck\img\app-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0"/>
            <a:ext cx="1280160" cy="1280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2057400" y="4526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image runs locally, in CI and in the cloud.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Four people, four responsibilities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 Saatwik Sairaam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24MIC7131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&amp; Cloud Database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Fastify API, PostGIS schema, dispatch and concurrency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46704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21024" y="2103120"/>
            <a:ext cx="822960" cy="822960"/>
          </a:xfrm>
          <a:prstGeom prst="ellipse">
            <a:avLst/>
          </a:prstGeom>
          <a:solidFill>
            <a:srgbClr val="FFD978"/>
          </a:solidFill>
          <a:ln w="12700">
            <a:solidFill>
              <a:srgbClr val="FFD97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1024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 Sai Nirisha Chowdary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24MIC7122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&amp; Mobile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web app, mechanic console, Android client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103120"/>
            <a:ext cx="822960" cy="8229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908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TJ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41908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 V S Jignesh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24MIC7190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19088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Data Services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19088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YOLO11 training, RAKSHA ingest, rules engine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42832" y="1828800"/>
            <a:ext cx="2651760" cy="3566160"/>
          </a:xfrm>
          <a:prstGeom prst="roundRect">
            <a:avLst>
              <a:gd name="adj" fmla="val 5517"/>
            </a:avLst>
          </a:prstGeom>
          <a:solidFill>
            <a:srgbClr val="111723"/>
          </a:solidFill>
          <a:ln w="9525">
            <a:solidFill>
              <a:srgbClr val="242D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17152" y="2103120"/>
            <a:ext cx="822960" cy="822960"/>
          </a:xfrm>
          <a:prstGeom prst="ellipse">
            <a:avLst/>
          </a:prstGeom>
          <a:solidFill>
            <a:srgbClr val="2ED08A"/>
          </a:solidFill>
          <a:ln w="12700">
            <a:solidFill>
              <a:srgbClr val="2ED0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7152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110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GP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G Parthavi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17152" y="3520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24MIC145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3840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DevOps, QA &amp; Cloud Security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4389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CI, Docker, security suite, deployment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7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faculty: Dr. Nagendra Panini Challa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RoadAssist Bharat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C8799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us\AppData\Local\Temp\claude\S--PROJECTS\eabbf988-c3df-46b9-a467-55f01aa51fb9\scratchpad\deck\img\hero.jp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D">
              <a:alpha val="80000"/>
            </a:srgbClr>
          </a:solidFill>
          <a:ln w="12700">
            <a:solidFill>
              <a:srgbClr val="07090D"/>
            </a:solidFill>
            <a:prstDash val="solid"/>
          </a:ln>
        </p:spPr>
      </p:sp>
      <p:pic>
        <p:nvPicPr>
          <p:cNvPr id="4" name="Image 1" descr="C:\Users\Asus\AppData\Local\Temp\claude\S--PROJECTS\eabbf988-c3df-46b9-a467-55f01aa51fb9\scratchpad\deck\img\mark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097280"/>
            <a:ext cx="1645920" cy="16459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0" y="29260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F2EA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BF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welcome — and the platform is running if you'd like to see it.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B4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roadassistbharat.online   ·   github.com/saatwik-1157/roadassist-bharat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RoadAssist Bharat — Project Review</dc:title>
  <dc:subject>PptxGenJS Presentation</dc:subject>
  <dc:creator>V. Saatwik Sairaam, P. Sai Nirisha Chowdary, T. V. S. Jignesh, G. Parthavi</dc:creator>
  <cp:lastModifiedBy>V. Saatwik Sairaam, P. Sai Nirisha Chowdary, T. V. S. Jignesh, G. Parthavi</cp:lastModifiedBy>
  <cp:revision>1</cp:revision>
  <dcterms:created xsi:type="dcterms:W3CDTF">2026-09-24T17:57:43Z</dcterms:created>
  <dcterms:modified xsi:type="dcterms:W3CDTF">2026-09-24T17:57:43Z</dcterms:modified>
</cp:coreProperties>
</file>