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Assertions</c:v>
                </c:pt>
              </c:strCache>
            </c:strRef>
          </c:tx>
          <c:spPr>
            <a:solidFill>
              <a:srgbClr val="F0B42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5F2EA"/>
                    </a:solidFill>
                    <a:latin typeface="Segoe U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Unit</c:v>
                  </c:pt>
                  <c:pt idx="1">
                    <c:v>End-to-end</c:v>
                  </c:pt>
                  <c:pt idx="2">
                    <c:v>Concurrency</c:v>
                  </c:pt>
                  <c:pt idx="3">
                    <c:v>Security</c:v>
                  </c:pt>
                  <c:pt idx="4">
                    <c:v>Gateway</c:v>
                  </c:pt>
                  <c:pt idx="5">
                    <c:v>Browser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122</c:v>
                </c:pt>
                <c:pt idx="1">
                  <c:v>189</c:v>
                </c:pt>
                <c:pt idx="2">
                  <c:v>75</c:v>
                </c:pt>
                <c:pt idx="3">
                  <c:v>74</c:v>
                </c:pt>
                <c:pt idx="4">
                  <c:v>27</c:v>
                </c:pt>
                <c:pt idx="5">
                  <c:v>163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5F2EA"/>
                  </a:solidFill>
                  <a:latin typeface="Segoe U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7BFCC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RoadAssist Bharat: an offline-first roadside assistance and road-safety platform built by the four of us. The image on the right is a 3D render built from real screenshots of the running system. Every number in this deck comes from the project's measured.json, produced by the test suites and schema introspection.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from MoRTH's Road Accidents in India 2022 report: 4,61,312 accidents and 1,68,491 deaths. The zero-bars card is our design premise, marked as such on the slide. The platform is designed around the three things other apps assume: network, smartphone, nearby help.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modular monolith (ADR-0001): every surface is plain HTML/JS served by the API process, so there is no second deployment, no CORS boundary. The feature-phone path completes a booking over SMS in eight languages; seven of the eight are machine-translated and not yet reviewed by native speakers.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captures of the running platform, not mockups. The capture script signs in against the live API and refuses to take a screenshot unless the page shows what the caption claims. The mechanic console is captured signed in as a seeded mechanic.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Eight stages. Two decisions worth naming: the SOS must be held for 1.5 seconds so a pocket press never calls a responder, and two mechanics accepting one job is settled by a row lock (SELECT ... FOR UPDATE), not by timing.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Off-grid is the architecture, not a fallback. Left: an SOS raised with no network. Right: the journal synchronised once the network returned, with the platform reference. Replay is idempotent on a client-minted op 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YOLO11 trained here on RDD2022 across four countries: mAP50 0.471 and mAP50-95 0.226 on held-out validation (ai/README.md). A model-detected incident waits in a confirmation queue until a person moves it; there is no transition to dispatch that skips a human.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Fastify process serves the API and every web surface. PostGIS is required: dispatch ranks providers with ST_DWithin over a GiST index. The audit log is hash-chained and append-only. Counts come from schema introspection through pg_depend so PostGIS's own tables are not counted.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650 assertions across unit, end-to-end, concurrency, security, gateway security and browser suites, zero failures. The security suite attempts 74 attacks including cross-tenant reads, role escalation, SQL injection and forged tokens. The 22 payment-sandbox checks need an account we do not have, so they are reported as not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faculty's requirement: LLM-based projects with minimal student contribution are not considered. We made that a build check: npm run no-llm fails on any LLM dependency or chat endpoint, and it runs in CI on every push. Even the site's answer panel is a lookup over a fixed index.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showcase is live at roadassistbharat.online on GitHub Pages. The platform image is built and published by CI; the demo compose file brings up PostGIS, migrates, seeds and serves every surface on port 4000. Render with a Neon PostGIS database hosts the same image.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member owns one layer end to end. Confirm the one-line work summaries with each member before the review — they are written from the roles on our Review 1 title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Offer a live demo: the citizen app and RAKSHA are running. Demo sign-ins: citizen +917000000000, authority +919999900001, mechanic +919600000000 — the OTP fills itself in demo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image" Target="../media/image-4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C879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SWE4004  ·  CLOUD COMPUTING AND APPLICATIONS  ·  PROJECT REVIEW</a:t>
            </a:r>
            <a:endParaRPr lang="en-US" sz="1100" dirty="0"/>
          </a:p>
        </p:txBody>
      </p:sp>
      <p:pic>
        <p:nvPicPr>
          <p:cNvPr id="3" name="Image 0" descr="C:\Users\Asus\AppData\Local\Temp\claude\S--PROJECTS\eabbf988-c3df-46b9-a467-55f01aa51fb9\scratchpad\deck\img\lockup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" y="960120"/>
            <a:ext cx="4023360" cy="1149531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33172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Offline-first roadside assistance and road safety for India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33756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B7BF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Help that reaches you where the network doesn't — for stranded drivers, verified mechanics and road-safety authorities.</a:t>
            </a:r>
            <a:endParaRPr lang="en-US" sz="1450" dirty="0"/>
          </a:p>
        </p:txBody>
      </p:sp>
      <p:pic>
        <p:nvPicPr>
          <p:cNvPr id="6" name="Image 1" descr="C:\Users\Asus\AppData\Local\Temp\claude\S--PROJECTS\eabbf988-c3df-46b9-a467-55f01aa51fb9\scratchpad\deck\img\hero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46520" y="868680"/>
            <a:ext cx="5212080" cy="390906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pic>
      <p:sp>
        <p:nvSpPr>
          <p:cNvPr id="7" name="Shape 3"/>
          <p:cNvSpPr/>
          <p:nvPr/>
        </p:nvSpPr>
        <p:spPr>
          <a:xfrm>
            <a:off x="548640" y="5074920"/>
            <a:ext cx="2651760" cy="987552"/>
          </a:xfrm>
          <a:prstGeom prst="roundRect">
            <a:avLst>
              <a:gd name="adj" fmla="val 14815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31520" y="52303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V Saatwik Sairaam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731520" y="550468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0B4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24MIC7131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31520" y="573328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 &amp; Cloud Database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3346704" y="5074920"/>
            <a:ext cx="2651760" cy="987552"/>
          </a:xfrm>
          <a:prstGeom prst="roundRect">
            <a:avLst>
              <a:gd name="adj" fmla="val 14815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3529584" y="52303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 Sai Nirisha Chowdary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3529584" y="550468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0B4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24MIC7122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3529584" y="573328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 &amp; Mobile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6144768" y="5074920"/>
            <a:ext cx="2651760" cy="987552"/>
          </a:xfrm>
          <a:prstGeom prst="roundRect">
            <a:avLst>
              <a:gd name="adj" fmla="val 14815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327648" y="52303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 V S Jignesh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6327648" y="550468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0B4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24MIC7190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6327648" y="573328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&amp; Data Services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8942832" y="5074920"/>
            <a:ext cx="2651760" cy="987552"/>
          </a:xfrm>
          <a:prstGeom prst="roundRect">
            <a:avLst>
              <a:gd name="adj" fmla="val 14815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9125712" y="52303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G Parthavi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9125712" y="550468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0B4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24MIC145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9125712" y="573328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DevOps, QA &amp; Cloud Security</a:t>
            </a:r>
            <a:endParaRPr lang="en-US" sz="1050" dirty="0"/>
          </a:p>
        </p:txBody>
      </p:sp>
      <p:sp>
        <p:nvSpPr>
          <p:cNvPr id="23" name="Text 19"/>
          <p:cNvSpPr txBox="1"/>
          <p:nvPr/>
        </p:nvSpPr>
        <p:spPr>
          <a:xfrm>
            <a:off x="548640" y="62636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Course faculty: Dr. Nagendra Panini Challa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spc="-50" kern="0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Breakdowns happen where help is hardest to reach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3520440" cy="2377440"/>
          </a:xfrm>
          <a:prstGeom prst="roundRect">
            <a:avLst>
              <a:gd name="adj" fmla="val 6154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3774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5D5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1,68,491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3375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7BF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road deaths in India in 2022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97680" y="2057400"/>
            <a:ext cx="3520440" cy="2377440"/>
          </a:xfrm>
          <a:prstGeom prst="roundRect">
            <a:avLst>
              <a:gd name="adj" fmla="val 6154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17720" y="23774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4,61,312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4617720" y="33375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7BF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road accidents reported in 2022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720" y="2057400"/>
            <a:ext cx="3520440" cy="2377440"/>
          </a:xfrm>
          <a:prstGeom prst="roundRect">
            <a:avLst>
              <a:gd name="adj" fmla="val 6154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66760" y="23774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4DA3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 bars</a:t>
            </a:r>
            <a:endParaRPr lang="en-US" sz="4800" dirty="0"/>
          </a:p>
        </p:txBody>
      </p:sp>
      <p:sp>
        <p:nvSpPr>
          <p:cNvPr id="12" name="Text 10"/>
          <p:cNvSpPr txBox="1"/>
          <p:nvPr/>
        </p:nvSpPr>
        <p:spPr>
          <a:xfrm>
            <a:off x="8366760" y="33375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7BF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signal where many highway breakdowns happen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8006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apps assume a working network, a smartphone and a nearby partner. RoadAssist assumes none of the three.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989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Ministry of Road Transport and Highways, Road Accidents in India 2022. The third card is a design premise, not a statistic.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C879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RoadAssist Bharat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C879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OUR SOLUTION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spc="-50" kern="0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One platform. Four surfaces. One process.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7BF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citizen app, the mechanic console, the RAKSHA authority dashboard and the live map are all served by the same Fastify process — plus a feature-phone path over SMS that needs no app at all.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255264"/>
            <a:ext cx="329184" cy="329184"/>
          </a:xfrm>
          <a:prstGeom prst="ellipse">
            <a:avLst/>
          </a:prstGeom>
          <a:solidFill>
            <a:srgbClr val="F0B429"/>
          </a:solidFill>
          <a:ln w="12700">
            <a:solidFill>
              <a:srgbClr val="F0B42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32004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Citizen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347472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Request help, SOS, track, pay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3968496"/>
            <a:ext cx="329184" cy="329184"/>
          </a:xfrm>
          <a:prstGeom prst="ellipse">
            <a:avLst/>
          </a:prstGeom>
          <a:solidFill>
            <a:srgbClr val="FFD978"/>
          </a:solidFill>
          <a:ln w="12700">
            <a:solidFill>
              <a:srgbClr val="FFD97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51560" y="391363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Mechanic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418795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Ranked offers, job lifecycle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4681728"/>
            <a:ext cx="329184" cy="329184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51560" y="462686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RAKSHA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490118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Road-damage detection, triage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5394960"/>
            <a:ext cx="329184" cy="329184"/>
          </a:xfrm>
          <a:prstGeom prst="ellipse">
            <a:avLst/>
          </a:prstGeom>
          <a:solidFill>
            <a:srgbClr val="2ED08A"/>
          </a:solidFill>
          <a:ln w="12700">
            <a:solidFill>
              <a:srgbClr val="2ED08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51560" y="53400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Feature phone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" y="561441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SMS booking in 8 languages</a:t>
            </a:r>
            <a:endParaRPr lang="en-US" sz="1250" dirty="0"/>
          </a:p>
        </p:txBody>
      </p:sp>
      <p:pic>
        <p:nvPicPr>
          <p:cNvPr id="17" name="Image 0" descr="C:\Users\Asus\AppData\Local\Temp\claude\S--PROJECTS\eabbf988-c3df-46b9-a467-55f01aa51fb9\scratchpad\deck\img\her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63640" y="1783080"/>
            <a:ext cx="5394960" cy="404622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pic>
      <p:sp>
        <p:nvSpPr>
          <p:cNvPr id="18" name="Text 15"/>
          <p:cNvSpPr txBox="1"/>
          <p:nvPr/>
        </p:nvSpPr>
        <p:spPr>
          <a:xfrm>
            <a:off x="6263640" y="59436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3D render built from real screenshots of the running system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C879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RoadAssist Bharat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C879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THE SURFACES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spc="-50" kern="0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Built, running, captured — not mocked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1600200" cy="3520440"/>
          </a:xfrm>
          <a:prstGeom prst="roundRect">
            <a:avLst>
              <a:gd name="adj" fmla="val 14000"/>
            </a:avLst>
          </a:prstGeom>
          <a:solidFill>
            <a:srgbClr val="141922"/>
          </a:solidFill>
          <a:ln w="12700">
            <a:solidFill>
              <a:srgbClr val="2A3344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pic>
        <p:nvPicPr>
          <p:cNvPr id="5" name="Image 0" descr="C:\Users\Asus\AppData\Local\Temp\claude\S--PROJECTS\eabbf988-c3df-46b9-a467-55f01aa51fb9\scratchpad\deck\img\citize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57809" y="1991106"/>
            <a:ext cx="1456182" cy="3240405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277874" y="1855089"/>
            <a:ext cx="416052" cy="64008"/>
          </a:xfrm>
          <a:prstGeom prst="roundRect">
            <a:avLst>
              <a:gd name="adj" fmla="val 50000"/>
            </a:avLst>
          </a:prstGeom>
          <a:solidFill>
            <a:srgbClr val="05070A"/>
          </a:solidFill>
          <a:ln w="12700">
            <a:solidFill>
              <a:srgbClr val="05070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541324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Citizen app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697480" y="1783080"/>
            <a:ext cx="1600200" cy="3520440"/>
          </a:xfrm>
          <a:prstGeom prst="roundRect">
            <a:avLst>
              <a:gd name="adj" fmla="val 14000"/>
            </a:avLst>
          </a:prstGeom>
          <a:solidFill>
            <a:srgbClr val="141922"/>
          </a:solidFill>
          <a:ln w="12700">
            <a:solidFill>
              <a:srgbClr val="2A3344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pic>
        <p:nvPicPr>
          <p:cNvPr id="9" name="Image 1" descr="C:\Users\Asus\AppData\Local\Temp\claude\S--PROJECTS\eabbf988-c3df-46b9-a467-55f01aa51fb9\scratchpad\deck\img\mechanic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69489" y="1991106"/>
            <a:ext cx="1456182" cy="3240405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289554" y="1855089"/>
            <a:ext cx="416052" cy="64008"/>
          </a:xfrm>
          <a:prstGeom prst="roundRect">
            <a:avLst>
              <a:gd name="adj" fmla="val 50000"/>
            </a:avLst>
          </a:prstGeom>
          <a:solidFill>
            <a:srgbClr val="05070A"/>
          </a:solidFill>
          <a:ln w="12700">
            <a:solidFill>
              <a:srgbClr val="05070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514600" y="541324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Mechanic console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4709160" y="1783080"/>
            <a:ext cx="1600200" cy="3520440"/>
          </a:xfrm>
          <a:prstGeom prst="roundRect">
            <a:avLst>
              <a:gd name="adj" fmla="val 14000"/>
            </a:avLst>
          </a:prstGeom>
          <a:solidFill>
            <a:srgbClr val="141922"/>
          </a:solidFill>
          <a:ln w="12700">
            <a:solidFill>
              <a:srgbClr val="2A3344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pic>
        <p:nvPicPr>
          <p:cNvPr id="13" name="Image 2" descr="C:\Users\Asus\AppData\Local\Temp\claude\S--PROJECTS\eabbf988-c3df-46b9-a467-55f01aa51fb9\scratchpad\deck\img\map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781169" y="1991106"/>
            <a:ext cx="1456182" cy="3240405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5301234" y="1855089"/>
            <a:ext cx="416052" cy="64008"/>
          </a:xfrm>
          <a:prstGeom prst="roundRect">
            <a:avLst>
              <a:gd name="adj" fmla="val 50000"/>
            </a:avLst>
          </a:prstGeom>
          <a:solidFill>
            <a:srgbClr val="05070A"/>
          </a:solidFill>
          <a:ln w="12700">
            <a:solidFill>
              <a:srgbClr val="05070A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4526280" y="541324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Live map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6583680" y="1783080"/>
            <a:ext cx="5074920" cy="3410712"/>
          </a:xfrm>
          <a:prstGeom prst="roundRect">
            <a:avLst>
              <a:gd name="adj" fmla="val 3217"/>
            </a:avLst>
          </a:prstGeom>
          <a:solidFill>
            <a:srgbClr val="0E131C"/>
          </a:solidFill>
          <a:ln w="12700">
            <a:solidFill>
              <a:srgbClr val="2A3344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6748272" y="1901952"/>
            <a:ext cx="91440" cy="91440"/>
          </a:xfrm>
          <a:prstGeom prst="ellipse">
            <a:avLst/>
          </a:prstGeom>
          <a:solidFill>
            <a:srgbClr val="E05A5A"/>
          </a:solidFill>
          <a:ln w="12700">
            <a:solidFill>
              <a:srgbClr val="E05A5A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903720" y="1901952"/>
            <a:ext cx="91440" cy="91440"/>
          </a:xfrm>
          <a:prstGeom prst="ellipse">
            <a:avLst/>
          </a:prstGeom>
          <a:solidFill>
            <a:srgbClr val="E0A640"/>
          </a:solidFill>
          <a:ln w="12700">
            <a:solidFill>
              <a:srgbClr val="E0A640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059168" y="1901952"/>
            <a:ext cx="91440" cy="91440"/>
          </a:xfrm>
          <a:prstGeom prst="ellipse">
            <a:avLst/>
          </a:prstGeom>
          <a:solidFill>
            <a:srgbClr val="49C97E"/>
          </a:solidFill>
          <a:ln w="12700">
            <a:solidFill>
              <a:srgbClr val="49C97E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315200" y="1847088"/>
            <a:ext cx="4160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C87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localhost:4000</a:t>
            </a:r>
            <a:endParaRPr lang="en-US" sz="900" dirty="0"/>
          </a:p>
        </p:txBody>
      </p:sp>
      <p:pic>
        <p:nvPicPr>
          <p:cNvPr id="21" name="Image 3" descr="C:\Users\Asus\AppData\Local\Temp\claude\S--PROJECTS\eabbf988-c3df-46b9-a467-55f01aa51fb9\scratchpad\deck\img\raksha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611112" y="2112264"/>
            <a:ext cx="5020056" cy="305409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583680" y="5330952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RAKSHA authority dashboard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C879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RoadAssist Bharat</a:t>
            </a:r>
            <a:endParaRPr lang="en-US" sz="900" dirty="0"/>
          </a:p>
        </p:txBody>
      </p:sp>
      <p:sp>
        <p:nvSpPr>
          <p:cNvPr id="24" name="Text 18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C879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spc="-50" kern="0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From a breakdown to a paid job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4846320" cy="438912"/>
          </a:xfrm>
          <a:prstGeom prst="roundRect">
            <a:avLst>
              <a:gd name="adj" fmla="val 33333"/>
            </a:avLst>
          </a:prstGeom>
          <a:solidFill>
            <a:srgbClr val="172031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89280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88366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Request or escalate — SOS held 1.5 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313432"/>
            <a:ext cx="4846320" cy="438912"/>
          </a:xfrm>
          <a:prstGeom prst="roundRect">
            <a:avLst>
              <a:gd name="adj" fmla="val 33333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42316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02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414016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Diagnosis — a labelled rules engine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843784"/>
            <a:ext cx="4846320" cy="438912"/>
          </a:xfrm>
          <a:prstGeom prst="roundRect">
            <a:avLst>
              <a:gd name="adj" fmla="val 33333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2953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03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294436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Dispatch — ranked by distance, ETA, rating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374136"/>
            <a:ext cx="4846320" cy="438912"/>
          </a:xfrm>
          <a:prstGeom prst="roundRect">
            <a:avLst>
              <a:gd name="adj" fmla="val 33333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4838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04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347472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status — state machine over SSE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3904488"/>
            <a:ext cx="4846320" cy="438912"/>
          </a:xfrm>
          <a:prstGeom prst="roundRect">
            <a:avLst>
              <a:gd name="adj" fmla="val 33333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4014216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05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400507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Off-grid SOS — stored on the device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434840"/>
            <a:ext cx="4846320" cy="438912"/>
          </a:xfrm>
          <a:prstGeom prst="roundRect">
            <a:avLst>
              <a:gd name="adj" fmla="val 33333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45445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06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453542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Idempotent sync — never a second ambulance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4965192"/>
            <a:ext cx="4846320" cy="438912"/>
          </a:xfrm>
          <a:prstGeom prst="roundRect">
            <a:avLst>
              <a:gd name="adj" fmla="val 33333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31520" y="507492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07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234440" y="5065776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Settlement — server-verified payment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48640" y="5495544"/>
            <a:ext cx="4846320" cy="438912"/>
          </a:xfrm>
          <a:prstGeom prst="roundRect">
            <a:avLst>
              <a:gd name="adj" fmla="val 33333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1520" y="56052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08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559612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Authority oversight — a person confirms</a:t>
            </a:r>
            <a:endParaRPr lang="en-US" sz="1250" dirty="0"/>
          </a:p>
        </p:txBody>
      </p:sp>
      <p:pic>
        <p:nvPicPr>
          <p:cNvPr id="28" name="Image 0" descr="C:\Users\Asus\AppData\Local\Temp\claude\S--PROJECTS\eabbf988-c3df-46b9-a467-55f01aa51fb9\scratchpad\deck\img\scene-hom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715000" y="1783080"/>
            <a:ext cx="5943600" cy="3712464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pic>
      <p:sp>
        <p:nvSpPr>
          <p:cNvPr id="29" name="Text 26"/>
          <p:cNvSpPr txBox="1"/>
          <p:nvPr/>
        </p:nvSpPr>
        <p:spPr>
          <a:xfrm>
            <a:off x="5715000" y="559612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01 as a 3D scene, rendered from the real home screen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C879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RoadAssist Bharat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C879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OFF-GRID MODE  ·  ADR-0009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spc="-50" kern="0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An SOS with no signal is still a real incident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737360" cy="3822192"/>
          </a:xfrm>
          <a:prstGeom prst="roundRect">
            <a:avLst>
              <a:gd name="adj" fmla="val 14000"/>
            </a:avLst>
          </a:prstGeom>
          <a:solidFill>
            <a:srgbClr val="141922"/>
          </a:solidFill>
          <a:ln w="12700">
            <a:solidFill>
              <a:srgbClr val="2A3344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pic>
        <p:nvPicPr>
          <p:cNvPr id="5" name="Image 0" descr="C:\Users\Asus\AppData\Local\Temp\claude\S--PROJECTS\eabbf988-c3df-46b9-a467-55f01aa51fb9\scratchpad\deck\img\offgri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18261" y="2008937"/>
            <a:ext cx="1580998" cy="351815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282903" y="1861261"/>
            <a:ext cx="451714" cy="69494"/>
          </a:xfrm>
          <a:prstGeom prst="roundRect">
            <a:avLst>
              <a:gd name="adj" fmla="val 50000"/>
            </a:avLst>
          </a:prstGeom>
          <a:solidFill>
            <a:srgbClr val="05070A"/>
          </a:solidFill>
          <a:ln w="12700">
            <a:solidFill>
              <a:srgbClr val="05070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697480" y="1783080"/>
            <a:ext cx="1737360" cy="3822192"/>
          </a:xfrm>
          <a:prstGeom prst="roundRect">
            <a:avLst>
              <a:gd name="adj" fmla="val 14000"/>
            </a:avLst>
          </a:prstGeom>
          <a:solidFill>
            <a:srgbClr val="141922"/>
          </a:solidFill>
          <a:ln w="12700">
            <a:solidFill>
              <a:srgbClr val="2A3344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pic>
        <p:nvPicPr>
          <p:cNvPr id="8" name="Image 1" descr="C:\Users\Asus\AppData\Local\Temp\claude\S--PROJECTS\eabbf988-c3df-46b9-a467-55f01aa51fb9\scratchpad\deck\img\sync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75661" y="2008937"/>
            <a:ext cx="1580998" cy="3518154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340303" y="1861261"/>
            <a:ext cx="451714" cy="69494"/>
          </a:xfrm>
          <a:prstGeom prst="roundRect">
            <a:avLst>
              <a:gd name="adj" fmla="val 50000"/>
            </a:avLst>
          </a:prstGeom>
          <a:solidFill>
            <a:srgbClr val="05070A"/>
          </a:solidFill>
          <a:ln w="12700">
            <a:solidFill>
              <a:srgbClr val="05070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40080" y="56692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signal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2697480" y="56692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Signal returns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5120640" y="1874520"/>
            <a:ext cx="6537960" cy="1051560"/>
          </a:xfrm>
          <a:prstGeom prst="roundRect">
            <a:avLst>
              <a:gd name="adj" fmla="val 13913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5394960" y="2029968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Stored on the device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394960" y="2350008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7BF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incident gets its own reference and GPS fix, and the screen says “nothing has been transmitted” rather than pretending.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5120640" y="3108960"/>
            <a:ext cx="6537960" cy="1051560"/>
          </a:xfrm>
          <a:prstGeom prst="roundRect">
            <a:avLst>
              <a:gd name="adj" fmla="val 13913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394960" y="3264408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Replayed idempotently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5394960" y="3584448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7BF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When connectivity returns, the journal replays against a client-minted reference, so a retry becomes the same incident.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5120640" y="4343400"/>
            <a:ext cx="6537960" cy="1051560"/>
          </a:xfrm>
          <a:prstGeom prst="roundRect">
            <a:avLst>
              <a:gd name="adj" fmla="val 13913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394960" y="4498848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Diagnosed on the device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5394960" y="4818888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7BF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deterministic rule table the server uses runs offline, labelled as a rules engine.</a:t>
            </a:r>
            <a:endParaRPr lang="en-US" sz="125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C879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RoadAssist Bharat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C879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DA3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RAKSHA  ·  AI THAT A PERSON SUPERVISES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spc="-50" kern="0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The road reports its own damage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080760" y="1783080"/>
            <a:ext cx="5577840" cy="3474720"/>
          </a:xfrm>
          <a:prstGeom prst="roundRect">
            <a:avLst>
              <a:gd name="adj" fmla="val 3158"/>
            </a:avLst>
          </a:prstGeom>
          <a:solidFill>
            <a:srgbClr val="0E131C"/>
          </a:solidFill>
          <a:ln w="12700">
            <a:solidFill>
              <a:srgbClr val="2A3344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245352" y="1901952"/>
            <a:ext cx="91440" cy="91440"/>
          </a:xfrm>
          <a:prstGeom prst="ellipse">
            <a:avLst/>
          </a:prstGeom>
          <a:solidFill>
            <a:srgbClr val="E05A5A"/>
          </a:solidFill>
          <a:ln w="12700">
            <a:solidFill>
              <a:srgbClr val="E05A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901952"/>
            <a:ext cx="91440" cy="91440"/>
          </a:xfrm>
          <a:prstGeom prst="ellipse">
            <a:avLst/>
          </a:prstGeom>
          <a:solidFill>
            <a:srgbClr val="E0A640"/>
          </a:solidFill>
          <a:ln w="12700">
            <a:solidFill>
              <a:srgbClr val="E0A6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56248" y="1901952"/>
            <a:ext cx="91440" cy="91440"/>
          </a:xfrm>
          <a:prstGeom prst="ellipse">
            <a:avLst/>
          </a:prstGeom>
          <a:solidFill>
            <a:srgbClr val="49C97E"/>
          </a:solidFill>
          <a:ln w="12700">
            <a:solidFill>
              <a:srgbClr val="49C97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12280" y="1847088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C87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localhost:4000</a:t>
            </a:r>
            <a:endParaRPr lang="en-US" sz="900" dirty="0"/>
          </a:p>
        </p:txBody>
      </p:sp>
      <p:pic>
        <p:nvPicPr>
          <p:cNvPr id="9" name="Image 0" descr="C:\Users\Asus\AppData\Local\Temp\claude\S--PROJECTS\eabbf988-c3df-46b9-a467-55f01aa51fb9\scratchpad\deck\img\raksh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08192" y="2112264"/>
            <a:ext cx="5522976" cy="3118104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48640" y="1783080"/>
            <a:ext cx="2331720" cy="1234440"/>
          </a:xfrm>
          <a:prstGeom prst="roundRect">
            <a:avLst>
              <a:gd name="adj" fmla="val 11852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7240" y="19202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4DA3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0.471</a:t>
            </a:r>
            <a:endParaRPr lang="en-US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26060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mAP50, YOLO11 validation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063240" y="1783080"/>
            <a:ext cx="2331720" cy="1234440"/>
          </a:xfrm>
          <a:prstGeom prst="roundRect">
            <a:avLst>
              <a:gd name="adj" fmla="val 11852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291840" y="19202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4DA3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0.226</a:t>
            </a:r>
            <a:endParaRPr lang="en-US" sz="3600" dirty="0"/>
          </a:p>
        </p:txBody>
      </p:sp>
      <p:sp>
        <p:nvSpPr>
          <p:cNvPr id="15" name="Text 12"/>
          <p:cNvSpPr txBox="1"/>
          <p:nvPr/>
        </p:nvSpPr>
        <p:spPr>
          <a:xfrm>
            <a:off x="3291840" y="26060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mAP50-95, YOLO11 validation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48640" y="3291840"/>
            <a:ext cx="4846320" cy="411480"/>
          </a:xfrm>
          <a:prstGeom prst="roundRect">
            <a:avLst>
              <a:gd name="adj" fmla="val 35556"/>
            </a:avLst>
          </a:prstGeom>
          <a:solidFill>
            <a:srgbClr val="0C1017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3392424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CAPTURE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2011680" y="3383280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7BF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edge device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548640" y="3794760"/>
            <a:ext cx="4846320" cy="411480"/>
          </a:xfrm>
          <a:prstGeom prst="roundRect">
            <a:avLst>
              <a:gd name="adj" fmla="val 35556"/>
            </a:avLst>
          </a:prstGeom>
          <a:solidFill>
            <a:srgbClr val="0C1017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520" y="3895344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YOLO11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2011680" y="3886200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7BF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trained in this repo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548640" y="4297680"/>
            <a:ext cx="4846320" cy="411480"/>
          </a:xfrm>
          <a:prstGeom prst="roundRect">
            <a:avLst>
              <a:gd name="adj" fmla="val 35556"/>
            </a:avLst>
          </a:prstGeom>
          <a:solidFill>
            <a:srgbClr val="0C1017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31520" y="4398264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RULES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2011680" y="4389120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7BF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severity, dedupe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548640" y="4800600"/>
            <a:ext cx="4846320" cy="411480"/>
          </a:xfrm>
          <a:prstGeom prst="roundRect">
            <a:avLst>
              <a:gd name="adj" fmla="val 35556"/>
            </a:avLst>
          </a:prstGeom>
          <a:solidFill>
            <a:srgbClr val="0C1017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31520" y="4901184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HUMAN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2011680" y="4892040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7BF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confirms, then acts</a:t>
            </a:r>
            <a:endParaRPr lang="en-US" sz="125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56235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model never dispatches (ADR-0005). These are validation figures from the training run, not production accuracy.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C879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RoadAssist Bharat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C879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ARCHITECTURE  ·  ADR-0001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spc="-50" kern="0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 modular monolith on PostGIS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291840" cy="3749040"/>
          </a:xfrm>
          <a:prstGeom prst="roundRect">
            <a:avLst>
              <a:gd name="adj" fmla="val 4444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659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CLIENTS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77240" y="2377440"/>
            <a:ext cx="2834640" cy="475488"/>
          </a:xfrm>
          <a:prstGeom prst="roundRect">
            <a:avLst>
              <a:gd name="adj" fmla="val 30769"/>
            </a:avLst>
          </a:prstGeom>
          <a:solidFill>
            <a:srgbClr val="0C1017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248716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Citizen web app (PWA)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2980944"/>
            <a:ext cx="2834640" cy="475488"/>
          </a:xfrm>
          <a:prstGeom prst="roundRect">
            <a:avLst>
              <a:gd name="adj" fmla="val 30769"/>
            </a:avLst>
          </a:prstGeom>
          <a:solidFill>
            <a:srgbClr val="0C1017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0120" y="309067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Android · Kotlin + Compose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3584448"/>
            <a:ext cx="2834640" cy="475488"/>
          </a:xfrm>
          <a:prstGeom prst="roundRect">
            <a:avLst>
              <a:gd name="adj" fmla="val 30769"/>
            </a:avLst>
          </a:prstGeom>
          <a:solidFill>
            <a:srgbClr val="0C1017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369417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Mechanic console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187952"/>
            <a:ext cx="2834640" cy="475488"/>
          </a:xfrm>
          <a:prstGeom prst="roundRect">
            <a:avLst>
              <a:gd name="adj" fmla="val 30769"/>
            </a:avLst>
          </a:prstGeom>
          <a:solidFill>
            <a:srgbClr val="0C1017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42976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RAKSHA + live map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77240" y="4791456"/>
            <a:ext cx="2834640" cy="475488"/>
          </a:xfrm>
          <a:prstGeom prst="roundRect">
            <a:avLst>
              <a:gd name="adj" fmla="val 30769"/>
            </a:avLst>
          </a:prstGeom>
          <a:solidFill>
            <a:srgbClr val="0C1017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60120" y="490118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 phone · SMS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206240" y="1783080"/>
            <a:ext cx="3749040" cy="3749040"/>
          </a:xfrm>
          <a:prstGeom prst="roundRect">
            <a:avLst>
              <a:gd name="adj" fmla="val 3902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34840" y="19659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DA3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FASTIFY API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434840" y="2377440"/>
            <a:ext cx="3291840" cy="475488"/>
          </a:xfrm>
          <a:prstGeom prst="roundRect">
            <a:avLst>
              <a:gd name="adj" fmla="val 30769"/>
            </a:avLst>
          </a:prstGeom>
          <a:solidFill>
            <a:srgbClr val="0C1017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17720" y="24871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 routes under /v1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434840" y="2980944"/>
            <a:ext cx="3291840" cy="475488"/>
          </a:xfrm>
          <a:prstGeom prst="roundRect">
            <a:avLst>
              <a:gd name="adj" fmla="val 30769"/>
            </a:avLst>
          </a:prstGeom>
          <a:solidFill>
            <a:srgbClr val="0C1017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17720" y="309067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Zod validation at every edge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434840" y="3584448"/>
            <a:ext cx="3291840" cy="475488"/>
          </a:xfrm>
          <a:prstGeom prst="roundRect">
            <a:avLst>
              <a:gd name="adj" fmla="val 30769"/>
            </a:avLst>
          </a:prstGeom>
          <a:solidFill>
            <a:srgbClr val="0C1017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617720" y="369417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JWT with role-based access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434840" y="4187952"/>
            <a:ext cx="3291840" cy="475488"/>
          </a:xfrm>
          <a:prstGeom prst="roundRect">
            <a:avLst>
              <a:gd name="adj" fmla="val 30769"/>
            </a:avLst>
          </a:prstGeom>
          <a:solidFill>
            <a:srgbClr val="0C1017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617720" y="42976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Server-sent events (ADR-0010)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434840" y="4791456"/>
            <a:ext cx="3291840" cy="475488"/>
          </a:xfrm>
          <a:prstGeom prst="roundRect">
            <a:avLst>
              <a:gd name="adj" fmla="val 30769"/>
            </a:avLst>
          </a:prstGeom>
          <a:solidFill>
            <a:srgbClr val="0C1017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617720" y="490118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Offer-expiry sweeper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8321040" y="1783080"/>
            <a:ext cx="3319272" cy="3749040"/>
          </a:xfrm>
          <a:prstGeom prst="roundRect">
            <a:avLst>
              <a:gd name="adj" fmla="val 4408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549640" y="1965960"/>
            <a:ext cx="2862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D08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POSTGRESQL 16 + POSTGIS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549640" y="2377440"/>
            <a:ext cx="2862072" cy="475488"/>
          </a:xfrm>
          <a:prstGeom prst="roundRect">
            <a:avLst>
              <a:gd name="adj" fmla="val 30769"/>
            </a:avLst>
          </a:prstGeom>
          <a:solidFill>
            <a:srgbClr val="0C1017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732520" y="2487168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 tables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8549640" y="2980944"/>
            <a:ext cx="2862072" cy="475488"/>
          </a:xfrm>
          <a:prstGeom prst="roundRect">
            <a:avLst>
              <a:gd name="adj" fmla="val 30769"/>
            </a:avLst>
          </a:prstGeom>
          <a:solidFill>
            <a:srgbClr val="0C1017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732520" y="3090672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138 indexes · 5 GiST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8549640" y="3584448"/>
            <a:ext cx="2862072" cy="475488"/>
          </a:xfrm>
          <a:prstGeom prst="roundRect">
            <a:avLst>
              <a:gd name="adj" fmla="val 30769"/>
            </a:avLst>
          </a:prstGeom>
          <a:solidFill>
            <a:srgbClr val="0C1017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732520" y="3694176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 foreign keys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8549640" y="4187952"/>
            <a:ext cx="2862072" cy="475488"/>
          </a:xfrm>
          <a:prstGeom prst="roundRect">
            <a:avLst>
              <a:gd name="adj" fmla="val 30769"/>
            </a:avLst>
          </a:prstGeom>
          <a:solidFill>
            <a:srgbClr val="0C1017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732520" y="4297680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Hash-chained audit log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8549640" y="4791456"/>
            <a:ext cx="2862072" cy="475488"/>
          </a:xfrm>
          <a:prstGeom prst="roundRect">
            <a:avLst>
              <a:gd name="adj" fmla="val 30769"/>
            </a:avLst>
          </a:prstGeom>
          <a:solidFill>
            <a:srgbClr val="0C1017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732520" y="4901184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migrations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3867912" y="3520440"/>
            <a:ext cx="310896" cy="310896"/>
          </a:xfrm>
          <a:prstGeom prst="rightArrow">
            <a:avLst/>
          </a:prstGeom>
          <a:solidFill>
            <a:srgbClr val="F0B429"/>
          </a:solidFill>
          <a:ln w="12700">
            <a:solidFill>
              <a:srgbClr val="F0B42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982712" y="3520440"/>
            <a:ext cx="310896" cy="310896"/>
          </a:xfrm>
          <a:prstGeom prst="rightArrow">
            <a:avLst/>
          </a:prstGeom>
          <a:solidFill>
            <a:srgbClr val="F0B429"/>
          </a:solidFill>
          <a:ln w="12700">
            <a:solidFill>
              <a:srgbClr val="F0B429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48640" y="57607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 architecture decision records explain every choice on this slide.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C879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RoadAssist Bharat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C879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EVIDENCE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spc="-50" kern="0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Every number is measured</a:t>
            </a:r>
            <a:endParaRPr lang="en-US" sz="3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754880" y="1463040"/>
          <a:ext cx="69037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1783080"/>
            <a:ext cx="3931920" cy="1737360"/>
          </a:xfrm>
          <a:prstGeom prst="roundRect">
            <a:avLst>
              <a:gd name="adj" fmla="val 8421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92024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650</a:t>
            </a:r>
            <a:endParaRPr lang="en-US" sz="6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9260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7BF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assertions across six suites, zero failures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611880" y="2011680"/>
            <a:ext cx="603504" cy="274320"/>
          </a:xfrm>
          <a:prstGeom prst="roundRect">
            <a:avLst>
              <a:gd name="adj" fmla="val 50000"/>
            </a:avLst>
          </a:prstGeom>
          <a:solidFill>
            <a:srgbClr val="0F2A1E"/>
          </a:solidFill>
          <a:ln w="9525">
            <a:solidFill>
              <a:srgbClr val="2ED08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11880" y="2011680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2ED0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PASS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48640" y="3703320"/>
            <a:ext cx="3931920" cy="1005840"/>
          </a:xfrm>
          <a:prstGeom prst="roundRect">
            <a:avLst>
              <a:gd name="adj" fmla="val 14545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38862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 attacks attempted, every one refused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48640" y="4892040"/>
            <a:ext cx="3931920" cy="914400"/>
          </a:xfrm>
          <a:prstGeom prst="roundRect">
            <a:avLst>
              <a:gd name="adj" fmla="val 16000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" y="502920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Razorpay sandbox checks need a payment account — never run, not counted.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C879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RoadAssist Bharat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C879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NO LLM  ·  ENFORCED, NOT PROMISED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spc="-50" kern="0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Built by us. Checked by the build.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49240" cy="1508760"/>
          </a:xfrm>
          <a:prstGeom prst="roundRect">
            <a:avLst>
              <a:gd name="adj" fmla="val 9697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8483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0B4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no-llm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146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7BF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fails the build on any LLM package in a manifest or a chat endpoint in source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26480" y="1828800"/>
            <a:ext cx="5349240" cy="1508760"/>
          </a:xfrm>
          <a:prstGeom prst="roundRect">
            <a:avLst>
              <a:gd name="adj" fmla="val 9697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0" y="208483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0B4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claims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0" y="25146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7BF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number in the docs must match what the suites measured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566160"/>
            <a:ext cx="5349240" cy="1508760"/>
          </a:xfrm>
          <a:prstGeom prst="roundRect">
            <a:avLst>
              <a:gd name="adj" fmla="val 9697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382219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0B4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residency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2519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7BF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visitor address leaves India; server egress is declared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26480" y="3566160"/>
            <a:ext cx="5349240" cy="1508760"/>
          </a:xfrm>
          <a:prstGeom prst="roundRect">
            <a:avLst>
              <a:gd name="adj" fmla="val 9697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0" y="382219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0B4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citations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42519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7BF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code reference in the docs still resolves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4406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AI in this project is a YOLO11 detector trained in this repository and a deterministic rules engine — never a language model.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C879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RoadAssist Bharat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C879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DEPLOYMENT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spc="-50" kern="0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One command locally. One domain publicly.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486400" cy="1920240"/>
          </a:xfrm>
          <a:prstGeom prst="roundRect">
            <a:avLst>
              <a:gd name="adj" fmla="val 7619"/>
            </a:avLst>
          </a:prstGeom>
          <a:solidFill>
            <a:srgbClr val="05070A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0312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B7BF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https://github.com/saatwik-1157/roadassist-bharat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F0B4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-f docker-compose.demo.yml up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1546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PostGIS, migrations, seed data and the platform — no cloud account, no secrets.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355080" y="1828800"/>
            <a:ext cx="5303520" cy="731520"/>
          </a:xfrm>
          <a:prstGeom prst="roundRect">
            <a:avLst>
              <a:gd name="adj" fmla="val 20000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0" y="194767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roadassistbharat.online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223113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showcase · GitHub Pages · live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355080" y="2697480"/>
            <a:ext cx="5303520" cy="731520"/>
          </a:xfrm>
          <a:prstGeom prst="roundRect">
            <a:avLst>
              <a:gd name="adj" fmla="val 20000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0" y="281635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Docker image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309981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Published to GHCR on every push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355080" y="3566160"/>
            <a:ext cx="5303520" cy="731520"/>
          </a:xfrm>
          <a:prstGeom prst="roundRect">
            <a:avLst>
              <a:gd name="adj" fmla="val 20000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0" y="368503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Render + Neon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0" y="396849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render.yaml deploys the same image to the cloud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355080" y="4434840"/>
            <a:ext cx="5303520" cy="731520"/>
          </a:xfrm>
          <a:prstGeom prst="roundRect">
            <a:avLst>
              <a:gd name="adj" fmla="val 20000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83680" y="455371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Restart policy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0" y="483717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demo stack comes back by itself</a:t>
            </a:r>
            <a:endParaRPr lang="en-US" sz="1150" dirty="0"/>
          </a:p>
        </p:txBody>
      </p:sp>
      <p:pic>
        <p:nvPicPr>
          <p:cNvPr id="19" name="Image 0" descr="C:\Users\Asus\AppData\Local\Temp\claude\S--PROJECTS\eabbf988-c3df-46b9-a467-55f01aa51fb9\scratchpad\deck\img\app-icon-5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14800"/>
            <a:ext cx="1280160" cy="1280160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2057400" y="452628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7BF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image runs locally, in CI and in the cloud.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C879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RoadAssist Bharat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C879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THE TEAM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spc="-50" kern="0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Four people, four responsibilities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651760" cy="3566160"/>
          </a:xfrm>
          <a:prstGeom prst="roundRect">
            <a:avLst>
              <a:gd name="adj" fmla="val 5517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822960" cy="822960"/>
          </a:xfrm>
          <a:prstGeom prst="ellipse">
            <a:avLst/>
          </a:prstGeom>
          <a:solidFill>
            <a:srgbClr val="F0B429"/>
          </a:solidFill>
          <a:ln w="12700">
            <a:solidFill>
              <a:srgbClr val="F0B42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110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VS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1546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V Saatwik Sairaam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5204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0B4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24MIC7131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8404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7BF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 &amp; Cloud Database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3891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Fastify API, PostGIS schema, dispatch and concurrency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46704" y="1828800"/>
            <a:ext cx="2651760" cy="3566160"/>
          </a:xfrm>
          <a:prstGeom prst="roundRect">
            <a:avLst>
              <a:gd name="adj" fmla="val 5517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21024" y="2103120"/>
            <a:ext cx="822960" cy="822960"/>
          </a:xfrm>
          <a:prstGeom prst="ellipse">
            <a:avLst/>
          </a:prstGeom>
          <a:solidFill>
            <a:srgbClr val="FFD978"/>
          </a:solidFill>
          <a:ln w="12700">
            <a:solidFill>
              <a:srgbClr val="FFD97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21024" y="2103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110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PN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3621024" y="31546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 Sai Nirisha Chowdary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621024" y="35204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0B4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24MIC7122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621024" y="38404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7BF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 &amp; Mobile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621024" y="43891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Citizen web app, mechanic console, Android client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144768" y="1828800"/>
            <a:ext cx="2651760" cy="3566160"/>
          </a:xfrm>
          <a:prstGeom prst="roundRect">
            <a:avLst>
              <a:gd name="adj" fmla="val 5517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19088" y="2103120"/>
            <a:ext cx="822960" cy="822960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19088" y="2103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110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TJ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6419088" y="31546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 V S Jignesh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19088" y="35204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0B4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24MIC7190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419088" y="38404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7BF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&amp; Data Services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419088" y="43891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YOLO11 training, RAKSHA ingest, rules engine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942832" y="1828800"/>
            <a:ext cx="2651760" cy="3566160"/>
          </a:xfrm>
          <a:prstGeom prst="roundRect">
            <a:avLst>
              <a:gd name="adj" fmla="val 5517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17152" y="2103120"/>
            <a:ext cx="822960" cy="822960"/>
          </a:xfrm>
          <a:prstGeom prst="ellipse">
            <a:avLst/>
          </a:prstGeom>
          <a:solidFill>
            <a:srgbClr val="2ED08A"/>
          </a:solidFill>
          <a:ln w="12700">
            <a:solidFill>
              <a:srgbClr val="2ED08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17152" y="2103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110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GP</a:t>
            </a:r>
            <a:endParaRPr lang="en-US" sz="2200" dirty="0"/>
          </a:p>
        </p:txBody>
      </p:sp>
      <p:sp>
        <p:nvSpPr>
          <p:cNvPr id="28" name="Text 26"/>
          <p:cNvSpPr txBox="1"/>
          <p:nvPr/>
        </p:nvSpPr>
        <p:spPr>
          <a:xfrm>
            <a:off x="9217152" y="31546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G Parthavi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9217152" y="35204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0B4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24MIC145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217152" y="38404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7BF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DevOps, QA &amp; Cloud Security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9217152" y="43891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CI, Docker, security suite, deployment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7150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Course faculty: Dr. Nagendra Panini Challa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C879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RoadAssist Bharat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C879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sus\AppData\Local\Temp\claude\S--PROJECTS\eabbf988-c3df-46b9-a467-55f01aa51fb9\scratchpad\deck\img\hero.jpg">    </p:cNvPr>
          <p:cNvPicPr>
            <a:picLocks noChangeAspect="1"/>
          </p:cNvPicPr>
          <p:nvPr/>
        </p:nvPicPr>
        <p:blipFill>
          <a:blip r:embed="rId1">
            <a:alphaModFix amt="22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D">
              <a:alpha val="80000"/>
            </a:srgbClr>
          </a:solidFill>
          <a:ln w="12700">
            <a:solidFill>
              <a:srgbClr val="07090D"/>
            </a:solidFill>
            <a:prstDash val="solid"/>
          </a:ln>
        </p:spPr>
      </p:sp>
      <p:pic>
        <p:nvPicPr>
          <p:cNvPr id="4" name="Image 1" descr="C:\Users\Asus\AppData\Local\Temp\claude\S--PROJECTS\eabbf988-c3df-46b9-a467-55f01aa51fb9\scratchpad\deck\img\mark-102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2888" y="1097280"/>
            <a:ext cx="1645920" cy="164592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0" y="292608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6" name="Text 2"/>
          <p:cNvSpPr txBox="1"/>
          <p:nvPr/>
        </p:nvSpPr>
        <p:spPr>
          <a:xfrm>
            <a:off x="0" y="379476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7BF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Questions welcome — and the platform is running if you'd like to see it.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0" y="46634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0B4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roadassistbharat.online   ·   github.com/saatwik-1157/roadassist-bharat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RoadAssist Bharat — Project Review</dc:title>
  <dc:subject>PptxGenJS Presentation</dc:subject>
  <dc:creator>V. Saatwik Sairaam, P. Sai Nirisha Chowdary, T. V. S. Jignesh, G. Parthavi</dc:creator>
  <cp:lastModifiedBy>V. Saatwik Sairaam, P. Sai Nirisha Chowdary, T. V. S. Jignesh, G. Parthavi</cp:lastModifiedBy>
  <cp:revision>1</cp:revision>
  <dcterms:created xsi:type="dcterms:W3CDTF">2026-09-24T15:02:23Z</dcterms:created>
  <dcterms:modified xsi:type="dcterms:W3CDTF">2026-09-24T15:02:23Z</dcterms:modified>
</cp:coreProperties>
</file>