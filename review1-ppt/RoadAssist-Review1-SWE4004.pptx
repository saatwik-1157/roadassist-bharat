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B1B2B"/>
                </a:solidFill>
                <a:latin typeface="Calibri"/>
              </a:defRPr>
            </a:pPr>
            <a:r>
              <a:rPr sz="1150" b="0" i="0" u="none" strike="noStrike">
                <a:solidFill>
                  <a:srgbClr val="0B1B2B"/>
                </a:solidFill>
                <a:latin typeface="Calibri"/>
              </a:rPr>
              <a:t>Assistance requests by hour — the case for elastic scaling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Assistance requests</c:v>
                </c:pt>
              </c:strCache>
            </c:strRef>
          </c:tx>
          <c:spPr>
            <a:solidFill>
              <a:srgbClr val="1C4E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B6B7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00</c:v>
                  </c:pt>
                  <c:pt idx="1">
                    <c:v>03</c:v>
                  </c:pt>
                  <c:pt idx="2">
                    <c:v>06</c:v>
                  </c:pt>
                  <c:pt idx="3">
                    <c:v>09</c:v>
                  </c:pt>
                  <c:pt idx="4">
                    <c:v>12</c:v>
                  </c:pt>
                  <c:pt idx="5">
                    <c:v>15</c:v>
                  </c:pt>
                  <c:pt idx="6">
                    <c:v>18</c:v>
                  </c:pt>
                  <c:pt idx="7">
                    <c:v>21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140</c:v>
                </c:pt>
                <c:pt idx="1">
                  <c:v>90</c:v>
                </c:pt>
                <c:pt idx="2">
                  <c:v>310</c:v>
                </c:pt>
                <c:pt idx="3">
                  <c:v>880</c:v>
                </c:pt>
                <c:pt idx="4">
                  <c:v>520</c:v>
                </c:pt>
                <c:pt idx="5">
                  <c:v>610</c:v>
                </c:pt>
                <c:pt idx="6">
                  <c:v>950</c:v>
                </c:pt>
                <c:pt idx="7">
                  <c:v>430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5B6B7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A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tagline. State in one sentence: we are building a cloud-native roadside assistance platform for India, and this review covers the idea, the problem, the cloud architecture and a working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to 20 seconds. Point out that sections 3, 4 and 5 map directly onto the six course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human situation, then the numbers. The four failures are the ones our design decisions trace back to — refer to them again in the architecture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attack competitors. Frame it as: each solves one slice well; nobody covers the intersection of all-vehicle, no-network, no-smartphone.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the panel remembers. Say the one-sentence definition slowly, then the four pillars, then land on why it must be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map to make the scale point physically: this is not one city, it is a national network with a node wherever a vehicle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is the argument: a 10x swing between the quietest and busiest hour. Owned hardware must be sized for the peak and idles the rest of the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precise here — examiners like this slide. We are simultaneously a cloud consumer (of IaaS and PaaS) and a cloud provider (of SaaS to citizens, mechanics and government).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which one is least obvious: multitenancy. Four different user classes share one deployment, isolated by row-level security and separate encryption keys.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five mechanisms from Module 3 appear in our design. If asked which matters most for us: resource replication, because the emergency service must survive the loss of an availability zone.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amber container in the first image, then find the same unit in the third. Showing that the diagrams are one consistent model is worth a 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all eight. Pick three and explain them concretely: dynamic scalability, cloud bursting during monsoon, and redundant storage for the emergency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animation loops on its own in slideshow mode. Let it run one full cycle in silence before you speak — the release phase at the end is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the right-hand loop until Zone C drops out — then say the sentence about zero data loss. The timing lands better than any bullet.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it top to bottom in three sentences — clients, gateway and services, then data and infrastructure. Then point at the red box and explain why the emergency service is isolated.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monsoon timeline is the most concrete example of cloud bursting you can give. Emphasise that capacity is released at 21:00 — that release is what makes it cost-proportional.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the difference: as a consumer we optimise for cost and reliability; as a provider we optimise for tenant isolation and the SLA we promise.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 each threat on the left with the mechanism on the right that answers it. The examiner will usually ask for one such pairing — insufficient authorization answered by resource-scoped IAM is the cleanest.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for one threat-to-control pairing, use: insufficient authorization answered by resource-scoped IAM at step 4 of this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steps quickly, then slow down for the offline row — that is the differentiator. Finish on the emergency strip and state the 10-second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separates the project from a normal CRUD app. Say plainly: the cloud does the heavy work, but nothing on the critical path depends on reaching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loop play. The red banner is the sentence to end on — it shows you have thought about what happens when the model is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real prototype on a phone if the room allows. If not, the recorded demo is the backup — never rely on live WiFi.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the stack was chosen for portability — containers mean we are not locked to one cloud provider, which answers the vendor lock-in risk raised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short. The point is that Review 1 is genuinely complete, and Review 2 has a defined scope rather than a vague promise.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four pairings. Each names a problem and the specific cloud concept that answers it — that is the argument of the whole deck in four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these out. They are here so the panel can see the course text is the backbone of the cloud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gif"/><Relationship Id="rId2" Type="http://schemas.openxmlformats.org/officeDocument/2006/relationships/image" Target="../media/image-16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hero-highway.png">    </p:cNvPr>
          <p:cNvPicPr>
            <a:picLocks noChangeAspect="1"/>
          </p:cNvPicPr>
          <p:nvPr/>
        </p:nvPicPr>
        <p:blipFill>
          <a:blip r:embed="rId1">
            <a:alphaModFix amt="68000"/>
          </a:blip>
          <a:stretch>
            <a:fillRect/>
          </a:stretch>
        </p:blipFill>
        <p:spPr>
          <a:xfrm>
            <a:off x="2743200" y="0"/>
            <a:ext cx="9448495" cy="53126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8686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SWE4004  ·  CLOUD COMPUTING AND APPLICATIONS  ·  PROJECT REVIEW 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1243584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RoadAssist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566928" y="2249424"/>
            <a:ext cx="9692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Cloud-Native, Offline-First Roadside Assistance Platform for India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6928" y="26883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“One Platform. Every Vehicle. Every Phone. Every Road.”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66928" y="331012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6928" y="3621024"/>
            <a:ext cx="2654732" cy="1261872"/>
          </a:xfrm>
          <a:prstGeom prst="roundRect">
            <a:avLst>
              <a:gd name="adj" fmla="val 4348"/>
            </a:avLst>
          </a:prstGeom>
          <a:solidFill>
            <a:srgbClr val="14293D"/>
          </a:solidFill>
          <a:ln w="12700">
            <a:solidFill>
              <a:srgbClr val="1D3C56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9808" y="3767328"/>
            <a:ext cx="22889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SAATWIK SAIRAAM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49808" y="4224528"/>
            <a:ext cx="22889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24MIC7131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49808" y="4498848"/>
            <a:ext cx="22889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8F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Cloud Database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3367964" y="3621024"/>
            <a:ext cx="2654732" cy="1261872"/>
          </a:xfrm>
          <a:prstGeom prst="roundRect">
            <a:avLst>
              <a:gd name="adj" fmla="val 4348"/>
            </a:avLst>
          </a:prstGeom>
          <a:solidFill>
            <a:srgbClr val="14293D"/>
          </a:solidFill>
          <a:ln w="12700">
            <a:solidFill>
              <a:srgbClr val="1D3C56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550844" y="3767328"/>
            <a:ext cx="22889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SAI NIRISHA CHOWDARY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550844" y="4224528"/>
            <a:ext cx="22889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24MIC7122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550844" y="4498848"/>
            <a:ext cx="22889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8F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Mobile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6169000" y="3621024"/>
            <a:ext cx="2654732" cy="1261872"/>
          </a:xfrm>
          <a:prstGeom prst="roundRect">
            <a:avLst>
              <a:gd name="adj" fmla="val 4348"/>
            </a:avLst>
          </a:prstGeom>
          <a:solidFill>
            <a:srgbClr val="14293D"/>
          </a:solidFill>
          <a:ln w="12700">
            <a:solidFill>
              <a:srgbClr val="1D3C56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351880" y="3767328"/>
            <a:ext cx="22889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V S JIGNESH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351880" y="4224528"/>
            <a:ext cx="22889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24MIC7190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351880" y="4498848"/>
            <a:ext cx="22889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8F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 Services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8970035" y="3621024"/>
            <a:ext cx="2654732" cy="1261872"/>
          </a:xfrm>
          <a:prstGeom prst="roundRect">
            <a:avLst>
              <a:gd name="adj" fmla="val 4348"/>
            </a:avLst>
          </a:prstGeom>
          <a:solidFill>
            <a:srgbClr val="14293D"/>
          </a:solidFill>
          <a:ln w="12700">
            <a:solidFill>
              <a:srgbClr val="1D3C56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152915" y="3767328"/>
            <a:ext cx="22889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PARTHAVI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9152915" y="4224528"/>
            <a:ext cx="22889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24MIC145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152915" y="4498848"/>
            <a:ext cx="22889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8F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DevOps, QA &amp; Cloud Security</a:t>
            </a:r>
            <a:endParaRPr lang="en-US" sz="920" dirty="0"/>
          </a:p>
        </p:txBody>
      </p:sp>
      <p:sp>
        <p:nvSpPr>
          <p:cNvPr id="25" name="Text 22"/>
          <p:cNvSpPr/>
          <p:nvPr/>
        </p:nvSpPr>
        <p:spPr>
          <a:xfrm>
            <a:off x="566928" y="513892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Faculty: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Nagendra Panini Challa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00800" y="513892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— Idea, Problem Statement, Architecture &amp; Prototype</a:t>
            </a:r>
            <a:endParaRPr lang="en-US" sz="1150" dirty="0"/>
          </a:p>
        </p:txBody>
      </p:sp>
    </p:spTree>
  </p:cSld>
  <p:clrMapOvr>
    <a:masterClrMapping/>
  </p:clrMapOvr>
  <p:transition xmlns:p14="http://schemas.microsoft.com/office/powerpoint/2010/main" spd="med" p14:dur="9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5419192" cy="1426464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82496"/>
            <a:ext cx="420624" cy="42062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682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89888" y="1627632"/>
            <a:ext cx="448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89888" y="2029968"/>
            <a:ext cx="4449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roadside breakdown in India is an unsolved, high-stakes problem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05576" y="1389888"/>
            <a:ext cx="5419192" cy="1426464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3320" y="1682496"/>
            <a:ext cx="420624" cy="42062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1" name="Text 9"/>
          <p:cNvSpPr/>
          <p:nvPr/>
        </p:nvSpPr>
        <p:spPr>
          <a:xfrm>
            <a:off x="6443320" y="1682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28536" y="1627632"/>
            <a:ext cx="448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Idea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028536" y="2029968"/>
            <a:ext cx="4449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every vehicle, every phone, every road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999232"/>
            <a:ext cx="5419192" cy="1426464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291840"/>
            <a:ext cx="420624" cy="42062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89888" y="3236976"/>
            <a:ext cx="448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Foundation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89888" y="3639312"/>
            <a:ext cx="4449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models, deployment model, enabling technologies, mechanisms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05576" y="2999232"/>
            <a:ext cx="5419192" cy="1426464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3320" y="3291840"/>
            <a:ext cx="420624" cy="42062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1" name="Text 19"/>
          <p:cNvSpPr/>
          <p:nvPr/>
        </p:nvSpPr>
        <p:spPr>
          <a:xfrm>
            <a:off x="6443320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28536" y="3236976"/>
            <a:ext cx="448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Architecture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028536" y="3639312"/>
            <a:ext cx="4449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Scalability, load balancing, bursting, replication, storage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608576"/>
            <a:ext cx="5419192" cy="1426464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4901184"/>
            <a:ext cx="420624" cy="42062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4901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89888" y="4846320"/>
            <a:ext cx="448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Security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389888" y="5248656"/>
            <a:ext cx="4449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Threats, encryption, PKI, IAM, SSO, security groups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05576" y="4608576"/>
            <a:ext cx="5419192" cy="1426464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3320" y="4901184"/>
            <a:ext cx="420624" cy="42062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1" name="Text 29"/>
          <p:cNvSpPr/>
          <p:nvPr/>
        </p:nvSpPr>
        <p:spPr>
          <a:xfrm>
            <a:off x="6443320" y="4901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28536" y="4846320"/>
            <a:ext cx="448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&amp; Output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028536" y="5248656"/>
            <a:ext cx="4449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works end to end, and what we have built</a:t>
            </a:r>
            <a:endParaRPr lang="en-US" sz="1150" dirty="0"/>
          </a:p>
        </p:txBody>
      </p:sp>
    </p:spTree>
  </p:cSld>
  <p:clrMapOvr>
    <a:masterClrMapping/>
  </p:clrMapOvr>
  <p:transition xmlns:p14="http://schemas.microsoft.com/office/powerpoint/2010/main" spd="med" p14:dur="700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280160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vehicle breaks down in India every few seconds. The person beside it has no reliable way to get help — and the worse the location, the worse the coverage.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773936"/>
            <a:ext cx="2709596" cy="2377440"/>
          </a:xfrm>
          <a:prstGeom prst="roundRect">
            <a:avLst>
              <a:gd name="adj" fmla="val 2308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38528"/>
            <a:ext cx="23804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 L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23804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of road network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3090672"/>
            <a:ext cx="23804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in the world after the USA — most of it outside any service network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49676" y="1773936"/>
            <a:ext cx="2709596" cy="2377440"/>
          </a:xfrm>
          <a:prstGeom prst="roundRect">
            <a:avLst>
              <a:gd name="adj" fmla="val 2308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14268" y="1938528"/>
            <a:ext cx="23804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 L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514268" y="2743200"/>
            <a:ext cx="23804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deaths per year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14268" y="3090672"/>
            <a:ext cx="23804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records the highest road fatality count globally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32424" y="1773936"/>
            <a:ext cx="2709596" cy="2377440"/>
          </a:xfrm>
          <a:prstGeom prst="roundRect">
            <a:avLst>
              <a:gd name="adj" fmla="val 2308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97016" y="1938528"/>
            <a:ext cx="23804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297016" y="2743200"/>
            <a:ext cx="23804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highway deaths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97016" y="3090672"/>
            <a:ext cx="23804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Attributed to delayed emergency response, not the crash itself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15171" y="1773936"/>
            <a:ext cx="2709596" cy="2377440"/>
          </a:xfrm>
          <a:prstGeom prst="roundRect">
            <a:avLst>
              <a:gd name="adj" fmla="val 2308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79763" y="1938528"/>
            <a:ext cx="23804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4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20%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079763" y="2743200"/>
            <a:ext cx="23804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organised RSA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079763" y="3090672"/>
            <a:ext cx="23804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Roadside assistance today is a car-owner, metro-city privilege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4389120"/>
            <a:ext cx="11057839" cy="1874520"/>
          </a:xfrm>
          <a:prstGeom prst="roundRect">
            <a:avLst>
              <a:gd name="adj" fmla="val 2927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4535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failures we are solving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41248" y="4992624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2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 — help apps assume 4G; breakdowns happen where there is none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27648" y="4992624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2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smartphone — a large share of drivers use feature phones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" y="5559552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2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only — bikes, autos, trucks and tractors are excluded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27648" y="5559552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2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— no authority sees where breakdowns and crashes cluster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spd="med" p14:dur="700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Existing Solutions Do Not Work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57839" cy="475488"/>
          </a:xfrm>
          <a:prstGeom prst="roundRect">
            <a:avLst>
              <a:gd name="adj" fmla="val 9615"/>
            </a:avLst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38988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option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895344" y="138988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well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095744" y="138988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breaks down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1956816"/>
            <a:ext cx="11057839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86384" y="1956816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/ OEM RSA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75888" y="195681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with car policies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76288" y="1956816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only · needs a call centre · no coverage on rural highways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871216"/>
            <a:ext cx="11057839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86384" y="2871216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mechanic contacts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75888" y="287121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and familiar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76288" y="2871216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verification, no pricing, no tracking, no accountability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785616"/>
            <a:ext cx="11057839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6384" y="3785616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ride/logistics apps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75888" y="378561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dispatch technology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76288" y="3785616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constant connectivity and a smartphone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700016"/>
            <a:ext cx="11057839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86384" y="4700016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helpline (112)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675888" y="470001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and trusted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76288" y="4700016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only — cannot handle a flat tyre or a dead battery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760720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760720"/>
            <a:ext cx="105091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no platform covers every vehicle class, works without connectivity, and reaches a feature phone.</a:t>
            </a:r>
            <a:endParaRPr lang="en-US" sz="1400" dirty="0"/>
          </a:p>
        </p:txBody>
      </p:sp>
    </p:spTree>
  </p:cSld>
  <p:clrMapOvr>
    <a:masterClrMapping/>
  </p:clrMapOvr>
  <p:transition xmlns:p14="http://schemas.microsoft.com/office/powerpoint/2010/main" spd="med" p14:dur="700">
    <p:push dir="l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Idea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26187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RoadAssist Bharat is a cloud-hosted platform that connects any stranded vehicle to the nearest verified mechanic or emergency responder — over the internet when it exists, and over SMS, IVR or on-device intelligence when it does not.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2709596" cy="2331720"/>
          </a:xfrm>
          <a:prstGeom prst="roundRect">
            <a:avLst>
              <a:gd name="adj" fmla="val 2353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231136"/>
            <a:ext cx="420624" cy="42062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231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8096" y="2798064"/>
            <a:ext cx="2307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Vehicle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68096" y="3200400"/>
            <a:ext cx="23072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Cars, bikes, autos, trucks, buses, tractors and EVs — one platform, vehicle-class-aware diagnosis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49676" y="2011680"/>
            <a:ext cx="2709596" cy="2331720"/>
          </a:xfrm>
          <a:prstGeom prst="roundRect">
            <a:avLst>
              <a:gd name="adj" fmla="val 2353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50844" y="2231136"/>
            <a:ext cx="420624" cy="42062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2" name="Text 10"/>
          <p:cNvSpPr/>
          <p:nvPr/>
        </p:nvSpPr>
        <p:spPr>
          <a:xfrm>
            <a:off x="3550844" y="2231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50844" y="2798064"/>
            <a:ext cx="2307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Phone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3550844" y="3200400"/>
            <a:ext cx="23072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app, web, and full SMS / IVR / USSD access for feature phones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32424" y="2011680"/>
            <a:ext cx="2709596" cy="2331720"/>
          </a:xfrm>
          <a:prstGeom prst="roundRect">
            <a:avLst>
              <a:gd name="adj" fmla="val 2353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33592" y="2231136"/>
            <a:ext cx="420624" cy="42062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7" name="Text 15"/>
          <p:cNvSpPr/>
          <p:nvPr/>
        </p:nvSpPr>
        <p:spPr>
          <a:xfrm>
            <a:off x="6333592" y="2231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33592" y="2798064"/>
            <a:ext cx="2307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Road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6333592" y="3200400"/>
            <a:ext cx="23072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Offline-first: on-device AI and cached maps keep working with zero signal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15171" y="2011680"/>
            <a:ext cx="2709596" cy="2331720"/>
          </a:xfrm>
          <a:prstGeom prst="roundRect">
            <a:avLst>
              <a:gd name="adj" fmla="val 2353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16339" y="2231136"/>
            <a:ext cx="420624" cy="42062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2" name="Text 20"/>
          <p:cNvSpPr/>
          <p:nvPr/>
        </p:nvSpPr>
        <p:spPr>
          <a:xfrm>
            <a:off x="9116339" y="2231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16339" y="2798064"/>
            <a:ext cx="2307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Second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9116339" y="3200400"/>
            <a:ext cx="23072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crash detection escalates to contacts and responders in under 10 seconds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4535424"/>
            <a:ext cx="11057839" cy="1691640"/>
          </a:xfrm>
          <a:prstGeom prst="roundRect">
            <a:avLst>
              <a:gd name="adj" fmla="val 3243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" y="47000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a cloud service, because it cannot be delivered any other way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5084064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unpredictable and geographically spread across a subcontinent; the emergency path must never go down; and a four-person team cannot own physical infrastructure. Cloud is not a hosting choice here — it is the enabling condition.</a:t>
            </a:r>
            <a:endParaRPr lang="en-US" sz="1250" dirty="0"/>
          </a:p>
        </p:txBody>
      </p:sp>
    </p:spTree>
  </p:cSld>
  <p:clrMapOvr>
    <a:masterClrMapping/>
  </p:clrMapOvr>
  <p:transition xmlns:p14="http://schemas.microsoft.com/office/powerpoint/2010/main" spd="med" p14:dur="700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Platform at a Glance</a:t>
            </a:r>
            <a:endParaRPr lang="en-US" sz="3000" dirty="0"/>
          </a:p>
        </p:txBody>
      </p:sp>
      <p:pic>
        <p:nvPicPr>
          <p:cNvPr id="4" name="Image 0" descr="img/india-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88720"/>
            <a:ext cx="7223760" cy="40599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34009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cloud platform · every vehicle class · every district · online or offline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046720" y="1188720"/>
            <a:ext cx="3593592" cy="1115568"/>
          </a:xfrm>
          <a:prstGeom prst="roundRect">
            <a:avLst>
              <a:gd name="adj" fmla="val 4918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0" y="1335024"/>
            <a:ext cx="822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9015984" y="13350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types served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015984" y="1627632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iOS · web · mechanic app · government · admin · feature phone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8046720" y="2414016"/>
            <a:ext cx="3593592" cy="1115568"/>
          </a:xfrm>
          <a:prstGeom prst="roundRect">
            <a:avLst>
              <a:gd name="adj" fmla="val 4918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0" y="2560320"/>
            <a:ext cx="822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9015984" y="2560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015984" y="2852928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scalable by design — today one container, not on Kubernetes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8046720" y="3639312"/>
            <a:ext cx="3593592" cy="1115568"/>
          </a:xfrm>
          <a:prstGeom prst="roundRect">
            <a:avLst>
              <a:gd name="adj" fmla="val 4918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29600" y="3785616"/>
            <a:ext cx="822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9015984" y="37856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zones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9015984" y="4078224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stateless services replicated; database with multi-AZ failover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8046720" y="4864608"/>
            <a:ext cx="3593592" cy="1115568"/>
          </a:xfrm>
          <a:prstGeom prst="roundRect">
            <a:avLst>
              <a:gd name="adj" fmla="val 4918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229600" y="5010912"/>
            <a:ext cx="822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9015984" y="50109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required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9015984" y="5303520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 and SMS keep the core journey alive with no network</a:t>
            </a:r>
            <a:endParaRPr lang="en-US" sz="88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xmlns:p14="http://schemas.microsoft.com/office/powerpoint/2010/main" spd="slow" p14:dur="1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loud-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868680"/>
            <a:ext cx="5943600" cy="33467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2212848"/>
            <a:ext cx="896112" cy="89611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2212848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773936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1 – 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773936" y="25420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Foundation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773936" y="327355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and models · enabling technologies · infrastructure mechanisms</a:t>
            </a:r>
            <a:endParaRPr lang="en-US" sz="1400" dirty="0"/>
          </a:p>
        </p:txBody>
      </p:sp>
    </p:spTree>
  </p:cSld>
  <p:clrMapOvr>
    <a:masterClrMapping/>
  </p:clrMapOvr>
  <p:transition xmlns:p14="http://schemas.microsoft.com/office/powerpoint/2010/main" spd="med" p14:dur="9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GOALS, BENEFITS, RISKS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System Must Be Cloud-Based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5486400" cy="1024128"/>
          </a:xfrm>
          <a:prstGeom prst="roundRect">
            <a:avLst>
              <a:gd name="adj" fmla="val 5357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19072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25296" y="1536192"/>
            <a:ext cx="4626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demand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25296" y="188366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load peaks 6× at rush hour and spikes during monsoon and festivals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523744"/>
            <a:ext cx="5486400" cy="1024128"/>
          </a:xfrm>
          <a:prstGeom prst="roundRect">
            <a:avLst>
              <a:gd name="adj" fmla="val 5357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852928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25296" y="2670048"/>
            <a:ext cx="4626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cost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25296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pay for the peak only while it lasts — impossible with owned servers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657600"/>
            <a:ext cx="5486400" cy="1024128"/>
          </a:xfrm>
          <a:prstGeom prst="roundRect">
            <a:avLst>
              <a:gd name="adj" fmla="val 5357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986784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25296" y="3803904"/>
            <a:ext cx="4626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reach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25296" y="415137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presence puts compute near the user across the country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4791456"/>
            <a:ext cx="5486400" cy="1024128"/>
          </a:xfrm>
          <a:prstGeom prst="roundRect">
            <a:avLst>
              <a:gd name="adj" fmla="val 5357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5120640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5120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25296" y="4937760"/>
            <a:ext cx="4626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25296" y="52852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the emergency service replicated across availability zones</a:t>
            </a:r>
            <a:endParaRPr lang="en-US" sz="10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355080" y="1389888"/>
          <a:ext cx="5285232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6355080" y="4736592"/>
            <a:ext cx="5285232" cy="1463040"/>
          </a:xfrm>
          <a:prstGeom prst="roundRect">
            <a:avLst>
              <a:gd name="adj" fmla="val 3750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565392" y="48646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we accept, and how we answer them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565392" y="5193792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4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→ containers and open standards, portable across providers</a:t>
            </a:r>
            <a:endParaRPr lang="en-US" sz="1040" dirty="0"/>
          </a:p>
        </p:txBody>
      </p:sp>
      <p:sp>
        <p:nvSpPr>
          <p:cNvPr id="28" name="Text 25"/>
          <p:cNvSpPr/>
          <p:nvPr/>
        </p:nvSpPr>
        <p:spPr>
          <a:xfrm>
            <a:off x="6565392" y="5522976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4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 → all data resident in Indian regions only</a:t>
            </a:r>
            <a:endParaRPr lang="en-US" sz="1040" dirty="0"/>
          </a:p>
        </p:txBody>
      </p:sp>
      <p:sp>
        <p:nvSpPr>
          <p:cNvPr id="29" name="Text 26"/>
          <p:cNvSpPr/>
          <p:nvPr/>
        </p:nvSpPr>
        <p:spPr>
          <a:xfrm>
            <a:off x="6565392" y="5852160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4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control → compensated by monitoring, SLOs and audit logging</a:t>
            </a:r>
            <a:endParaRPr lang="en-US" sz="104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MODELS, ROLES AND BOUNDARIES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Sit in the Cloud Stack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delivery models — we consume two, and provide one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82496"/>
            <a:ext cx="5577840" cy="100584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883664"/>
            <a:ext cx="896112" cy="603504"/>
          </a:xfrm>
          <a:prstGeom prst="roundRect">
            <a:avLst>
              <a:gd name="adj" fmla="val 9091"/>
            </a:avLst>
          </a:prstGeom>
          <a:solidFill>
            <a:srgbClr val="FFB020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83664"/>
            <a:ext cx="896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37360" y="1847088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spc="12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PROVIDE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1737360" y="2121408"/>
            <a:ext cx="4261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RoadAssist app, mechanic portal and government dashboard delivered to end users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66928" y="2779776"/>
            <a:ext cx="5577840" cy="100584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2980944"/>
            <a:ext cx="896112" cy="603504"/>
          </a:xfrm>
          <a:prstGeom prst="roundRect">
            <a:avLst>
              <a:gd name="adj" fmla="val 9091"/>
            </a:avLst>
          </a:prstGeom>
          <a:solidFill>
            <a:srgbClr val="1C4E7A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980944"/>
            <a:ext cx="896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37360" y="2944368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spc="12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CONSUME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1737360" y="3218688"/>
            <a:ext cx="4261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PaaS: managed Kubernetes, PostgreSQL, message queue — not provisioned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66928" y="3877056"/>
            <a:ext cx="5577840" cy="100584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232" y="4078224"/>
            <a:ext cx="896112" cy="603504"/>
          </a:xfrm>
          <a:prstGeom prst="roundRect">
            <a:avLst>
              <a:gd name="adj" fmla="val 9091"/>
            </a:avLst>
          </a:prstGeom>
          <a:solidFill>
            <a:srgbClr val="0B1B2B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078224"/>
            <a:ext cx="896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37360" y="4041648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spc="12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CONSUME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1737360" y="4315968"/>
            <a:ext cx="4261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servers, virtual networks, block and object storage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6446520" y="129844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model — hybrid, by necessity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46520" y="1682496"/>
            <a:ext cx="5193792" cy="100584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38544" y="1901952"/>
            <a:ext cx="237744" cy="23774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23" name="Text 21"/>
          <p:cNvSpPr/>
          <p:nvPr/>
        </p:nvSpPr>
        <p:spPr>
          <a:xfrm>
            <a:off x="6986016" y="1847088"/>
            <a:ext cx="4443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986016" y="2139696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platform — booking, dispatch, AI, analytics. Elastic and cost-proportional.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6446520" y="2779776"/>
            <a:ext cx="5193792" cy="100584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38544" y="2999232"/>
            <a:ext cx="237744" cy="237744"/>
          </a:xfrm>
          <a:prstGeom prst="ellipse">
            <a:avLst/>
          </a:prstGeom>
          <a:solidFill>
            <a:srgbClr val="1C4E7A"/>
          </a:solidFill>
          <a:ln/>
        </p:spPr>
      </p:sp>
      <p:sp>
        <p:nvSpPr>
          <p:cNvPr id="27" name="Text 25"/>
          <p:cNvSpPr/>
          <p:nvPr/>
        </p:nvSpPr>
        <p:spPr>
          <a:xfrm>
            <a:off x="6986016" y="2944368"/>
            <a:ext cx="4443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/ dedicated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986016" y="3236976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incident data and citizen medical records — isolation is a legal requirement.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6446520" y="3877056"/>
            <a:ext cx="5193792" cy="100584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38544" y="4096512"/>
            <a:ext cx="237744" cy="237744"/>
          </a:xfrm>
          <a:prstGeom prst="ellipse">
            <a:avLst/>
          </a:prstGeom>
          <a:solidFill>
            <a:srgbClr val="C77F00"/>
          </a:solidFill>
          <a:ln/>
        </p:spPr>
      </p:sp>
      <p:sp>
        <p:nvSpPr>
          <p:cNvPr id="31" name="Text 29"/>
          <p:cNvSpPr/>
          <p:nvPr/>
        </p:nvSpPr>
        <p:spPr>
          <a:xfrm>
            <a:off x="6986016" y="4041648"/>
            <a:ext cx="4443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on-device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986016" y="4334256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detection and diagnosis run on the phone, so the system survives zero connectivity.</a:t>
            </a:r>
            <a:endParaRPr lang="en-US" sz="1040" dirty="0"/>
          </a:p>
        </p:txBody>
      </p:sp>
      <p:sp>
        <p:nvSpPr>
          <p:cNvPr id="33" name="Shape 31"/>
          <p:cNvSpPr/>
          <p:nvPr/>
        </p:nvSpPr>
        <p:spPr>
          <a:xfrm>
            <a:off x="566928" y="5065776"/>
            <a:ext cx="11057839" cy="118872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04672" y="5193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boundaries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04672" y="5504688"/>
            <a:ext cx="105823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provider: the data centre, hypervisor and managed services.   ·   Cloud consumer (us): application, data and configuration.   ·   Cloud service owner: our team owns every RoadAssist service.   ·   Cloud resource administrator: P4.   ·   The organisational boundary ends at our virtual network; the trust boundary extends into every managed service we call.</a:t>
            </a:r>
            <a:endParaRPr lang="en-US" sz="1100" dirty="0"/>
          </a:p>
        </p:txBody>
      </p:sp>
    </p:spTree>
  </p:cSld>
  <p:clrMapOvr>
    <a:masterClrMapping/>
  </p:clrMapOvr>
  <p:transition xmlns:p14="http://schemas.microsoft.com/office/powerpoint/2010/main" spd="med" p14:dur="700">
    <p:push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Enabling Technologies We Use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673352"/>
            <a:ext cx="347472" cy="34747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673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43584" y="15179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centre technology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43584" y="184708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Multi-region, multi-AZ Indian regions with redundant power, cooling and network paths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90688" y="1636776"/>
            <a:ext cx="3703320" cy="402336"/>
          </a:xfrm>
          <a:prstGeom prst="roundRect">
            <a:avLst>
              <a:gd name="adj" fmla="val 11364"/>
            </a:avLst>
          </a:prstGeom>
          <a:solidFill>
            <a:srgbClr val="E8EEF4"/>
          </a:solidFill>
          <a:ln w="12700">
            <a:solidFill>
              <a:srgbClr val="D5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36408" y="1636776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C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Mumbai (primary) · Hyderabad (DR)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566928" y="2377440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68096" y="2660904"/>
            <a:ext cx="347472" cy="34747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2660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43584" y="25054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technology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43584" y="283464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Hardware-level virtual servers plus OS-level containers for every microservice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90688" y="2624328"/>
            <a:ext cx="3703320" cy="402336"/>
          </a:xfrm>
          <a:prstGeom prst="roundRect">
            <a:avLst>
              <a:gd name="adj" fmla="val 11364"/>
            </a:avLst>
          </a:prstGeom>
          <a:solidFill>
            <a:srgbClr val="E8EEF4"/>
          </a:solidFill>
          <a:ln w="12700">
            <a:solidFill>
              <a:srgbClr val="D5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36408" y="2624328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C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containers (Kubernetes nodes are the target, not deployed)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566928" y="3364992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68096" y="3648456"/>
            <a:ext cx="347472" cy="34747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" y="3648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43584" y="34930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technology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43584" y="382219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over HTTPS, server-sent events for live tracking, and a Progressive Web App client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90688" y="3611880"/>
            <a:ext cx="3703320" cy="402336"/>
          </a:xfrm>
          <a:prstGeom prst="roundRect">
            <a:avLst>
              <a:gd name="adj" fmla="val 11364"/>
            </a:avLst>
          </a:prstGeom>
          <a:solidFill>
            <a:srgbClr val="E8EEF4"/>
          </a:solidFill>
          <a:ln w="12700">
            <a:solidFill>
              <a:srgbClr val="D5E0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36408" y="361188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C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3.1 · TLS 1.3 · WSS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566928" y="4352544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8096" y="4636008"/>
            <a:ext cx="347472" cy="34747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7" name="Text 25"/>
          <p:cNvSpPr/>
          <p:nvPr/>
        </p:nvSpPr>
        <p:spPr>
          <a:xfrm>
            <a:off x="768096" y="4636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43584" y="44805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Multitenant technology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43584" y="480974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deployment serves citizens, mechanics, fleets and government tenants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790688" y="4599432"/>
            <a:ext cx="3703320" cy="402336"/>
          </a:xfrm>
          <a:prstGeom prst="roundRect">
            <a:avLst>
              <a:gd name="adj" fmla="val 11364"/>
            </a:avLst>
          </a:prstGeom>
          <a:solidFill>
            <a:srgbClr val="E8EEF4"/>
          </a:solidFill>
          <a:ln w="12700">
            <a:solidFill>
              <a:srgbClr val="D5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36408" y="4599432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C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isolation + per-tenant encryption keys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566928" y="5340096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68096" y="5623560"/>
            <a:ext cx="347472" cy="34747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4" name="Text 32"/>
          <p:cNvSpPr/>
          <p:nvPr/>
        </p:nvSpPr>
        <p:spPr>
          <a:xfrm>
            <a:off x="768096" y="5623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43584" y="54681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technology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243584" y="579729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Loosely coupled services behind an API gateway, communicating over an event bus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790688" y="5586984"/>
            <a:ext cx="3703320" cy="402336"/>
          </a:xfrm>
          <a:prstGeom prst="roundRect">
            <a:avLst>
              <a:gd name="adj" fmla="val 11364"/>
            </a:avLst>
          </a:prstGeom>
          <a:solidFill>
            <a:srgbClr val="E8EEF4"/>
          </a:solidFill>
          <a:ln w="12700">
            <a:solidFill>
              <a:srgbClr val="D5E0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36408" y="5586984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C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services · gateway · async event bus</a:t>
            </a:r>
            <a:endParaRPr lang="en-US" sz="940" dirty="0"/>
          </a:p>
        </p:txBody>
      </p:sp>
    </p:spTree>
  </p:cSld>
  <p:clrMapOvr>
    <a:masterClrMapping/>
  </p:clrMapOvr>
  <p:transition xmlns:p14="http://schemas.microsoft.com/office/powerpoint/2010/main" spd="med" p14:dur="700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Infrastructure Mechanisms in Our Design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3612794" cy="228600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645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" y="2249424"/>
            <a:ext cx="32104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perimeter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8096" y="265176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private cloud with private subnets; a single public ingress protected by a web application firewall. No service is directly reachable from the internet.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289450" y="1389888"/>
            <a:ext cx="3612794" cy="228600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90618" y="1645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C4E7A"/>
          </a:solidFill>
          <a:ln/>
        </p:spPr>
      </p:sp>
      <p:sp>
        <p:nvSpPr>
          <p:cNvPr id="11" name="Text 9"/>
          <p:cNvSpPr/>
          <p:nvPr/>
        </p:nvSpPr>
        <p:spPr>
          <a:xfrm>
            <a:off x="449061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90618" y="2249424"/>
            <a:ext cx="32104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server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90618" y="265176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Kubernetes worker nodes built from hardened, pre-patched machine images. Nodes replaceable, never repaired in place.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011973" y="1389888"/>
            <a:ext cx="3612794" cy="228600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13141" y="1645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9E6B"/>
          </a:solidFill>
          <a:ln/>
        </p:spPr>
      </p:sp>
      <p:sp>
        <p:nvSpPr>
          <p:cNvPr id="16" name="Text 14"/>
          <p:cNvSpPr/>
          <p:nvPr/>
        </p:nvSpPr>
        <p:spPr>
          <a:xfrm>
            <a:off x="8213141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13141" y="2249424"/>
            <a:ext cx="32104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storage device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13141" y="265176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volumes for the database, object storage for diagnostic photos and offline map packs, encrypted at rest.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66928" y="3840480"/>
            <a:ext cx="3612794" cy="228600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40965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77F00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8096" y="4700016"/>
            <a:ext cx="32104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usage monitor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8096" y="5102352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BUILT: structured logs with a request id and per-operation duration. TARGET: distributed traces feeding autoscaling and SLO alerts.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289450" y="3840480"/>
            <a:ext cx="3612794" cy="228600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90618" y="40965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5484D"/>
          </a:solidFill>
          <a:ln/>
        </p:spPr>
      </p:sp>
      <p:sp>
        <p:nvSpPr>
          <p:cNvPr id="26" name="Text 24"/>
          <p:cNvSpPr/>
          <p:nvPr/>
        </p:nvSpPr>
        <p:spPr>
          <a:xfrm>
            <a:off x="4490618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90618" y="4700016"/>
            <a:ext cx="32104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replication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90618" y="5102352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database replicas across availability zones; stateless services replicated behind the load balancer; object storage replicated to a second region.</a:t>
            </a:r>
            <a:endParaRPr lang="en-US" sz="1080" dirty="0"/>
          </a:p>
        </p:txBody>
      </p:sp>
    </p:spTree>
  </p:cSld>
  <p:clrMapOvr>
    <a:masterClrMapping/>
  </p:clrMapOvr>
  <p:transition xmlns:p14="http://schemas.microsoft.com/office/powerpoint/2010/main" spd="med" p14:dur="700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2 &amp; 3 · VISUALISED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Virtualization, Multitenancy and the Network Perimeter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3576218" cy="4315968"/>
          </a:xfrm>
          <a:prstGeom prst="roundRect">
            <a:avLst>
              <a:gd name="adj" fmla="val 1534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pic>
        <p:nvPicPr>
          <p:cNvPr id="5" name="Image 0" descr="img/virtualiz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316736"/>
            <a:ext cx="3320186" cy="18676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6384" y="3330645"/>
            <a:ext cx="3137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Virtualization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86384" y="3678117"/>
            <a:ext cx="313730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virtual server hosts many isolated containers. One container can be evicted and rescheduled without touching the others — which is why we can patch by replacement rather than repair.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4307738" y="1188720"/>
            <a:ext cx="3576218" cy="4315968"/>
          </a:xfrm>
          <a:prstGeom prst="roundRect">
            <a:avLst>
              <a:gd name="adj" fmla="val 1534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pic>
        <p:nvPicPr>
          <p:cNvPr id="9" name="Image 1" descr="img/multitena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754" y="1316736"/>
            <a:ext cx="3320186" cy="18676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27194" y="3330645"/>
            <a:ext cx="3137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Multitenancy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27194" y="3678117"/>
            <a:ext cx="313730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deployment serves citizens, mechanics, fleets and government. Glass walls are row-level security and per-tenant encryption keys; the beam above is the shared service layer.</a:t>
            </a:r>
            <a:endParaRPr lang="en-US" sz="1020" dirty="0"/>
          </a:p>
        </p:txBody>
      </p:sp>
      <p:sp>
        <p:nvSpPr>
          <p:cNvPr id="12" name="Shape 8"/>
          <p:cNvSpPr/>
          <p:nvPr/>
        </p:nvSpPr>
        <p:spPr>
          <a:xfrm>
            <a:off x="8048549" y="1188720"/>
            <a:ext cx="3576218" cy="4315968"/>
          </a:xfrm>
          <a:prstGeom prst="roundRect">
            <a:avLst>
              <a:gd name="adj" fmla="val 1534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pic>
        <p:nvPicPr>
          <p:cNvPr id="13" name="Image 2" descr="img/perime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565" y="1316736"/>
            <a:ext cx="3320186" cy="186760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68005" y="3330645"/>
            <a:ext cx="3137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perimeter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268005" y="3678117"/>
            <a:ext cx="313730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sits inside a private virtual network. Exactly one gateway is reachable from the internet, and everything entering passes the web application firewall.</a:t>
            </a:r>
            <a:endParaRPr lang="en-US" sz="1020" dirty="0"/>
          </a:p>
        </p:txBody>
      </p:sp>
      <p:sp>
        <p:nvSpPr>
          <p:cNvPr id="16" name="Text 11"/>
          <p:cNvSpPr/>
          <p:nvPr/>
        </p:nvSpPr>
        <p:spPr>
          <a:xfrm>
            <a:off x="566928" y="563270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illustrations are drawn to the same isometric scale — the container inside the virtual server is the same unit as the pod inside the perimeter.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spd="med" p14:dur="800">
    <p:zoom dir="in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auto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868680"/>
            <a:ext cx="5943600" cy="33467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2212848"/>
            <a:ext cx="896112" cy="89611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2212848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773936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4 – 5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773936" y="25420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Architecture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773936" y="327355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architectures · cloud operations · provider and consumer perspectives</a:t>
            </a:r>
            <a:endParaRPr lang="en-US" sz="1400" dirty="0"/>
          </a:p>
        </p:txBody>
      </p:sp>
    </p:spTree>
  </p:cSld>
  <p:clrMapOvr>
    <a:masterClrMapping/>
  </p:clrMapOvr>
  <p:transition xmlns:p14="http://schemas.microsoft.com/office/powerpoint/2010/main" spd="med" p14:dur="9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 Cloud Architectures Applied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2682164" cy="228600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27632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2176272"/>
            <a:ext cx="23164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Workload distribution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9808" y="2779776"/>
            <a:ext cx="23164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spread across replicas of every stateless service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3358820" y="1389888"/>
            <a:ext cx="2682164" cy="228600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41700" y="1627632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1" name="Text 9"/>
          <p:cNvSpPr/>
          <p:nvPr/>
        </p:nvSpPr>
        <p:spPr>
          <a:xfrm>
            <a:off x="354170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41700" y="2176272"/>
            <a:ext cx="23164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pooling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41700" y="2779776"/>
            <a:ext cx="23164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pools of compute, database connections and cache reused by all tenants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150712" y="1389888"/>
            <a:ext cx="2682164" cy="228600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33592" y="1627632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6" name="Text 14"/>
          <p:cNvSpPr/>
          <p:nvPr/>
        </p:nvSpPr>
        <p:spPr>
          <a:xfrm>
            <a:off x="6333592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33592" y="2176272"/>
            <a:ext cx="23164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scalability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333592" y="2779776"/>
            <a:ext cx="23164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autoscaler adds pods when request queue depth rises, removes them when it falls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942603" y="1389888"/>
            <a:ext cx="2682164" cy="228600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25483" y="1627632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1" name="Text 19"/>
          <p:cNvSpPr/>
          <p:nvPr/>
        </p:nvSpPr>
        <p:spPr>
          <a:xfrm>
            <a:off x="9125483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25483" y="2176272"/>
            <a:ext cx="23164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 resource capacity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125483" y="2779776"/>
            <a:ext cx="23164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pool grows and shrinks automatically with the pod count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66928" y="3840480"/>
            <a:ext cx="2682164" cy="228600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4078224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" y="4626864"/>
            <a:ext cx="23164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load balancing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49808" y="5230368"/>
            <a:ext cx="23164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Layer-7 balancer with health checks; unhealthy replicas removed from rotation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3358820" y="3840480"/>
            <a:ext cx="2682164" cy="228600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41700" y="4078224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1" name="Text 29"/>
          <p:cNvSpPr/>
          <p:nvPr/>
        </p:nvSpPr>
        <p:spPr>
          <a:xfrm>
            <a:off x="3541700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41700" y="4626864"/>
            <a:ext cx="23164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bursting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3541700" y="5230368"/>
            <a:ext cx="23164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and festival surges burst into additional on-demand capacity, then release it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6150712" y="3840480"/>
            <a:ext cx="2682164" cy="228600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33592" y="4078224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6" name="Text 34"/>
          <p:cNvSpPr/>
          <p:nvPr/>
        </p:nvSpPr>
        <p:spPr>
          <a:xfrm>
            <a:off x="6333592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33592" y="4626864"/>
            <a:ext cx="23164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 disk provisioning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6333592" y="5230368"/>
            <a:ext cx="23164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volumes expand on demand; we are billed for what is consumed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8942603" y="3840480"/>
            <a:ext cx="2682164" cy="228600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125483" y="4078224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41" name="Text 39"/>
          <p:cNvSpPr/>
          <p:nvPr/>
        </p:nvSpPr>
        <p:spPr>
          <a:xfrm>
            <a:off x="9125483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125483" y="4626864"/>
            <a:ext cx="23164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Redundant storage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9125483" y="5230368"/>
            <a:ext cx="23164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primary and secondary storage replicated across zones with automatic failover</a:t>
            </a:r>
            <a:endParaRPr lang="en-US" sz="102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ANIMATED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506456" y="274320"/>
            <a:ext cx="1133856" cy="310896"/>
          </a:xfrm>
          <a:prstGeom prst="roundRect">
            <a:avLst>
              <a:gd name="adj" fmla="val 14706"/>
            </a:avLst>
          </a:prstGeom>
          <a:solidFill>
            <a:srgbClr val="E5484D"/>
          </a:solidFill>
          <a:ln/>
        </p:spPr>
      </p:sp>
      <p:sp>
        <p:nvSpPr>
          <p:cNvPr id="4" name="Shape 2"/>
          <p:cNvSpPr/>
          <p:nvPr/>
        </p:nvSpPr>
        <p:spPr>
          <a:xfrm>
            <a:off x="10634472" y="379476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762488" y="2743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5486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Scalability and Elastic Resource Capacity</a:t>
            </a:r>
            <a:endParaRPr lang="en-US" sz="2800" dirty="0"/>
          </a:p>
        </p:txBody>
      </p:sp>
      <p:pic>
        <p:nvPicPr>
          <p:cNvPr id="7" name="Image 0" descr="img/live-autoscale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70432"/>
            <a:ext cx="6583680" cy="3685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49377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how the autoscaler would add and release pods as queue depth rises and falls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406640" y="1170432"/>
            <a:ext cx="4233672" cy="987552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589520" y="1463040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1" name="Text 8"/>
          <p:cNvSpPr/>
          <p:nvPr/>
        </p:nvSpPr>
        <p:spPr>
          <a:xfrm>
            <a:off x="758952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065008" y="12984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065008" y="1572768"/>
            <a:ext cx="3419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depth per pod crosses the threshold — not CPU. Our load is I/O-bound, so CPU is the wrong signal.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7406640" y="2267712"/>
            <a:ext cx="4233672" cy="987552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589520" y="2560320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6" name="Text 13"/>
          <p:cNvSpPr/>
          <p:nvPr/>
        </p:nvSpPr>
        <p:spPr>
          <a:xfrm>
            <a:off x="758952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065008" y="23957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065008" y="2670048"/>
            <a:ext cx="3419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an HPA on queue depth, with a readiness gate so a pod joins only after a health check. BUILT: that readiness gate — /health returns 503 when the database is unreachable.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7406640" y="3364992"/>
            <a:ext cx="4233672" cy="987552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589520" y="3657600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1" name="Text 18"/>
          <p:cNvSpPr/>
          <p:nvPr/>
        </p:nvSpPr>
        <p:spPr>
          <a:xfrm>
            <a:off x="758952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065008" y="34930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capacity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065008" y="3767328"/>
            <a:ext cx="3419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if the existing nodes cannot host the new pods, the cluster autoscaler adds nodes — elastic resource capacity in the Module 4 sense.</a:t>
            </a:r>
            <a:endParaRPr lang="en-US" sz="920" dirty="0"/>
          </a:p>
        </p:txBody>
      </p:sp>
      <p:sp>
        <p:nvSpPr>
          <p:cNvPr id="24" name="Shape 21"/>
          <p:cNvSpPr/>
          <p:nvPr/>
        </p:nvSpPr>
        <p:spPr>
          <a:xfrm>
            <a:off x="7406640" y="4462272"/>
            <a:ext cx="4233672" cy="987552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589520" y="4754880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6" name="Text 23"/>
          <p:cNvSpPr/>
          <p:nvPr/>
        </p:nvSpPr>
        <p:spPr>
          <a:xfrm>
            <a:off x="758952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065008" y="45902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065008" y="4864608"/>
            <a:ext cx="3419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demand falls the pods are removed and the nodes are returned. Releasing capacity is what makes the cost proportional.</a:t>
            </a:r>
            <a:endParaRPr lang="en-US" sz="920" dirty="0"/>
          </a:p>
        </p:txBody>
      </p:sp>
    </p:spTree>
  </p:cSld>
  <p:clrMapOvr>
    <a:masterClrMapping/>
  </p:clrMapOvr>
  <p:transition xmlns:p14="http://schemas.microsoft.com/office/powerpoint/2010/main" spd="med" p14:dur="850">
    <p:zoom dir="in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ANIMATED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506456" y="274320"/>
            <a:ext cx="1133856" cy="310896"/>
          </a:xfrm>
          <a:prstGeom prst="roundRect">
            <a:avLst>
              <a:gd name="adj" fmla="val 14706"/>
            </a:avLst>
          </a:prstGeom>
          <a:solidFill>
            <a:srgbClr val="E5484D"/>
          </a:solidFill>
          <a:ln/>
        </p:spPr>
      </p:sp>
      <p:sp>
        <p:nvSpPr>
          <p:cNvPr id="4" name="Shape 2"/>
          <p:cNvSpPr/>
          <p:nvPr/>
        </p:nvSpPr>
        <p:spPr>
          <a:xfrm>
            <a:off x="10634472" y="379476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762488" y="2743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5486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Load Balancing and Redundant Storage</a:t>
            </a:r>
            <a:endParaRPr lang="en-US" sz="2800" dirty="0"/>
          </a:p>
        </p:txBody>
      </p:sp>
      <p:pic>
        <p:nvPicPr>
          <p:cNvPr id="7" name="Image 0" descr="img/live-loadbalance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70432"/>
            <a:ext cx="5391760" cy="3019385"/>
          </a:xfrm>
          <a:prstGeom prst="rect">
            <a:avLst/>
          </a:prstGeom>
        </p:spPr>
      </p:pic>
      <p:pic>
        <p:nvPicPr>
          <p:cNvPr id="8" name="Image 1" descr="img/live-replication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170432"/>
            <a:ext cx="5391760" cy="301938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66928" y="4390985"/>
            <a:ext cx="5391760" cy="192024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86384" y="4537289"/>
            <a:ext cx="495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Workload distribution + service load balancing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86384" y="5085929"/>
            <a:ext cx="495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inbound stream is spread across six healthy replicas. The balancer health-checks every replica and removes any that fails, so a single sick pod never receives traffic.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233008" y="4390985"/>
            <a:ext cx="5391760" cy="192024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452464" y="4537289"/>
            <a:ext cx="495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Redundant storage + resource replication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452464" y="5085929"/>
            <a:ext cx="495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three synchronised replicas across three availability zones, so losing a zone costs no data. Not deployed — today it is one node with a documented backup procedure.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spd="med" p14:dur="850">
    <p:zoom dir="in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Mapped to the Cloud Service Layers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88720" cy="1078992"/>
          </a:xfrm>
          <a:prstGeom prst="roundRect">
            <a:avLst>
              <a:gd name="adj" fmla="val 5085"/>
            </a:avLst>
          </a:prstGeom>
          <a:solidFill>
            <a:srgbClr val="FFB02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2801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1627632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to users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66928" y="2377440"/>
            <a:ext cx="1188720" cy="2084832"/>
          </a:xfrm>
          <a:prstGeom prst="roundRect">
            <a:avLst>
              <a:gd name="adj" fmla="val 4615"/>
            </a:avLst>
          </a:prstGeom>
          <a:solidFill>
            <a:srgbClr val="1C4E7A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487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283464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B9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on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566928" y="4590288"/>
            <a:ext cx="1188720" cy="1444752"/>
          </a:xfrm>
          <a:prstGeom prst="roundRect">
            <a:avLst>
              <a:gd name="adj" fmla="val 4615"/>
            </a:avLst>
          </a:prstGeom>
          <a:solidFill>
            <a:srgbClr val="0B1B2B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7000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1792" y="5047488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B9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it all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1956816" y="1170432"/>
            <a:ext cx="1860438" cy="1078992"/>
          </a:xfrm>
          <a:prstGeom prst="roundRect">
            <a:avLst>
              <a:gd name="adj" fmla="val 6780"/>
            </a:avLst>
          </a:prstGeom>
          <a:solidFill>
            <a:srgbClr val="FFE3AE"/>
          </a:solidFill>
          <a:ln w="12700">
            <a:solidFill>
              <a:srgbClr val="FFE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1170432"/>
            <a:ext cx="178728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(Android / iOS)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08694" y="1170432"/>
            <a:ext cx="1860438" cy="1078992"/>
          </a:xfrm>
          <a:prstGeom prst="roundRect">
            <a:avLst>
              <a:gd name="adj" fmla="val 6780"/>
            </a:avLst>
          </a:prstGeom>
          <a:solidFill>
            <a:srgbClr val="FFE3AE"/>
          </a:solidFill>
          <a:ln w="12700">
            <a:solidFill>
              <a:srgbClr val="FFE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45270" y="1170432"/>
            <a:ext cx="178728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PWA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60572" y="1170432"/>
            <a:ext cx="1860438" cy="1078992"/>
          </a:xfrm>
          <a:prstGeom prst="roundRect">
            <a:avLst>
              <a:gd name="adj" fmla="val 6780"/>
            </a:avLst>
          </a:prstGeom>
          <a:solidFill>
            <a:srgbClr val="FFE3AE"/>
          </a:solidFill>
          <a:ln w="12700">
            <a:solidFill>
              <a:srgbClr val="FFE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148" y="1170432"/>
            <a:ext cx="178728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 App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12451" y="1170432"/>
            <a:ext cx="1860438" cy="1078992"/>
          </a:xfrm>
          <a:prstGeom prst="roundRect">
            <a:avLst>
              <a:gd name="adj" fmla="val 6780"/>
            </a:avLst>
          </a:prstGeom>
          <a:solidFill>
            <a:srgbClr val="FFE3AE"/>
          </a:solidFill>
          <a:ln w="12700">
            <a:solidFill>
              <a:srgbClr val="FFE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49027" y="1170432"/>
            <a:ext cx="178728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Dashboard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764329" y="1170432"/>
            <a:ext cx="1860438" cy="1078992"/>
          </a:xfrm>
          <a:prstGeom prst="roundRect">
            <a:avLst>
              <a:gd name="adj" fmla="val 678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00905" y="1170432"/>
            <a:ext cx="178728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Phone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· IVR · USSD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90792" y="2267712"/>
            <a:ext cx="0" cy="201168"/>
          </a:xfrm>
          <a:prstGeom prst="line">
            <a:avLst/>
          </a:prstGeom>
          <a:noFill/>
          <a:ln w="19050">
            <a:solidFill>
              <a:srgbClr val="1C4E7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956816" y="2487168"/>
            <a:ext cx="9667951" cy="475488"/>
          </a:xfrm>
          <a:prstGeom prst="roundRect">
            <a:avLst>
              <a:gd name="adj" fmla="val 15385"/>
            </a:avLst>
          </a:prstGeom>
          <a:solidFill>
            <a:srgbClr val="1C4E7A"/>
          </a:solidFill>
          <a:ln w="12700">
            <a:solidFill>
              <a:srgbClr val="1C4E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93392" y="2487168"/>
            <a:ext cx="95947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 ·  Web Application Firewall  ·  TLS Termination  ·  Layer-7 Load Balancer  ·  Rate Limiting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90792" y="2980944"/>
            <a:ext cx="0" cy="182880"/>
          </a:xfrm>
          <a:prstGeom prst="line">
            <a:avLst/>
          </a:prstGeom>
          <a:noFill/>
          <a:ln w="19050">
            <a:solidFill>
              <a:srgbClr val="1C4E7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956816" y="3200400"/>
            <a:ext cx="1302759" cy="658368"/>
          </a:xfrm>
          <a:prstGeom prst="roundRect">
            <a:avLst>
              <a:gd name="adj" fmla="val 11111"/>
            </a:avLst>
          </a:prstGeom>
          <a:solidFill>
            <a:srgbClr val="DCE7F0"/>
          </a:solidFill>
          <a:ln w="12700">
            <a:solidFill>
              <a:srgbClr val="DCE7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93392" y="3200400"/>
            <a:ext cx="1229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51015" y="3200400"/>
            <a:ext cx="1302759" cy="658368"/>
          </a:xfrm>
          <a:prstGeom prst="roundRect">
            <a:avLst>
              <a:gd name="adj" fmla="val 11111"/>
            </a:avLst>
          </a:prstGeom>
          <a:solidFill>
            <a:srgbClr val="DCE7F0"/>
          </a:solidFill>
          <a:ln w="12700">
            <a:solidFill>
              <a:srgbClr val="DCE7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7591" y="3200400"/>
            <a:ext cx="1229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45213" y="3200400"/>
            <a:ext cx="1302759" cy="658368"/>
          </a:xfrm>
          <a:prstGeom prst="roundRect">
            <a:avLst>
              <a:gd name="adj" fmla="val 11111"/>
            </a:avLst>
          </a:prstGeom>
          <a:solidFill>
            <a:srgbClr val="DCE7F0"/>
          </a:solidFill>
          <a:ln w="12700">
            <a:solidFill>
              <a:srgbClr val="DCE7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1789" y="3200400"/>
            <a:ext cx="1229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39412" y="3200400"/>
            <a:ext cx="1302759" cy="658368"/>
          </a:xfrm>
          <a:prstGeom prst="roundRect">
            <a:avLst>
              <a:gd name="adj" fmla="val 11111"/>
            </a:avLst>
          </a:prstGeom>
          <a:solidFill>
            <a:srgbClr val="DCE7F0"/>
          </a:solidFill>
          <a:ln w="12700">
            <a:solidFill>
              <a:srgbClr val="DCE7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5988" y="3200400"/>
            <a:ext cx="1229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533611" y="3200400"/>
            <a:ext cx="1302759" cy="658368"/>
          </a:xfrm>
          <a:prstGeom prst="roundRect">
            <a:avLst>
              <a:gd name="adj" fmla="val 11111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70187" y="3200400"/>
            <a:ext cx="1229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927810" y="3200400"/>
            <a:ext cx="1302759" cy="658368"/>
          </a:xfrm>
          <a:prstGeom prst="roundRect">
            <a:avLst>
              <a:gd name="adj" fmla="val 11111"/>
            </a:avLst>
          </a:prstGeom>
          <a:solidFill>
            <a:srgbClr val="DCE7F0"/>
          </a:solidFill>
          <a:ln w="12700">
            <a:solidFill>
              <a:srgbClr val="DCE7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64386" y="3200400"/>
            <a:ext cx="1229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0322008" y="3200400"/>
            <a:ext cx="1302759" cy="658368"/>
          </a:xfrm>
          <a:prstGeom prst="roundRect">
            <a:avLst>
              <a:gd name="adj" fmla="val 11111"/>
            </a:avLst>
          </a:prstGeom>
          <a:solidFill>
            <a:srgbClr val="DCE7F0"/>
          </a:solidFill>
          <a:ln w="12700">
            <a:solidFill>
              <a:srgbClr val="DC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58584" y="3200400"/>
            <a:ext cx="1229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956816" y="3913632"/>
            <a:ext cx="96679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auto-scaling pods on managed Kubernetes · stateless · replicated across 3 AZs.  TODAY: one stateless container.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6790792" y="4169664"/>
            <a:ext cx="0" cy="182880"/>
          </a:xfrm>
          <a:prstGeom prst="line">
            <a:avLst/>
          </a:prstGeom>
          <a:noFill/>
          <a:ln w="19050">
            <a:solidFill>
              <a:srgbClr val="1C4E7A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956816" y="4590288"/>
            <a:ext cx="1860438" cy="731520"/>
          </a:xfrm>
          <a:prstGeom prst="roundRect">
            <a:avLst>
              <a:gd name="adj" fmla="val 1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93392" y="4590288"/>
            <a:ext cx="17872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+ replicas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908694" y="4590288"/>
            <a:ext cx="1860438" cy="731520"/>
          </a:xfrm>
          <a:prstGeom prst="roundRect">
            <a:avLst>
              <a:gd name="adj" fmla="val 10000"/>
            </a:avLst>
          </a:prstGeom>
          <a:solidFill>
            <a:srgbClr val="DCE7F0"/>
          </a:solidFill>
          <a:ln w="12700">
            <a:solidFill>
              <a:srgbClr val="DCE7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45270" y="4590288"/>
            <a:ext cx="17872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pooling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860572" y="4590288"/>
            <a:ext cx="1860438" cy="731520"/>
          </a:xfrm>
          <a:prstGeom prst="roundRect">
            <a:avLst>
              <a:gd name="adj" fmla="val 10000"/>
            </a:avLst>
          </a:prstGeom>
          <a:solidFill>
            <a:srgbClr val="DCE7F0"/>
          </a:solidFill>
          <a:ln w="12700">
            <a:solidFill>
              <a:srgbClr val="DCE7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97148" y="4590288"/>
            <a:ext cx="17872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· map packs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812451" y="4590288"/>
            <a:ext cx="1860438" cy="731520"/>
          </a:xfrm>
          <a:prstGeom prst="roundRect">
            <a:avLst>
              <a:gd name="adj" fmla="val 10000"/>
            </a:avLst>
          </a:prstGeom>
          <a:solidFill>
            <a:srgbClr val="DCE7F0"/>
          </a:solidFill>
          <a:ln w="12700">
            <a:solidFill>
              <a:srgbClr val="DCE7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49027" y="4590288"/>
            <a:ext cx="17872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messaging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764329" y="4590288"/>
            <a:ext cx="1860438" cy="731520"/>
          </a:xfrm>
          <a:prstGeom prst="roundRect">
            <a:avLst>
              <a:gd name="adj" fmla="val 10000"/>
            </a:avLst>
          </a:prstGeom>
          <a:solidFill>
            <a:srgbClr val="DCE7F0"/>
          </a:solidFill>
          <a:ln w="12700">
            <a:solidFill>
              <a:srgbClr val="DCE7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800905" y="4590288"/>
            <a:ext cx="17872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monitor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1956816" y="5431536"/>
            <a:ext cx="9667951" cy="384048"/>
          </a:xfrm>
          <a:prstGeom prst="roundRect">
            <a:avLst>
              <a:gd name="adj" fmla="val 19048"/>
            </a:avLst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993392" y="5431536"/>
            <a:ext cx="95947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Servers  ·  Virtual Private Cloud  ·  Private Subnets  ·  Block &amp; Object Storage  ·  Encrypted at Rest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66928" y="6199632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box maps to a Module 3 mechanism or a Module 4 architecture. The emergency service (red) is deployed separately so it survives failure of the rest of the platform.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spd="med" p14:dur="750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CLOUD OPERATIONS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 and Scheduling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5577840" cy="2331720"/>
          </a:xfrm>
          <a:prstGeom prst="roundRect">
            <a:avLst>
              <a:gd name="adj" fmla="val 2353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5361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 strategy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4672" y="197510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live VM migration — workloads move between hosts with no downtime during maintenance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239572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deployment — pods replaced in batches, never all at once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281635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→ migrate → contract — database schema changes stay backward compatible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323697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Blue/green cutover with automatic rollback if error rate rises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46520" y="1389888"/>
            <a:ext cx="5193792" cy="2331720"/>
          </a:xfrm>
          <a:prstGeom prst="roundRect">
            <a:avLst>
              <a:gd name="adj" fmla="val 2353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84264" y="15361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84264" y="19751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84264" y="223113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model training and analytics batch jobs run on a fixed schedule on cheaper interruptible capacity.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6684264" y="28346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84264" y="3090672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 requests are scheduled in real time by queue depth, mechanic availability and geography — the scheduler decides which node and which mechanic, per request.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66928" y="3931920"/>
            <a:ext cx="11057839" cy="1965960"/>
          </a:xfrm>
          <a:prstGeom prst="roundRect">
            <a:avLst>
              <a:gd name="adj" fmla="val 2791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4672" y="40599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bursting in practice — a monsoon evening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" y="4480560"/>
            <a:ext cx="199339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2E9E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459028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77824" y="486460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7824" y="5157216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pods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2825496" y="5074920"/>
            <a:ext cx="164592" cy="0"/>
          </a:xfrm>
          <a:prstGeom prst="line">
            <a:avLst/>
          </a:prstGeom>
          <a:noFill/>
          <a:ln w="2540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017520" y="4480560"/>
            <a:ext cx="199339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459028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18:20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090672" y="486460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begins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090672" y="5157216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depth rises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038344" y="5074920"/>
            <a:ext cx="164592" cy="0"/>
          </a:xfrm>
          <a:prstGeom prst="line">
            <a:avLst/>
          </a:prstGeom>
          <a:noFill/>
          <a:ln w="2540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230368" y="4480560"/>
            <a:ext cx="199339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C77F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459028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18:25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303520" y="486460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303520" y="5157216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→ 22 pods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7251192" y="5074920"/>
            <a:ext cx="164592" cy="0"/>
          </a:xfrm>
          <a:prstGeom prst="line">
            <a:avLst/>
          </a:prstGeom>
          <a:noFill/>
          <a:ln w="2540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443216" y="4480560"/>
            <a:ext cx="199339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16368" y="459028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18:40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516368" y="486460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516368" y="5157216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nodes added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9464040" y="5074920"/>
            <a:ext cx="164592" cy="0"/>
          </a:xfrm>
          <a:prstGeom prst="line">
            <a:avLst/>
          </a:prstGeom>
          <a:noFill/>
          <a:ln w="2540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656064" y="4480560"/>
            <a:ext cx="199339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2E9E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29216" y="459028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21:00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729216" y="486460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9729216" y="5157216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6 pods</a:t>
            </a:r>
            <a:endParaRPr lang="en-US" sz="960" dirty="0"/>
          </a:p>
        </p:txBody>
      </p:sp>
    </p:spTree>
  </p:cSld>
  <p:clrMapOvr>
    <a:masterClrMapping/>
  </p:clrMapOvr>
  <p:transition xmlns:p14="http://schemas.microsoft.com/office/powerpoint/2010/main" spd="med" p14:dur="700">
    <p:push dir="l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 and Consumer Perspectives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28016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occupy both sides of the cloud relationship. That dual role shapes every design decision in this project.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19072"/>
            <a:ext cx="5577840" cy="4069080"/>
          </a:xfrm>
          <a:prstGeom prst="roundRect">
            <a:avLst>
              <a:gd name="adj" fmla="val 1348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01952"/>
            <a:ext cx="2743200" cy="402336"/>
          </a:xfrm>
          <a:prstGeom prst="roundRect">
            <a:avLst>
              <a:gd name="adj" fmla="val 11364"/>
            </a:avLst>
          </a:prstGeom>
          <a:solidFill>
            <a:srgbClr val="1C4E7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90195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CLOUD CONSUMER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4672" y="24871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IaaS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2798064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select instance types, size node pools, configure the virtual network, and manage volumes and snapshots.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04672" y="35478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PaaS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04672" y="3858768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we would consume managed Kubernetes, managed PostgreSQL and a managed message queue — no patching, no failover scripts.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804672" y="46085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SaaS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4919472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consume third-party SaaS for SMS delivery, payments, maps and error reporting.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446520" y="1719072"/>
            <a:ext cx="5193792" cy="4069080"/>
          </a:xfrm>
          <a:prstGeom prst="roundRect">
            <a:avLst>
              <a:gd name="adj" fmla="val 1348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84264" y="1901952"/>
            <a:ext cx="2743200" cy="402336"/>
          </a:xfrm>
          <a:prstGeom prst="roundRect">
            <a:avLst>
              <a:gd name="adj" fmla="val 11364"/>
            </a:avLst>
          </a:prstGeom>
          <a:solidFill>
            <a:srgbClr val="FFB020"/>
          </a:solidFill>
          <a:ln/>
        </p:spPr>
      </p:sp>
      <p:sp>
        <p:nvSpPr>
          <p:cNvPr id="16" name="Text 14"/>
          <p:cNvSpPr/>
          <p:nvPr/>
        </p:nvSpPr>
        <p:spPr>
          <a:xfrm>
            <a:off x="6684264" y="190195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CLOUD PROVIDER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84264" y="2487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our SaaS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84264" y="2798064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multi-tenant deployment serves citizens, mechanics, fleets and government with row-level isolation.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6684264" y="35478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Equipping a PaaS layer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84264" y="3858768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publish APIs and webhooks so insurers and fleet operators build on our platform.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6684264" y="46085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SLA to consumers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84264" y="4919472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for the core platform, 99.99% for the emergency service, with published error budgets.</a:t>
            </a:r>
            <a:endParaRPr lang="en-US" sz="1080" dirty="0"/>
          </a:p>
        </p:txBody>
      </p:sp>
    </p:spTree>
  </p:cSld>
  <p:clrMapOvr>
    <a:masterClrMapping/>
  </p:clrMapOvr>
  <p:transition xmlns:p14="http://schemas.microsoft.com/office/powerpoint/2010/main" spd="med" p14:dur="700">
    <p:push dir="l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ecu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868680"/>
            <a:ext cx="5943600" cy="33467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2212848"/>
            <a:ext cx="896112" cy="89611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2212848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773936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773936" y="25420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Security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773936" y="327355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agents · encryption and hashing · digital signatures · PKI · IAM · SSO · security groups</a:t>
            </a:r>
            <a:endParaRPr lang="en-US" sz="1400" dirty="0"/>
          </a:p>
        </p:txBody>
      </p:sp>
    </p:spTree>
  </p:cSld>
  <p:clrMapOvr>
    <a:masterClrMapping/>
  </p:clrMapOvr>
  <p:transition xmlns:p14="http://schemas.microsoft.com/office/powerpoint/2010/main" spd="med" p14:dur="9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Security — Threats and Mechanisms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029200" cy="4846320"/>
          </a:xfrm>
          <a:prstGeom prst="roundRect">
            <a:avLst>
              <a:gd name="adj" fmla="val 1132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agents and cloud security threats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04672" y="1901952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attacker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62656" y="190195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of service against the public API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804672" y="2432304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service agent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62656" y="2432304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eavesdropping between services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804672" y="2962656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attacker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62656" y="2962656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 mechanic escalating privileges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804672" y="3493008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insider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62656" y="3493008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access to citizen medical records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804672" y="4023360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eavesdropping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62656" y="402336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Intercepting location data in transit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804672" y="4553712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authorization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962656" y="455371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another user's booking by changing an ID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804672" y="5084064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attack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962656" y="5084064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Escaping a container onto the host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804672" y="5614416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trust boundaries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62656" y="5614416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tenant leaking data across tenants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5742432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mechanisms we implement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742432" y="1901952"/>
            <a:ext cx="2798064" cy="987552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888736" y="199339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888736" y="2267712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in transit; AES-256 at rest; column-level encryption for medical and identity data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8668512" y="1901952"/>
            <a:ext cx="2798064" cy="987552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814816" y="199339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814816" y="2267712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 for credentials; SHA-256 hash chain making the audit log tamper-evident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5742432" y="2980944"/>
            <a:ext cx="2798064" cy="987552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888736" y="307238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888736" y="3346704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payloads on the emergency 112 handoff and on all partner webhooks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8668512" y="2980944"/>
            <a:ext cx="2798064" cy="987552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814816" y="307238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PKI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814816" y="3346704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authority issuing per-officer certificates for government portal access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5742432" y="4059936"/>
            <a:ext cx="2798064" cy="987552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888736" y="4151376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888736" y="4425696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roles, resource-scoped permissions, least privilege, no standing production access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8668512" y="4059936"/>
            <a:ext cx="2798064" cy="987552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814816" y="4151376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814816" y="4425696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token issued at login, honoured across all services for its short lifetime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5742432" y="5138928"/>
            <a:ext cx="2798064" cy="987552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888736" y="523036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888736" y="5504688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Default-deny virtual firewalls; each service reachable only by its declared callers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8668512" y="5138928"/>
            <a:ext cx="2798064" cy="987552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814816" y="523036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images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814816" y="5504688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Minimal, pre-patched machine images; nodes replaced rather than patched in place</a:t>
            </a:r>
            <a:endParaRPr lang="en-US" sz="92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VISUALISED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Defence in Depth — Identity, Access and the Trust Boundary</a:t>
            </a:r>
            <a:endParaRPr lang="en-US" sz="2700" dirty="0"/>
          </a:p>
        </p:txBody>
      </p:sp>
      <p:pic>
        <p:nvPicPr>
          <p:cNvPr id="4" name="Image 0" descr="img/secu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70432"/>
            <a:ext cx="5577840" cy="31363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43891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vectors dissolve at the perimeter; the shield is the security group, not the application</a:t>
            </a:r>
            <a:endParaRPr lang="en-US" sz="960" dirty="0"/>
          </a:p>
        </p:txBody>
      </p:sp>
      <p:sp>
        <p:nvSpPr>
          <p:cNvPr id="6" name="Shape 3"/>
          <p:cNvSpPr/>
          <p:nvPr/>
        </p:nvSpPr>
        <p:spPr>
          <a:xfrm>
            <a:off x="6309360" y="1170432"/>
            <a:ext cx="5330952" cy="3493008"/>
          </a:xfrm>
          <a:prstGeom prst="roundRect">
            <a:avLst>
              <a:gd name="adj" fmla="val 1571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28816" y="12984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 and IAM — one login, every service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547104" y="1737360"/>
            <a:ext cx="310896" cy="31089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9" name="Text 6"/>
          <p:cNvSpPr/>
          <p:nvPr/>
        </p:nvSpPr>
        <p:spPr>
          <a:xfrm>
            <a:off x="6547104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986016" y="16824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signs in once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326880" y="168249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password verified; identity proven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6702552" y="2066544"/>
            <a:ext cx="0" cy="182880"/>
          </a:xfrm>
          <a:prstGeom prst="line">
            <a:avLst/>
          </a:prstGeom>
          <a:noFill/>
          <a:ln w="19050">
            <a:solidFill>
              <a:srgbClr val="FFB02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47104" y="2322576"/>
            <a:ext cx="310896" cy="31089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4" name="Text 11"/>
          <p:cNvSpPr/>
          <p:nvPr/>
        </p:nvSpPr>
        <p:spPr>
          <a:xfrm>
            <a:off x="6547104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986016" y="226771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issued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326880" y="226771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signed token carries the role, never a password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6702552" y="2651760"/>
            <a:ext cx="0" cy="182880"/>
          </a:xfrm>
          <a:prstGeom prst="line">
            <a:avLst/>
          </a:prstGeom>
          <a:noFill/>
          <a:ln w="19050">
            <a:solidFill>
              <a:srgbClr val="FFB02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47104" y="2907792"/>
            <a:ext cx="310896" cy="31089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9" name="Text 16"/>
          <p:cNvSpPr/>
          <p:nvPr/>
        </p:nvSpPr>
        <p:spPr>
          <a:xfrm>
            <a:off x="6547104" y="290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986016" y="28529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verifies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326880" y="2852928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checked locally — no call back to the auth service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6702552" y="3236976"/>
            <a:ext cx="0" cy="182880"/>
          </a:xfrm>
          <a:prstGeom prst="line">
            <a:avLst/>
          </a:prstGeom>
          <a:noFill/>
          <a:ln w="19050">
            <a:solidFill>
              <a:srgbClr val="FFB02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47104" y="3493008"/>
            <a:ext cx="310896" cy="31089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4" name="Text 21"/>
          <p:cNvSpPr/>
          <p:nvPr/>
        </p:nvSpPr>
        <p:spPr>
          <a:xfrm>
            <a:off x="6547104" y="3493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986016" y="343814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decided per resource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326880" y="3438144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plus ownership, so nobody reads another user's booking</a:t>
            </a:r>
            <a:endParaRPr lang="en-US" sz="880" dirty="0"/>
          </a:p>
        </p:txBody>
      </p:sp>
      <p:sp>
        <p:nvSpPr>
          <p:cNvPr id="27" name="Shape 24"/>
          <p:cNvSpPr/>
          <p:nvPr/>
        </p:nvSpPr>
        <p:spPr>
          <a:xfrm>
            <a:off x="6702552" y="3822192"/>
            <a:ext cx="0" cy="182880"/>
          </a:xfrm>
          <a:prstGeom prst="line">
            <a:avLst/>
          </a:prstGeom>
          <a:noFill/>
          <a:ln w="19050">
            <a:solidFill>
              <a:srgbClr val="FFB02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547104" y="4078224"/>
            <a:ext cx="310896" cy="31089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9" name="Text 26"/>
          <p:cNvSpPr/>
          <p:nvPr/>
        </p:nvSpPr>
        <p:spPr>
          <a:xfrm>
            <a:off x="6547104" y="4078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986016" y="402336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Revocation is instant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326880" y="402336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out on one device and the token family dies everywhere</a:t>
            </a:r>
            <a:endParaRPr lang="en-US" sz="880" dirty="0"/>
          </a:p>
        </p:txBody>
      </p:sp>
      <p:sp>
        <p:nvSpPr>
          <p:cNvPr id="32" name="Shape 29"/>
          <p:cNvSpPr/>
          <p:nvPr/>
        </p:nvSpPr>
        <p:spPr>
          <a:xfrm>
            <a:off x="566928" y="4828032"/>
            <a:ext cx="11057839" cy="109728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804672" y="49377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virtual server images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804672" y="5230368"/>
            <a:ext cx="1058235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is built from a minimal, pre-patched image with no shell tools, no default credentials and no unused ports. When a vulnerability is published we do not patch the running node — we replace it. That is only affordable because the nodes are virtual and the services on them are stateless.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spd="med" p14:dur="800">
    <p:zoom dir="in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offline-dev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868680"/>
            <a:ext cx="5943600" cy="33467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2212848"/>
            <a:ext cx="896112" cy="89611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2212848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773936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773936" y="25420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and Output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773936" y="327355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works end to end · what we have built for Review 1</a:t>
            </a:r>
            <a:endParaRPr lang="en-US" sz="1400" dirty="0"/>
          </a:p>
        </p:txBody>
      </p:sp>
    </p:spTree>
  </p:cSld>
  <p:clrMapOvr>
    <a:masterClrMapping/>
  </p:clrMapOvr>
  <p:transition xmlns:p14="http://schemas.microsoft.com/office/powerpoint/2010/main" spd="med" p14:dur="9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80160"/>
            <a:ext cx="1629613" cy="2121408"/>
          </a:xfrm>
          <a:prstGeom prst="roundRect">
            <a:avLst>
              <a:gd name="adj" fmla="val 4489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991" y="1499616"/>
            <a:ext cx="475488" cy="47548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6" name="Text 4"/>
          <p:cNvSpPr/>
          <p:nvPr/>
        </p:nvSpPr>
        <p:spPr>
          <a:xfrm>
            <a:off x="1143991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2139696"/>
            <a:ext cx="14467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2487168"/>
            <a:ext cx="144673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breaks down, or the on-device model detects a crash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2242261" y="2340864"/>
            <a:ext cx="164592" cy="0"/>
          </a:xfrm>
          <a:prstGeom prst="line">
            <a:avLst/>
          </a:prstGeom>
          <a:noFill/>
          <a:ln w="2540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52573" y="1280160"/>
            <a:ext cx="1629613" cy="2121408"/>
          </a:xfrm>
          <a:prstGeom prst="roundRect">
            <a:avLst>
              <a:gd name="adj" fmla="val 4489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29636" y="1499616"/>
            <a:ext cx="475488" cy="475488"/>
          </a:xfrm>
          <a:prstGeom prst="ellipse">
            <a:avLst/>
          </a:prstGeom>
          <a:solidFill>
            <a:srgbClr val="1C4E7A"/>
          </a:solidFill>
          <a:ln/>
        </p:spPr>
      </p:sp>
      <p:sp>
        <p:nvSpPr>
          <p:cNvPr id="12" name="Text 10"/>
          <p:cNvSpPr/>
          <p:nvPr/>
        </p:nvSpPr>
        <p:spPr>
          <a:xfrm>
            <a:off x="3029636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44013" y="2139696"/>
            <a:ext cx="14467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44013" y="2487168"/>
            <a:ext cx="144673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by voice, photo or OBD scan — works fully offline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4127906" y="2340864"/>
            <a:ext cx="164592" cy="0"/>
          </a:xfrm>
          <a:prstGeom prst="line">
            <a:avLst/>
          </a:prstGeom>
          <a:noFill/>
          <a:ln w="2540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38218" y="1280160"/>
            <a:ext cx="1629613" cy="2121408"/>
          </a:xfrm>
          <a:prstGeom prst="roundRect">
            <a:avLst>
              <a:gd name="adj" fmla="val 4489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15281" y="1499616"/>
            <a:ext cx="475488" cy="475488"/>
          </a:xfrm>
          <a:prstGeom prst="ellipse">
            <a:avLst/>
          </a:prstGeom>
          <a:solidFill>
            <a:srgbClr val="1C4E7A"/>
          </a:solidFill>
          <a:ln/>
        </p:spPr>
      </p:sp>
      <p:sp>
        <p:nvSpPr>
          <p:cNvPr id="18" name="Text 16"/>
          <p:cNvSpPr/>
          <p:nvPr/>
        </p:nvSpPr>
        <p:spPr>
          <a:xfrm>
            <a:off x="4915281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29658" y="2139696"/>
            <a:ext cx="14467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29658" y="2487168"/>
            <a:ext cx="144673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 returns probable fault, severity and parts needed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6013552" y="2340864"/>
            <a:ext cx="164592" cy="0"/>
          </a:xfrm>
          <a:prstGeom prst="line">
            <a:avLst/>
          </a:prstGeom>
          <a:noFill/>
          <a:ln w="2540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223864" y="1280160"/>
            <a:ext cx="1629613" cy="2121408"/>
          </a:xfrm>
          <a:prstGeom prst="roundRect">
            <a:avLst>
              <a:gd name="adj" fmla="val 4489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00926" y="1499616"/>
            <a:ext cx="475488" cy="475488"/>
          </a:xfrm>
          <a:prstGeom prst="ellipse">
            <a:avLst/>
          </a:prstGeom>
          <a:solidFill>
            <a:srgbClr val="1C4E7A"/>
          </a:solidFill>
          <a:ln/>
        </p:spPr>
      </p:sp>
      <p:sp>
        <p:nvSpPr>
          <p:cNvPr id="24" name="Text 22"/>
          <p:cNvSpPr/>
          <p:nvPr/>
        </p:nvSpPr>
        <p:spPr>
          <a:xfrm>
            <a:off x="6800926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15304" y="2139696"/>
            <a:ext cx="14467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15304" y="2487168"/>
            <a:ext cx="144673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query ranks nearby verified mechanics and sends offers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7899197" y="2340864"/>
            <a:ext cx="164592" cy="0"/>
          </a:xfrm>
          <a:prstGeom prst="line">
            <a:avLst/>
          </a:prstGeom>
          <a:noFill/>
          <a:ln w="2540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109509" y="1280160"/>
            <a:ext cx="1629613" cy="2121408"/>
          </a:xfrm>
          <a:prstGeom prst="roundRect">
            <a:avLst>
              <a:gd name="adj" fmla="val 4489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686571" y="1499616"/>
            <a:ext cx="475488" cy="475488"/>
          </a:xfrm>
          <a:prstGeom prst="ellipse">
            <a:avLst/>
          </a:prstGeom>
          <a:solidFill>
            <a:srgbClr val="1C4E7A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571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00949" y="2139696"/>
            <a:ext cx="14467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00949" y="2487168"/>
            <a:ext cx="144673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location streamed over server-sent events until the mechanic arrives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9784842" y="2340864"/>
            <a:ext cx="164592" cy="0"/>
          </a:xfrm>
          <a:prstGeom prst="line">
            <a:avLst/>
          </a:prstGeom>
          <a:noFill/>
          <a:ln w="2540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995154" y="1280160"/>
            <a:ext cx="1629613" cy="2121408"/>
          </a:xfrm>
          <a:prstGeom prst="roundRect">
            <a:avLst>
              <a:gd name="adj" fmla="val 4489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572217" y="1499616"/>
            <a:ext cx="475488" cy="475488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36" name="Text 34"/>
          <p:cNvSpPr/>
          <p:nvPr/>
        </p:nvSpPr>
        <p:spPr>
          <a:xfrm>
            <a:off x="10572217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0086594" y="2139696"/>
            <a:ext cx="14467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086594" y="2487168"/>
            <a:ext cx="144673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completed, digital invoice, cashless payment, rating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566928" y="3621024"/>
            <a:ext cx="11057839" cy="1389888"/>
          </a:xfrm>
          <a:prstGeom prst="roundRect">
            <a:avLst>
              <a:gd name="adj" fmla="val 3947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04672" y="3749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there is no network — the path that makes this different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04672" y="4096512"/>
            <a:ext cx="25632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04672" y="4370832"/>
            <a:ext cx="25632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and crash detection run on the phone in under 120 ms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3477692" y="4096512"/>
            <a:ext cx="25632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queue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477692" y="4370832"/>
            <a:ext cx="25632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is stored on the device and marked pending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6150712" y="4096512"/>
            <a:ext cx="25632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IVR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150712" y="4370832"/>
            <a:ext cx="25632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phone completes the whole journey over text or a voice menu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8823731" y="4096512"/>
            <a:ext cx="25632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8823731" y="4370832"/>
            <a:ext cx="25632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reconnect the queue replays; conflicts resolve server-side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566928" y="5138928"/>
            <a:ext cx="11057839" cy="1225296"/>
          </a:xfrm>
          <a:prstGeom prst="roundRect">
            <a:avLst>
              <a:gd name="adj" fmla="val 4478"/>
            </a:avLst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4672" y="52669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path — under 10 seconds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04672" y="5614416"/>
            <a:ext cx="1897014" cy="603504"/>
          </a:xfrm>
          <a:prstGeom prst="roundRect">
            <a:avLst>
              <a:gd name="adj" fmla="val 9091"/>
            </a:avLst>
          </a:prstGeom>
          <a:solidFill>
            <a:srgbClr val="14293D"/>
          </a:solidFill>
          <a:ln w="12700">
            <a:solidFill>
              <a:srgbClr val="1D3C5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536" y="5614416"/>
            <a:ext cx="17872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detected on device</a:t>
            </a:r>
            <a:endParaRPr lang="en-US" sz="940" dirty="0"/>
          </a:p>
        </p:txBody>
      </p:sp>
      <p:sp>
        <p:nvSpPr>
          <p:cNvPr id="53" name="Shape 51"/>
          <p:cNvSpPr/>
          <p:nvPr/>
        </p:nvSpPr>
        <p:spPr>
          <a:xfrm>
            <a:off x="2738262" y="5916168"/>
            <a:ext cx="201168" cy="0"/>
          </a:xfrm>
          <a:prstGeom prst="line">
            <a:avLst/>
          </a:prstGeom>
          <a:noFill/>
          <a:ln w="2540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2976006" y="5614416"/>
            <a:ext cx="1897014" cy="603504"/>
          </a:xfrm>
          <a:prstGeom prst="roundRect">
            <a:avLst>
              <a:gd name="adj" fmla="val 9091"/>
            </a:avLst>
          </a:prstGeom>
          <a:solidFill>
            <a:srgbClr val="14293D"/>
          </a:solidFill>
          <a:ln w="12700">
            <a:solidFill>
              <a:srgbClr val="1D3C5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30870" y="5614416"/>
            <a:ext cx="17872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cancel window</a:t>
            </a:r>
            <a:endParaRPr lang="en-US" sz="940" dirty="0"/>
          </a:p>
        </p:txBody>
      </p:sp>
      <p:sp>
        <p:nvSpPr>
          <p:cNvPr id="56" name="Shape 54"/>
          <p:cNvSpPr/>
          <p:nvPr/>
        </p:nvSpPr>
        <p:spPr>
          <a:xfrm>
            <a:off x="4909596" y="5916168"/>
            <a:ext cx="201168" cy="0"/>
          </a:xfrm>
          <a:prstGeom prst="line">
            <a:avLst/>
          </a:prstGeom>
          <a:noFill/>
          <a:ln w="2540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5147340" y="5614416"/>
            <a:ext cx="1897014" cy="603504"/>
          </a:xfrm>
          <a:prstGeom prst="roundRect">
            <a:avLst>
              <a:gd name="adj" fmla="val 9091"/>
            </a:avLst>
          </a:prstGeom>
          <a:solidFill>
            <a:srgbClr val="14293D"/>
          </a:solidFill>
          <a:ln w="12700">
            <a:solidFill>
              <a:srgbClr val="1D3C5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02204" y="5614416"/>
            <a:ext cx="17872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alerted with live location</a:t>
            </a:r>
            <a:endParaRPr lang="en-US" sz="940" dirty="0"/>
          </a:p>
        </p:txBody>
      </p:sp>
      <p:sp>
        <p:nvSpPr>
          <p:cNvPr id="59" name="Shape 57"/>
          <p:cNvSpPr/>
          <p:nvPr/>
        </p:nvSpPr>
        <p:spPr>
          <a:xfrm>
            <a:off x="7080931" y="5916168"/>
            <a:ext cx="201168" cy="0"/>
          </a:xfrm>
          <a:prstGeom prst="line">
            <a:avLst/>
          </a:prstGeom>
          <a:noFill/>
          <a:ln w="2540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7318675" y="5614416"/>
            <a:ext cx="1897014" cy="603504"/>
          </a:xfrm>
          <a:prstGeom prst="roundRect">
            <a:avLst>
              <a:gd name="adj" fmla="val 9091"/>
            </a:avLst>
          </a:prstGeom>
          <a:solidFill>
            <a:srgbClr val="14293D"/>
          </a:solidFill>
          <a:ln w="12700">
            <a:solidFill>
              <a:srgbClr val="1D3C5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73539" y="5614416"/>
            <a:ext cx="17872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responder notified</a:t>
            </a:r>
            <a:endParaRPr lang="en-US" sz="940" dirty="0"/>
          </a:p>
        </p:txBody>
      </p:sp>
      <p:sp>
        <p:nvSpPr>
          <p:cNvPr id="62" name="Shape 60"/>
          <p:cNvSpPr/>
          <p:nvPr/>
        </p:nvSpPr>
        <p:spPr>
          <a:xfrm>
            <a:off x="9252265" y="5916168"/>
            <a:ext cx="201168" cy="0"/>
          </a:xfrm>
          <a:prstGeom prst="line">
            <a:avLst/>
          </a:prstGeom>
          <a:noFill/>
          <a:ln w="2540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9490009" y="5614416"/>
            <a:ext cx="1897014" cy="603504"/>
          </a:xfrm>
          <a:prstGeom prst="roundRect">
            <a:avLst>
              <a:gd name="adj" fmla="val 9091"/>
            </a:avLst>
          </a:prstGeom>
          <a:solidFill>
            <a:srgbClr val="14293D"/>
          </a:solidFill>
          <a:ln w="12700">
            <a:solidFill>
              <a:srgbClr val="1D3C5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544873" y="5614416"/>
            <a:ext cx="17872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ERSS 112 handoff on confirmation</a:t>
            </a:r>
            <a:endParaRPr lang="en-US" sz="94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Offline-First — Where the Cloud Cannot Reach</a:t>
            </a:r>
            <a:endParaRPr lang="en-US" sz="2900" dirty="0"/>
          </a:p>
        </p:txBody>
      </p:sp>
      <p:pic>
        <p:nvPicPr>
          <p:cNvPr id="4" name="Image 0" descr="img/offline-dev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170432"/>
            <a:ext cx="5239512" cy="2944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0" y="4187952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runs on the handset; the broken rings are the network that is not there</a:t>
            </a:r>
            <a:endParaRPr lang="en-US" sz="960" dirty="0"/>
          </a:p>
        </p:txBody>
      </p:sp>
      <p:sp>
        <p:nvSpPr>
          <p:cNvPr id="6" name="Text 3"/>
          <p:cNvSpPr/>
          <p:nvPr/>
        </p:nvSpPr>
        <p:spPr>
          <a:xfrm>
            <a:off x="566928" y="1152144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roadside assistance platform that needs the internet fails at exactly the moment it is needed. Our design treats the absence of a network as the normal case, not the exception.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66928" y="1920240"/>
            <a:ext cx="5669280" cy="932688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8096" y="2194560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43584" y="2029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model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75888" y="2039112"/>
            <a:ext cx="1417320" cy="274320"/>
          </a:xfrm>
          <a:prstGeom prst="roundRect">
            <a:avLst>
              <a:gd name="adj" fmla="val 13333"/>
            </a:avLst>
          </a:prstGeom>
          <a:solidFill>
            <a:srgbClr val="E8EEF4"/>
          </a:solidFill>
          <a:ln/>
        </p:spPr>
      </p:sp>
      <p:sp>
        <p:nvSpPr>
          <p:cNvPr id="12" name="Text 9"/>
          <p:cNvSpPr/>
          <p:nvPr/>
        </p:nvSpPr>
        <p:spPr>
          <a:xfrm>
            <a:off x="3675888" y="20391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C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15 MB</a:t>
            </a:r>
            <a:endParaRPr lang="en-US" sz="860" dirty="0"/>
          </a:p>
        </p:txBody>
      </p:sp>
      <p:sp>
        <p:nvSpPr>
          <p:cNvPr id="13" name="Text 10"/>
          <p:cNvSpPr/>
          <p:nvPr/>
        </p:nvSpPr>
        <p:spPr>
          <a:xfrm>
            <a:off x="1243584" y="2340864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and crash detection run on the handset in under 120 ms with no connectivity at all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566928" y="2962656"/>
            <a:ext cx="5669280" cy="932688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68096" y="3236976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6" name="Text 13"/>
          <p:cNvSpPr/>
          <p:nvPr/>
        </p:nvSpPr>
        <p:spPr>
          <a:xfrm>
            <a:off x="768096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243584" y="3072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write queue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675888" y="3081528"/>
            <a:ext cx="1417320" cy="274320"/>
          </a:xfrm>
          <a:prstGeom prst="roundRect">
            <a:avLst>
              <a:gd name="adj" fmla="val 13333"/>
            </a:avLst>
          </a:prstGeom>
          <a:solidFill>
            <a:srgbClr val="E8EEF4"/>
          </a:solidFill>
          <a:ln/>
        </p:spPr>
      </p:sp>
      <p:sp>
        <p:nvSpPr>
          <p:cNvPr id="19" name="Text 16"/>
          <p:cNvSpPr/>
          <p:nvPr/>
        </p:nvSpPr>
        <p:spPr>
          <a:xfrm>
            <a:off x="3675888" y="30815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C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ordered</a:t>
            </a:r>
            <a:endParaRPr lang="en-US" sz="860" dirty="0"/>
          </a:p>
        </p:txBody>
      </p:sp>
      <p:sp>
        <p:nvSpPr>
          <p:cNvPr id="20" name="Text 17"/>
          <p:cNvSpPr/>
          <p:nvPr/>
        </p:nvSpPr>
        <p:spPr>
          <a:xfrm>
            <a:off x="1243584" y="338328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are stored on the device and marked pending; SOS always jumps the queue</a:t>
            </a:r>
            <a:endParaRPr lang="en-US" sz="940" dirty="0"/>
          </a:p>
        </p:txBody>
      </p:sp>
      <p:sp>
        <p:nvSpPr>
          <p:cNvPr id="21" name="Shape 18"/>
          <p:cNvSpPr/>
          <p:nvPr/>
        </p:nvSpPr>
        <p:spPr>
          <a:xfrm>
            <a:off x="566928" y="4005072"/>
            <a:ext cx="5669280" cy="932688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68096" y="4279392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3" name="Text 20"/>
          <p:cNvSpPr/>
          <p:nvPr/>
        </p:nvSpPr>
        <p:spPr>
          <a:xfrm>
            <a:off x="768096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243584" y="4114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· IVR · USSD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675888" y="4123944"/>
            <a:ext cx="1417320" cy="274320"/>
          </a:xfrm>
          <a:prstGeom prst="roundRect">
            <a:avLst>
              <a:gd name="adj" fmla="val 13333"/>
            </a:avLst>
          </a:prstGeom>
          <a:solidFill>
            <a:srgbClr val="E8EEF4"/>
          </a:solidFill>
          <a:ln/>
        </p:spPr>
      </p:sp>
      <p:sp>
        <p:nvSpPr>
          <p:cNvPr id="26" name="Text 23"/>
          <p:cNvSpPr/>
          <p:nvPr/>
        </p:nvSpPr>
        <p:spPr>
          <a:xfrm>
            <a:off x="3675888" y="41239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C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needed</a:t>
            </a:r>
            <a:endParaRPr lang="en-US" sz="860" dirty="0"/>
          </a:p>
        </p:txBody>
      </p:sp>
      <p:sp>
        <p:nvSpPr>
          <p:cNvPr id="27" name="Text 24"/>
          <p:cNvSpPr/>
          <p:nvPr/>
        </p:nvSpPr>
        <p:spPr>
          <a:xfrm>
            <a:off x="1243584" y="4425696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phone completes the entire journey over text or a voice menu in 8 languages</a:t>
            </a:r>
            <a:endParaRPr lang="en-US" sz="940" dirty="0"/>
          </a:p>
        </p:txBody>
      </p:sp>
      <p:sp>
        <p:nvSpPr>
          <p:cNvPr id="28" name="Shape 25"/>
          <p:cNvSpPr/>
          <p:nvPr/>
        </p:nvSpPr>
        <p:spPr>
          <a:xfrm>
            <a:off x="566928" y="5047488"/>
            <a:ext cx="5669280" cy="932688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68096" y="5321808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0" name="Text 27"/>
          <p:cNvSpPr/>
          <p:nvPr/>
        </p:nvSpPr>
        <p:spPr>
          <a:xfrm>
            <a:off x="768096" y="5321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243584" y="5157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sync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3675888" y="5166360"/>
            <a:ext cx="1417320" cy="274320"/>
          </a:xfrm>
          <a:prstGeom prst="roundRect">
            <a:avLst>
              <a:gd name="adj" fmla="val 13333"/>
            </a:avLst>
          </a:prstGeom>
          <a:solidFill>
            <a:srgbClr val="E8EEF4"/>
          </a:solidFill>
          <a:ln/>
        </p:spPr>
      </p:sp>
      <p:sp>
        <p:nvSpPr>
          <p:cNvPr id="33" name="Text 30"/>
          <p:cNvSpPr/>
          <p:nvPr/>
        </p:nvSpPr>
        <p:spPr>
          <a:xfrm>
            <a:off x="3675888" y="51663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C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authoritative</a:t>
            </a:r>
            <a:endParaRPr lang="en-US" sz="860" dirty="0"/>
          </a:p>
        </p:txBody>
      </p:sp>
      <p:sp>
        <p:nvSpPr>
          <p:cNvPr id="34" name="Text 31"/>
          <p:cNvSpPr/>
          <p:nvPr/>
        </p:nvSpPr>
        <p:spPr>
          <a:xfrm>
            <a:off x="1243584" y="5468112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reconnect the queue replays; conflicts resolve server-side so booking state can never corrupt</a:t>
            </a:r>
            <a:endParaRPr lang="en-US" sz="940" dirty="0"/>
          </a:p>
        </p:txBody>
      </p:sp>
    </p:spTree>
  </p:cSld>
  <p:clrMapOvr>
    <a:masterClrMapping/>
  </p:clrMapOvr>
  <p:transition xmlns:p14="http://schemas.microsoft.com/office/powerpoint/2010/main" spd="med" p14:dur="700">
    <p:push dir="l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LIFE-SAFETY PATH · ANIMATED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506456" y="274320"/>
            <a:ext cx="1133856" cy="310896"/>
          </a:xfrm>
          <a:prstGeom prst="roundRect">
            <a:avLst>
              <a:gd name="adj" fmla="val 14706"/>
            </a:avLst>
          </a:prstGeom>
          <a:solidFill>
            <a:srgbClr val="E5484D"/>
          </a:solidFill>
          <a:ln/>
        </p:spPr>
      </p:sp>
      <p:sp>
        <p:nvSpPr>
          <p:cNvPr id="4" name="Shape 2"/>
          <p:cNvSpPr/>
          <p:nvPr/>
        </p:nvSpPr>
        <p:spPr>
          <a:xfrm>
            <a:off x="10634472" y="379476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762488" y="2743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5486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Crash to Responder in Under 10 Seconds</a:t>
            </a:r>
            <a:endParaRPr lang="en-US" sz="2900" dirty="0"/>
          </a:p>
        </p:txBody>
      </p:sp>
      <p:pic>
        <p:nvPicPr>
          <p:cNvPr id="7" name="Image 0" descr="img/live-emergency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70432"/>
            <a:ext cx="6400800" cy="3584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i="1" dirty="0">
                <a:solidFill>
                  <a:srgbClr val="8F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on-device detection, expanding alert rings, and three responders converging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6711696" y="1170432"/>
            <a:ext cx="4928616" cy="694944"/>
          </a:xfrm>
          <a:prstGeom prst="roundRect">
            <a:avLst>
              <a:gd name="adj" fmla="val 7895"/>
            </a:avLst>
          </a:prstGeom>
          <a:solidFill>
            <a:srgbClr val="14293D"/>
          </a:solidFill>
          <a:ln w="12700">
            <a:solidFill>
              <a:srgbClr val="1D3C56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76288" y="1170432"/>
            <a:ext cx="7863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717536" y="1261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on device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17536" y="1517904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sensor model runs on the handset, so detection does not need a network</a:t>
            </a:r>
            <a:endParaRPr lang="en-US" sz="860" dirty="0"/>
          </a:p>
        </p:txBody>
      </p:sp>
      <p:sp>
        <p:nvSpPr>
          <p:cNvPr id="13" name="Shape 10"/>
          <p:cNvSpPr/>
          <p:nvPr/>
        </p:nvSpPr>
        <p:spPr>
          <a:xfrm>
            <a:off x="6711696" y="1956816"/>
            <a:ext cx="4928616" cy="694944"/>
          </a:xfrm>
          <a:prstGeom prst="roundRect">
            <a:avLst>
              <a:gd name="adj" fmla="val 7895"/>
            </a:avLst>
          </a:prstGeom>
          <a:solidFill>
            <a:srgbClr val="14293D"/>
          </a:solidFill>
          <a:ln w="12700">
            <a:solidFill>
              <a:srgbClr val="1D3C56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876288" y="1956816"/>
            <a:ext cx="7863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717536" y="2048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cancel window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717536" y="2304288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Full-screen, audible and haptic. The model raises a signal — a human confirms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6711696" y="2743200"/>
            <a:ext cx="4928616" cy="694944"/>
          </a:xfrm>
          <a:prstGeom prst="roundRect">
            <a:avLst>
              <a:gd name="adj" fmla="val 7895"/>
            </a:avLst>
          </a:prstGeom>
          <a:solidFill>
            <a:srgbClr val="14293D"/>
          </a:solidFill>
          <a:ln w="12700">
            <a:solidFill>
              <a:srgbClr val="1D3C56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876288" y="2743200"/>
            <a:ext cx="7863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T+2s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717536" y="28346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alerted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17536" y="3090672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with a live location link. (Isolated emergency service is a target; today it is a module in the same process.)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6711696" y="3529584"/>
            <a:ext cx="4928616" cy="694944"/>
          </a:xfrm>
          <a:prstGeom prst="roundRect">
            <a:avLst>
              <a:gd name="adj" fmla="val 7895"/>
            </a:avLst>
          </a:prstGeom>
          <a:solidFill>
            <a:srgbClr val="14293D"/>
          </a:solidFill>
          <a:ln w="12700">
            <a:solidFill>
              <a:srgbClr val="1D3C56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876288" y="3529584"/>
            <a:ext cx="7863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T+4s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7717536" y="36210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responder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717536" y="3877056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query over replicas; runs even if the main platform is down</a:t>
            </a:r>
            <a:endParaRPr lang="en-US" sz="860" dirty="0"/>
          </a:p>
        </p:txBody>
      </p:sp>
      <p:sp>
        <p:nvSpPr>
          <p:cNvPr id="25" name="Shape 22"/>
          <p:cNvSpPr/>
          <p:nvPr/>
        </p:nvSpPr>
        <p:spPr>
          <a:xfrm>
            <a:off x="6711696" y="4315968"/>
            <a:ext cx="4928616" cy="694944"/>
          </a:xfrm>
          <a:prstGeom prst="roundRect">
            <a:avLst>
              <a:gd name="adj" fmla="val 7895"/>
            </a:avLst>
          </a:prstGeom>
          <a:solidFill>
            <a:srgbClr val="14293D"/>
          </a:solidFill>
          <a:ln w="12700">
            <a:solidFill>
              <a:srgbClr val="1D3C56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876288" y="4315968"/>
            <a:ext cx="7863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T+9s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717536" y="44074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ERSS 112 handoff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717536" y="4663440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payload over mutual TLS, only after confirmation or a second signal</a:t>
            </a:r>
            <a:endParaRPr lang="en-US" sz="860" dirty="0"/>
          </a:p>
        </p:txBody>
      </p:sp>
      <p:sp>
        <p:nvSpPr>
          <p:cNvPr id="29" name="Shape 26"/>
          <p:cNvSpPr/>
          <p:nvPr/>
        </p:nvSpPr>
        <p:spPr>
          <a:xfrm>
            <a:off x="6711696" y="5138928"/>
            <a:ext cx="4928616" cy="658368"/>
          </a:xfrm>
          <a:prstGeom prst="roundRect">
            <a:avLst>
              <a:gd name="adj" fmla="val 8333"/>
            </a:avLst>
          </a:prstGeom>
          <a:solidFill>
            <a:srgbClr val="E5484D"/>
          </a:solidFill>
          <a:ln/>
        </p:spPr>
      </p:sp>
      <p:sp>
        <p:nvSpPr>
          <p:cNvPr id="30" name="Text 27"/>
          <p:cNvSpPr/>
          <p:nvPr/>
        </p:nvSpPr>
        <p:spPr>
          <a:xfrm>
            <a:off x="6711696" y="5138928"/>
            <a:ext cx="4928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can raise an incident. It can never dispatch one.</a:t>
            </a:r>
            <a:endParaRPr lang="en-US" sz="1150" dirty="0"/>
          </a:p>
        </p:txBody>
      </p:sp>
    </p:spTree>
  </p:cSld>
  <p:clrMapOvr>
    <a:masterClrMapping/>
  </p:clrMapOvr>
  <p:transition xmlns:p14="http://schemas.microsoft.com/office/powerpoint/2010/main" spd="med" p14:dur="850">
    <p:zoom dir="in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Output — What We Have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6968" y="1325880"/>
            <a:ext cx="1920240" cy="4434840"/>
          </a:xfrm>
          <a:prstGeom prst="roundRect">
            <a:avLst>
              <a:gd name="adj" fmla="val 4762"/>
            </a:avLst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9264" y="1481328"/>
            <a:ext cx="1755648" cy="41148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" y="1481328"/>
            <a:ext cx="1755648" cy="420624"/>
          </a:xfrm>
          <a:prstGeom prst="roundRect">
            <a:avLst>
              <a:gd name="adj" fmla="val 8696"/>
            </a:avLst>
          </a:prstGeom>
          <a:solidFill>
            <a:srgbClr val="FFB020"/>
          </a:solidFill>
          <a:ln/>
        </p:spPr>
      </p:sp>
      <p:sp>
        <p:nvSpPr>
          <p:cNvPr id="7" name="Text 5"/>
          <p:cNvSpPr/>
          <p:nvPr/>
        </p:nvSpPr>
        <p:spPr>
          <a:xfrm>
            <a:off x="969264" y="1481328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Help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51560" y="2048256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Vehicle: Maruti Swift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051560" y="237744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auto-detected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1051560" y="2706624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NH-48 · KM 212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1051560" y="336499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1051560" y="3694176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won't start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1051560" y="4352544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REQUEST ASSISTANCE ]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218688" y="1325880"/>
            <a:ext cx="1920240" cy="4434840"/>
          </a:xfrm>
          <a:prstGeom prst="roundRect">
            <a:avLst>
              <a:gd name="adj" fmla="val 4762"/>
            </a:avLst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00984" y="1481328"/>
            <a:ext cx="1755648" cy="41148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00984" y="1481328"/>
            <a:ext cx="1755648" cy="420624"/>
          </a:xfrm>
          <a:prstGeom prst="roundRect">
            <a:avLst>
              <a:gd name="adj" fmla="val 8696"/>
            </a:avLst>
          </a:prstGeom>
          <a:solidFill>
            <a:srgbClr val="1C4E7A"/>
          </a:solidFill>
          <a:ln/>
        </p:spPr>
      </p:sp>
      <p:sp>
        <p:nvSpPr>
          <p:cNvPr id="17" name="Text 15"/>
          <p:cNvSpPr/>
          <p:nvPr/>
        </p:nvSpPr>
        <p:spPr>
          <a:xfrm>
            <a:off x="3300984" y="1481328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Diagnosis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83280" y="2048256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HIGH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3383280" y="2706624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cause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3383280" y="303580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discharge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3383280" y="3694176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 3 / 5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3383280" y="402336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Parts: jump kit, battery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3383280" y="468172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DRIVE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5550408" y="1325880"/>
            <a:ext cx="1920240" cy="4434840"/>
          </a:xfrm>
          <a:prstGeom prst="roundRect">
            <a:avLst>
              <a:gd name="adj" fmla="val 4762"/>
            </a:avLst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32704" y="1481328"/>
            <a:ext cx="1755648" cy="41148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32704" y="1481328"/>
            <a:ext cx="1755648" cy="420624"/>
          </a:xfrm>
          <a:prstGeom prst="roundRect">
            <a:avLst>
              <a:gd name="adj" fmla="val 8696"/>
            </a:avLst>
          </a:prstGeom>
          <a:solidFill>
            <a:srgbClr val="2E9E6B"/>
          </a:solidFill>
          <a:ln/>
        </p:spPr>
      </p:sp>
      <p:sp>
        <p:nvSpPr>
          <p:cNvPr id="27" name="Text 25"/>
          <p:cNvSpPr/>
          <p:nvPr/>
        </p:nvSpPr>
        <p:spPr>
          <a:xfrm>
            <a:off x="5632704" y="1481328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Tracking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715000" y="2048256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 assigned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5715000" y="237744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Ramesh K. · 4.8 ★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5715000" y="303580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 12 min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5715000" y="336499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 4.2 km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5715000" y="402336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CALL ]   [ CHAT ]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7635240" y="1325880"/>
            <a:ext cx="4005072" cy="4434840"/>
          </a:xfrm>
          <a:prstGeom prst="roundRect">
            <a:avLst>
              <a:gd name="adj" fmla="val 1370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863840" y="148132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1 — completed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863840" y="2011680"/>
            <a:ext cx="201168" cy="201168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36" name="Text 34"/>
          <p:cNvSpPr/>
          <p:nvPr/>
        </p:nvSpPr>
        <p:spPr>
          <a:xfrm>
            <a:off x="8156448" y="19751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DESIGNED — not provisioned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156448" y="225856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network, subnets, security groups, Kubernetes cluster — none deployed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7863840" y="2761488"/>
            <a:ext cx="201168" cy="201168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39" name="Text 37"/>
          <p:cNvSpPr/>
          <p:nvPr/>
        </p:nvSpPr>
        <p:spPr>
          <a:xfrm>
            <a:off x="8156448" y="2724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deployed and seeded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156448" y="300837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tables, multi-AZ, 100,000 rows of test data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7863840" y="3511296"/>
            <a:ext cx="201168" cy="201168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42" name="Text 40"/>
          <p:cNvSpPr/>
          <p:nvPr/>
        </p:nvSpPr>
        <p:spPr>
          <a:xfrm>
            <a:off x="8156448" y="3474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working end to end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156448" y="375818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login, token rotation, role-based access control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7863840" y="4261104"/>
            <a:ext cx="201168" cy="201168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45" name="Text 43"/>
          <p:cNvSpPr/>
          <p:nvPr/>
        </p:nvSpPr>
        <p:spPr>
          <a:xfrm>
            <a:off x="8156448" y="42245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live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156448" y="450799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 built, tested and security-scanned automatically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7863840" y="5010912"/>
            <a:ext cx="201168" cy="201168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48" name="Text 46"/>
          <p:cNvSpPr/>
          <p:nvPr/>
        </p:nvSpPr>
        <p:spPr>
          <a:xfrm>
            <a:off x="8156448" y="49743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prototype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156448" y="525780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request journey, in Hindi, on a low-end phone</a:t>
            </a:r>
            <a:endParaRPr lang="en-US" sz="920" dirty="0"/>
          </a:p>
        </p:txBody>
      </p:sp>
      <p:sp>
        <p:nvSpPr>
          <p:cNvPr id="50" name="Text 48"/>
          <p:cNvSpPr/>
          <p:nvPr/>
        </p:nvSpPr>
        <p:spPr>
          <a:xfrm>
            <a:off x="566928" y="59436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 follows this slide.</a:t>
            </a:r>
            <a:endParaRPr lang="en-US" sz="1100" dirty="0"/>
          </a:p>
        </p:txBody>
      </p:sp>
    </p:spTree>
  </p:cSld>
  <p:clrMapOvr>
    <a:masterClrMapping/>
  </p:clrMapOvr>
  <p:transition xmlns:p14="http://schemas.microsoft.com/office/powerpoint/2010/main" spd="med" p14:dur="700">
    <p:push dir="l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2682164" cy="3931920"/>
          </a:xfrm>
          <a:prstGeom prst="roundRect">
            <a:avLst>
              <a:gd name="adj" fmla="val 204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27632"/>
            <a:ext cx="2316404" cy="475488"/>
          </a:xfrm>
          <a:prstGeom prst="roundRect">
            <a:avLst>
              <a:gd name="adj" fmla="val 9615"/>
            </a:avLst>
          </a:prstGeom>
          <a:solidFill>
            <a:srgbClr val="FFB02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27632"/>
            <a:ext cx="23164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Infrastructure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86384" y="2304288"/>
            <a:ext cx="22615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(managed) — target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86384" y="3035808"/>
            <a:ext cx="22615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6384" y="3767328"/>
            <a:ext cx="22615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— infrastructure as code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86384" y="4498848"/>
            <a:ext cx="22615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private cloud, security groups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58820" y="1389888"/>
            <a:ext cx="2682164" cy="3931920"/>
          </a:xfrm>
          <a:prstGeom prst="roundRect">
            <a:avLst>
              <a:gd name="adj" fmla="val 204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41700" y="1627632"/>
            <a:ext cx="2316404" cy="475488"/>
          </a:xfrm>
          <a:prstGeom prst="roundRect">
            <a:avLst>
              <a:gd name="adj" fmla="val 9615"/>
            </a:avLst>
          </a:prstGeom>
          <a:solidFill>
            <a:srgbClr val="1C4E7A"/>
          </a:solidFill>
          <a:ln/>
        </p:spPr>
      </p:sp>
      <p:sp>
        <p:nvSpPr>
          <p:cNvPr id="13" name="Text 11"/>
          <p:cNvSpPr/>
          <p:nvPr/>
        </p:nvSpPr>
        <p:spPr>
          <a:xfrm>
            <a:off x="3541700" y="1627632"/>
            <a:ext cx="23164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78276" y="2304288"/>
            <a:ext cx="22615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Fastify services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78276" y="3035808"/>
            <a:ext cx="22615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 (multi-AZ)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78276" y="3767328"/>
            <a:ext cx="22615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 · event bus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78276" y="4498848"/>
            <a:ext cx="22615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for media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50712" y="1389888"/>
            <a:ext cx="2682164" cy="3931920"/>
          </a:xfrm>
          <a:prstGeom prst="roundRect">
            <a:avLst>
              <a:gd name="adj" fmla="val 204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33592" y="1627632"/>
            <a:ext cx="2316404" cy="475488"/>
          </a:xfrm>
          <a:prstGeom prst="roundRect">
            <a:avLst>
              <a:gd name="adj" fmla="val 9615"/>
            </a:avLst>
          </a:prstGeom>
          <a:solidFill>
            <a:srgbClr val="2E9E6B"/>
          </a:solidFill>
          <a:ln/>
        </p:spPr>
      </p:sp>
      <p:sp>
        <p:nvSpPr>
          <p:cNvPr id="20" name="Text 18"/>
          <p:cNvSpPr/>
          <p:nvPr/>
        </p:nvSpPr>
        <p:spPr>
          <a:xfrm>
            <a:off x="6333592" y="1627632"/>
            <a:ext cx="23164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Mobile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70168" y="2304288"/>
            <a:ext cx="22615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— Android and iOS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70168" y="3035808"/>
            <a:ext cx="22615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progressive web app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70168" y="3767328"/>
            <a:ext cx="22615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local database + sync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70168" y="4498848"/>
            <a:ext cx="22615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· IVR · USSD gateway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942603" y="1389888"/>
            <a:ext cx="2682164" cy="3931920"/>
          </a:xfrm>
          <a:prstGeom prst="roundRect">
            <a:avLst>
              <a:gd name="adj" fmla="val 204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25483" y="1627632"/>
            <a:ext cx="2316404" cy="475488"/>
          </a:xfrm>
          <a:prstGeom prst="roundRect">
            <a:avLst>
              <a:gd name="adj" fmla="val 9615"/>
            </a:avLst>
          </a:prstGeom>
          <a:solidFill>
            <a:srgbClr val="C77F00"/>
          </a:solidFill>
          <a:ln/>
        </p:spPr>
      </p:sp>
      <p:sp>
        <p:nvSpPr>
          <p:cNvPr id="27" name="Text 25"/>
          <p:cNvSpPr/>
          <p:nvPr/>
        </p:nvSpPr>
        <p:spPr>
          <a:xfrm>
            <a:off x="9125483" y="1627632"/>
            <a:ext cx="23164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Operations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62059" y="2304288"/>
            <a:ext cx="22615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PyTorch · ONNX on-device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162059" y="3035808"/>
            <a:ext cx="22615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model serving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162059" y="3767328"/>
            <a:ext cx="22615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Grafana monitoring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162059" y="4498848"/>
            <a:ext cx="22615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" y="5504688"/>
            <a:ext cx="11057839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22960" y="5504688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is open source or a managed cloud service on a free tier — total infrastructure cost for the project: ₹0.</a:t>
            </a:r>
            <a:endParaRPr lang="en-US" sz="1250" dirty="0"/>
          </a:p>
        </p:txBody>
      </p:sp>
    </p:spTree>
  </p:cSld>
  <p:clrMapOvr>
    <a:masterClrMapping/>
  </p:clrMapOvr>
  <p:transition xmlns:p14="http://schemas.microsoft.com/office/powerpoint/2010/main" spd="med" p14:dur="700">
    <p:push dir="l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to Review 2 and Review 3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57839" cy="1444752"/>
          </a:xfrm>
          <a:prstGeom prst="roundRect">
            <a:avLst>
              <a:gd name="adj" fmla="val 3797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682496"/>
            <a:ext cx="1554480" cy="859536"/>
          </a:xfrm>
          <a:prstGeom prst="roundRect">
            <a:avLst>
              <a:gd name="adj" fmla="val 6383"/>
            </a:avLst>
          </a:prstGeom>
          <a:solidFill>
            <a:srgbClr val="2E9E6B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739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8096" y="20848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 – 5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487168" y="1719072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566160" y="1719072"/>
            <a:ext cx="6492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validated · cloud architecture designed · database and authentication deployed · prototype built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213848" y="1947672"/>
            <a:ext cx="1234440" cy="365760"/>
          </a:xfrm>
          <a:prstGeom prst="roundRect">
            <a:avLst>
              <a:gd name="adj" fmla="val 10000"/>
            </a:avLst>
          </a:prstGeom>
          <a:solidFill>
            <a:srgbClr val="2E9E6B"/>
          </a:solidFill>
          <a:ln/>
        </p:spPr>
      </p:sp>
      <p:sp>
        <p:nvSpPr>
          <p:cNvPr id="11" name="Text 9"/>
          <p:cNvSpPr/>
          <p:nvPr/>
        </p:nvSpPr>
        <p:spPr>
          <a:xfrm>
            <a:off x="10213848" y="194767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2980944"/>
            <a:ext cx="11057839" cy="1444752"/>
          </a:xfrm>
          <a:prstGeom prst="roundRect">
            <a:avLst>
              <a:gd name="adj" fmla="val 3797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" y="3273552"/>
            <a:ext cx="1554480" cy="859536"/>
          </a:xfrm>
          <a:prstGeom prst="roundRect">
            <a:avLst>
              <a:gd name="adj" fmla="val 6383"/>
            </a:avLst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33649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" y="36758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 – 12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487168" y="3310128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566160" y="3310128"/>
            <a:ext cx="6492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all services deployed and auto-scaling.  TODAY: AI diagnosis, offline engine and inbound SMS work end to end.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213848" y="3538728"/>
            <a:ext cx="1234440" cy="365760"/>
          </a:xfrm>
          <a:prstGeom prst="roundRect">
            <a:avLst>
              <a:gd name="adj" fmla="val 10000"/>
            </a:avLst>
          </a:prstGeom>
          <a:solidFill>
            <a:srgbClr val="E8EEF4"/>
          </a:solidFill>
          <a:ln/>
        </p:spPr>
      </p:sp>
      <p:sp>
        <p:nvSpPr>
          <p:cNvPr id="19" name="Text 17"/>
          <p:cNvSpPr/>
          <p:nvPr/>
        </p:nvSpPr>
        <p:spPr>
          <a:xfrm>
            <a:off x="10213848" y="353872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" y="4572000"/>
            <a:ext cx="11057839" cy="1444752"/>
          </a:xfrm>
          <a:prstGeom prst="roundRect">
            <a:avLst>
              <a:gd name="adj" fmla="val 3797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4864608"/>
            <a:ext cx="1554480" cy="859536"/>
          </a:xfrm>
          <a:prstGeom prst="roundRect">
            <a:avLst>
              <a:gd name="adj" fmla="val 6383"/>
            </a:avLst>
          </a:prstGeom>
          <a:solidFill>
            <a:srgbClr val="1C4E7A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" y="49560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68096" y="52669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13 – 18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487168" y="4901184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4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566160" y="4901184"/>
            <a:ext cx="6492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engine · government dashboard · load, chaos and security testing · production deployment with disaster recovery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0213848" y="5129784"/>
            <a:ext cx="1234440" cy="365760"/>
          </a:xfrm>
          <a:prstGeom prst="roundRect">
            <a:avLst>
              <a:gd name="adj" fmla="val 10000"/>
            </a:avLst>
          </a:prstGeom>
          <a:solidFill>
            <a:srgbClr val="E8EEF4"/>
          </a:solidFill>
          <a:ln/>
        </p:spPr>
      </p:sp>
      <p:sp>
        <p:nvSpPr>
          <p:cNvPr id="27" name="Text 25"/>
          <p:cNvSpPr/>
          <p:nvPr/>
        </p:nvSpPr>
        <p:spPr>
          <a:xfrm>
            <a:off x="10213848" y="512978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med" p14:dur="700">
    <p:push dir="l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772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cloud problem, solved with cloud architecture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66928" y="2212848"/>
            <a:ext cx="5440680" cy="1024128"/>
          </a:xfrm>
          <a:prstGeom prst="roundRect">
            <a:avLst>
              <a:gd name="adj" fmla="val 5357"/>
            </a:avLst>
          </a:prstGeom>
          <a:solidFill>
            <a:srgbClr val="14293D"/>
          </a:solidFill>
          <a:ln w="12700">
            <a:solidFill>
              <a:srgbClr val="1D3C56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35915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Unpredictable, national-scale demand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04672" y="267004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in the design by dynamic scalability, elastic capacity and cloud bursting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90488" y="2212848"/>
            <a:ext cx="5440680" cy="1024128"/>
          </a:xfrm>
          <a:prstGeom prst="roundRect">
            <a:avLst>
              <a:gd name="adj" fmla="val 5357"/>
            </a:avLst>
          </a:prstGeom>
          <a:solidFill>
            <a:srgbClr val="14293D"/>
          </a:solidFill>
          <a:ln w="12700">
            <a:solidFill>
              <a:srgbClr val="1D3C56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28232" y="235915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that must never fail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28232" y="267004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today by on-device Off-Grid Mode; multi-AZ replication and redundant storage are design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383280"/>
            <a:ext cx="5440680" cy="1024128"/>
          </a:xfrm>
          <a:prstGeom prst="roundRect">
            <a:avLst>
              <a:gd name="adj" fmla="val 5357"/>
            </a:avLst>
          </a:prstGeom>
          <a:solidFill>
            <a:srgbClr val="14293D"/>
          </a:solidFill>
          <a:ln w="12700">
            <a:solidFill>
              <a:srgbClr val="1D3C56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" y="352958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personal and medical data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38404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by encryption, PKI, IAM, SSO and default-deny security groups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90488" y="3383280"/>
            <a:ext cx="5440680" cy="1024128"/>
          </a:xfrm>
          <a:prstGeom prst="roundRect">
            <a:avLst>
              <a:gd name="adj" fmla="val 5357"/>
            </a:avLst>
          </a:prstGeom>
          <a:solidFill>
            <a:srgbClr val="14293D"/>
          </a:solidFill>
          <a:ln w="12700">
            <a:solidFill>
              <a:srgbClr val="1D3C56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28232" y="352958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students, no hardware budget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28232" y="38404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by IaaS and PaaS consumption on a pay-as-you-go basis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4892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Questions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66928" y="5394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SWE4004 — Cloud Computing and Applications  ·  Review 1</a:t>
            </a:r>
            <a:endParaRPr lang="en-US" sz="1100" dirty="0"/>
          </a:p>
        </p:txBody>
      </p:sp>
    </p:spTree>
  </p:cSld>
  <p:clrMapOvr>
    <a:masterClrMapping/>
  </p:clrMapOvr>
  <p:transition xmlns:p14="http://schemas.microsoft.com/office/powerpoint/2010/main" spd="med" p14:dur="10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024128" y="1389888"/>
            <a:ext cx="10417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Erl, Ricardo Puttini, Zaigham Mahmood — Cloud Computing: Concepts, Technology &amp; Architecture. PHI Publications, 2013. (Course text — Modules 1–6)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1389888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4128" y="1993392"/>
            <a:ext cx="10417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W. Rittinghouse, James F. Ransome — Cloud Computing: Implementation, Management and Security. CRC Press, 2017.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993392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4128" y="2596896"/>
            <a:ext cx="10417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Sandeep Bhowmik — Cloud Computing. Cambridge University Press, 2017.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596896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24128" y="3200400"/>
            <a:ext cx="10417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Meikang Qiu, Keke Gai — Mobile Cloud Computing: Models, Implementations and Security. CRC Press, 2017.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20040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24128" y="3803904"/>
            <a:ext cx="10417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Road Transport and Highways — Road Accidents in India, Annual Report.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3803904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24128" y="4407408"/>
            <a:ext cx="10417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Highways Authority of India — Highway operations and incident management guidelines.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4407408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24128" y="5010912"/>
            <a:ext cx="10417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Personal Data Protection Act, 2023 — Government of India.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5010912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" y="5614416"/>
            <a:ext cx="10417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Regulatory Authority of India — Regulations on commercial communication and DLT registration.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5614416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100" dirty="0"/>
          </a:p>
        </p:txBody>
      </p:sp>
    </p:spTree>
  </p:cSld>
  <p:clrMapOvr>
    <a:masterClrMapping/>
  </p:clrMapOvr>
  <p:transition xmlns:p14="http://schemas.microsoft.com/office/powerpoint/2010/main" spd="med" p14:dur="700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RoadAssist — SWE4004 Cloud Computing · Review 1</dc:title>
  <dc:subject>PptxGenJS Presentation</dc:subject>
  <dc:creator>V Saatwik Sairaam · P Sai Nirisha Chowdary · T V S Jignesh · G Parthavi</dc:creator>
  <cp:lastModifiedBy>V Saatwik Sairaam · P Sai Nirisha Chowdary · T V S Jignesh · G Parthavi</cp:lastModifiedBy>
  <cp:revision>1</cp:revision>
  <dcterms:created xsi:type="dcterms:W3CDTF">2026-08-04T16:45:27Z</dcterms:created>
  <dcterms:modified xsi:type="dcterms:W3CDTF">2026-08-04T16:45:27Z</dcterms:modified>
</cp:coreProperties>
</file>